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4425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238382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451CA8CC-6546-BD86-6146-DF35605B65DE}" type="datetimeFigureOut">
              <a:rPr lang="en-US"/>
              <a:t/>
            </a:fld>
            <a:endParaRPr/>
          </a:p>
        </p:txBody>
      </p:sp>
      <p:sp>
        <p:nvSpPr>
          <p:cNvPr id="1019589615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0175370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FB8255A0-547D-38E3-F9C6-6BE338FA18E0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8517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53701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632120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7388469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273488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18193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666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1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5125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160E9D-97AC-4AA8-A731-971D9D94951B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631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2940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1026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3B221D-D0F7-8EE3-FAF8-78707E600F5D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47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64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0925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34FE6C-B194-8C09-F412-93C1430810A1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315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580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2540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0AB061-BBCA-6DCA-A173-F2C4255AC1DE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811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183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7598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8CD862-915C-5BA7-EA9E-445FCC048300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969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481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061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84E9D5-A2A5-F824-500A-B8C15D412637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279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3895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598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A7917-FE56-E246-955F-6EEDDC5DE7A9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20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7987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8142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93966E-1BDD-993E-D385-902500C866DD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83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44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4026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0F10CE-6F8F-4FA9-7228-AC6501527F7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658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195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833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693DC5-DE3B-7239-5A20-EC5983E674E7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927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770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3260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3558F-6578-4946-6C4B-25B523E837A9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624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3087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1534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F4867-2BCB-A0BE-1EAA-1E3CFEF7CBCD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957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1126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6669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53CC85-A869-BD08-E4B5-1E623277BE81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842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937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5281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5D586E-4FBA-00A6-F208-2212D2E289AB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029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72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7483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9D3A55-E285-9960-414D-9D6F5BCAE0D4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916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712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791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8D1D2D-DDFF-0E72-BFC1-2F62610B8E71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381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1425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39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74EDE2-265C-7C95-B0C6-538726B05880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23747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397619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8947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52748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40245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2678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1993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00024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34589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88754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00953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60421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33122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30968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47233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8779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892503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05735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352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8271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6869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59398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32310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99643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693549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277008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306292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3853872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50191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0083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22937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2676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94181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62534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874958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274802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31054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377408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841598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64399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65160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47406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7919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67751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401956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6784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47038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0671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3332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99951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93503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56813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4934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62793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893853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63199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86860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90378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63945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99250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14408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738349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729973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gradFill>
          <a:gsLst>
            <a:gs pos="0">
              <a:srgbClr val="14102B">
                <a:alpha val="99999"/>
              </a:srgbClr>
            </a:gs>
            <a:gs pos="28000">
              <a:srgbClr val="1A1630">
                <a:alpha val="99999"/>
              </a:srgbClr>
            </a:gs>
            <a:gs pos="52000">
              <a:srgbClr val="3C3950">
                <a:alpha val="99999"/>
              </a:srgbClr>
            </a:gs>
            <a:gs pos="91000">
              <a:srgbClr val="9998A3">
                <a:alpha val="99999"/>
              </a:srgbClr>
            </a:gs>
          </a:gsLst>
          <a:lin ang="2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15838" name="Shape 0"/>
          <p:cNvSpPr/>
          <p:nvPr/>
        </p:nvSpPr>
        <p:spPr bwMode="auto">
          <a:xfrm>
            <a:off x="9692640" y="-1463040"/>
            <a:ext cx="4572000" cy="4572000"/>
          </a:xfrm>
          <a:prstGeom prst="ellipse">
            <a:avLst/>
          </a:prstGeom>
          <a:solidFill>
            <a:srgbClr val="1F1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4896271" name="Shape 1"/>
          <p:cNvSpPr/>
          <p:nvPr/>
        </p:nvSpPr>
        <p:spPr bwMode="auto">
          <a:xfrm>
            <a:off x="-1828800" y="4846320"/>
            <a:ext cx="3840480" cy="3840480"/>
          </a:xfrm>
          <a:prstGeom prst="ellipse">
            <a:avLst/>
          </a:prstGeom>
          <a:solidFill>
            <a:srgbClr val="241C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2497565" name="Text 2"/>
          <p:cNvSpPr/>
          <p:nvPr/>
        </p:nvSpPr>
        <p:spPr bwMode="auto"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99">
                <a:solidFill>
                  <a:srgbClr val="8B7CF0"/>
                </a:solidFill>
                <a:latin typeface="Calibri"/>
                <a:ea typeface="Calibri"/>
                <a:cs typeface="Calibri"/>
              </a:rPr>
              <a:t>ADVANCED PYTHON — FORMATION PROGRAM , PILLAR 1</a:t>
            </a:r>
            <a:endParaRPr lang="en-US" sz="1300"/>
          </a:p>
        </p:txBody>
      </p:sp>
      <p:sp>
        <p:nvSpPr>
          <p:cNvPr id="1028180464" name="Text 3"/>
          <p:cNvSpPr/>
          <p:nvPr/>
        </p:nvSpPr>
        <p:spPr bwMode="auto"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Advanced Python</a:t>
            </a:r>
            <a:endParaRPr lang="en-US" sz="5600"/>
          </a:p>
        </p:txBody>
      </p:sp>
      <p:sp>
        <p:nvSpPr>
          <p:cNvPr id="468449897" name="Text 4"/>
          <p:cNvSpPr/>
          <p:nvPr/>
        </p:nvSpPr>
        <p:spPr bwMode="auto">
          <a:xfrm flipH="0" flipV="0"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i="1">
                <a:solidFill>
                  <a:srgbClr val="C9C3F0"/>
                </a:solidFill>
                <a:latin typeface="Cambria"/>
                <a:ea typeface="Cambria"/>
                <a:cs typeface="Cambria"/>
              </a:rPr>
              <a:t>From Scripts to Structured Code</a:t>
            </a:r>
            <a:endParaRPr lang="en-US" sz="2400"/>
          </a:p>
        </p:txBody>
      </p:sp>
      <p:sp>
        <p:nvSpPr>
          <p:cNvPr id="1735724969" name="Text 5"/>
          <p:cNvSpPr/>
          <p:nvPr/>
        </p:nvSpPr>
        <p:spPr bwMode="auto">
          <a:xfrm flipH="0" flipV="0">
            <a:off x="45407" y="5989317"/>
            <a:ext cx="2131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400"/>
          </a:p>
        </p:txBody>
      </p:sp>
      <p:sp>
        <p:nvSpPr>
          <p:cNvPr id="1608350487" name="Text 3"/>
          <p:cNvSpPr/>
          <p:nvPr/>
        </p:nvSpPr>
        <p:spPr bwMode="auto">
          <a:xfrm flipH="0" flipV="0">
            <a:off x="6268537" y="5313316"/>
            <a:ext cx="5897638" cy="98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0" i="1" u="none" strike="noStrike" cap="none" spc="0">
                <a:solidFill>
                  <a:srgbClr val="C9C3F0"/>
                </a:solidFill>
                <a:latin typeface="Cambria"/>
                <a:ea typeface="Cambria"/>
                <a:cs typeface="Cambria"/>
              </a:rPr>
              <a:t>Animated by </a:t>
            </a:r>
            <a:r>
              <a:rPr lang="en-US" sz="3000" b="1">
                <a:solidFill>
                  <a:schemeClr val="bg1">
                    <a:lumMod val="65000"/>
                  </a:schemeClr>
                </a:solidFill>
                <a:latin typeface="Cambria"/>
                <a:ea typeface="Cambria"/>
                <a:cs typeface="Cambria"/>
              </a:rPr>
              <a:t>: </a:t>
            </a:r>
            <a:endParaRPr sz="3000" b="1">
              <a:solidFill>
                <a:schemeClr val="bg1">
                  <a:lumMod val="65000"/>
                </a:schemeClr>
              </a:solidFill>
              <a:latin typeface="Cambria"/>
              <a:ea typeface="Cambria"/>
              <a:cs typeface="Cambria"/>
            </a:endParaRPr>
          </a:p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		AYMANE GALIBOU</a:t>
            </a:r>
            <a:endParaRPr sz="3000"/>
          </a:p>
        </p:txBody>
      </p:sp>
      <p:pic>
        <p:nvPicPr>
          <p:cNvPr id="18732944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89364" y="276683"/>
            <a:ext cx="1689274" cy="1689274"/>
          </a:xfrm>
          <a:prstGeom prst="rect">
            <a:avLst/>
          </a:prstGeom>
        </p:spPr>
      </p:pic>
      <p:sp>
        <p:nvSpPr>
          <p:cNvPr id="956420596" name=""/>
          <p:cNvSpPr txBox="1"/>
          <p:nvPr/>
        </p:nvSpPr>
        <p:spPr bwMode="auto">
          <a:xfrm rot="0" flipH="0" flipV="0">
            <a:off x="91440" y="6172196"/>
            <a:ext cx="1735569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buNone/>
              <a:defRPr/>
            </a:pPr>
            <a:r>
              <a:rPr lang="en-US" b="1" spc="298">
                <a:solidFill>
                  <a:srgbClr val="8B7CF0"/>
                </a:solidFill>
                <a:latin typeface="Calibri"/>
                <a:ea typeface="Calibri"/>
                <a:cs typeface="Calibri"/>
              </a:rPr>
              <a:t>Data Cell</a:t>
            </a:r>
            <a:endParaRPr lang="en-US" sz="1300"/>
          </a:p>
        </p:txBody>
      </p:sp>
      <p:pic>
        <p:nvPicPr>
          <p:cNvPr id="101153584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0917" y="5185359"/>
            <a:ext cx="986834" cy="9868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9">
    <p:bg>
      <p:bgPr shadeToTitle="0">
        <a:solidFill>
          <a:srgbClr val="B7AD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89075" name="Text 0"/>
          <p:cNvSpPr/>
          <p:nvPr/>
        </p:nvSpPr>
        <p:spPr bwMode="auto"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spc="299">
                <a:solidFill>
                  <a:srgbClr val="E5E1F7"/>
                </a:solidFill>
                <a:latin typeface="Calibri"/>
                <a:ea typeface="Calibri"/>
                <a:cs typeface="Calibri"/>
              </a:rPr>
              <a:t>SESSION 3 / 4</a:t>
            </a:r>
            <a:endParaRPr lang="en-US" sz="1600"/>
          </a:p>
        </p:txBody>
      </p:sp>
      <p:sp>
        <p:nvSpPr>
          <p:cNvPr id="629883542" name="Text 1"/>
          <p:cNvSpPr/>
          <p:nvPr/>
        </p:nvSpPr>
        <p:spPr bwMode="auto">
          <a:xfrm flipH="0" flipV="0">
            <a:off x="822960" y="2788920"/>
            <a:ext cx="10515600" cy="1293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Context Managers &amp; File I/O</a:t>
            </a:r>
            <a:endParaRPr lang="en-US" sz="4200"/>
          </a:p>
        </p:txBody>
      </p:sp>
      <p:sp>
        <p:nvSpPr>
          <p:cNvPr id="892829652" name="Shape 2"/>
          <p:cNvSpPr/>
          <p:nvPr/>
        </p:nvSpPr>
        <p:spPr bwMode="auto">
          <a:xfrm>
            <a:off x="822960" y="4343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A22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7292199" name="Text 3"/>
          <p:cNvSpPr/>
          <p:nvPr/>
        </p:nvSpPr>
        <p:spPr bwMode="auto">
          <a:xfrm>
            <a:off x="82296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Duration: 2h</a:t>
            </a:r>
            <a:endParaRPr lang="en-US" sz="1300"/>
          </a:p>
        </p:txBody>
      </p:sp>
      <p:sp>
        <p:nvSpPr>
          <p:cNvPr id="930987362" name="Shape 4"/>
          <p:cNvSpPr/>
          <p:nvPr/>
        </p:nvSpPr>
        <p:spPr bwMode="auto">
          <a:xfrm>
            <a:off x="82296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9465405" name="Shape 5"/>
          <p:cNvSpPr/>
          <p:nvPr/>
        </p:nvSpPr>
        <p:spPr bwMode="auto">
          <a:xfrm>
            <a:off x="114300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3743356" name="Shape 6"/>
          <p:cNvSpPr/>
          <p:nvPr/>
        </p:nvSpPr>
        <p:spPr bwMode="auto">
          <a:xfrm>
            <a:off x="1463040" y="61722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8471428" name="Shape 7"/>
          <p:cNvSpPr/>
          <p:nvPr/>
        </p:nvSpPr>
        <p:spPr bwMode="auto">
          <a:xfrm>
            <a:off x="178308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0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238528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6052779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RECAP</a:t>
            </a:r>
            <a:endParaRPr lang="en-US" sz="1100"/>
          </a:p>
        </p:txBody>
      </p:sp>
      <p:sp>
        <p:nvSpPr>
          <p:cNvPr id="1528900293" name="Text 3"/>
          <p:cNvSpPr/>
          <p:nvPr/>
        </p:nvSpPr>
        <p:spPr bwMode="auto">
          <a:xfrm flipH="0" flipV="0">
            <a:off x="294100" y="804672"/>
            <a:ext cx="2207900" cy="478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File Handling</a:t>
            </a:r>
            <a:endParaRPr lang="en-US" sz="2700"/>
          </a:p>
        </p:txBody>
      </p:sp>
      <p:sp>
        <p:nvSpPr>
          <p:cNvPr id="469496548" name="Shape 8"/>
          <p:cNvSpPr/>
          <p:nvPr/>
        </p:nvSpPr>
        <p:spPr bwMode="auto">
          <a:xfrm flipH="0" flipV="0">
            <a:off x="294100" y="2767149"/>
            <a:ext cx="5573035" cy="1833619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2294267" name="Text 9"/>
          <p:cNvSpPr/>
          <p:nvPr/>
        </p:nvSpPr>
        <p:spPr bwMode="auto">
          <a:xfrm flipH="0" flipV="0">
            <a:off x="455763" y="2909763"/>
            <a:ext cx="5306388" cy="1548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'test_file.log'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mode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'r'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reading the entire content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content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read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content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close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400">
              <a:latin typeface="Ubuntu Mono"/>
              <a:cs typeface="Ubuntu Mono"/>
            </a:endParaRPr>
          </a:p>
        </p:txBody>
      </p:sp>
      <p:sp>
        <p:nvSpPr>
          <p:cNvPr id="676004569" name="Shape 8"/>
          <p:cNvSpPr/>
          <p:nvPr/>
        </p:nvSpPr>
        <p:spPr bwMode="auto">
          <a:xfrm flipH="0" flipV="0">
            <a:off x="6240198" y="3570657"/>
            <a:ext cx="5726318" cy="3033567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8069055" name="Text 9"/>
          <p:cNvSpPr/>
          <p:nvPr/>
        </p:nvSpPr>
        <p:spPr bwMode="auto">
          <a:xfrm flipH="0" flipV="0">
            <a:off x="6384398" y="3669359"/>
            <a:ext cx="5437919" cy="283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'test_file.log'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mode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'r'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r>
              <a:rPr sz="1400">
                <a:latin typeface="Ubuntu Mono"/>
                <a:ea typeface="Ubuntu Mono"/>
                <a:cs typeface="Ubuntu Mono"/>
              </a:rPr>
              <a:t> </a:t>
            </a:r>
            <a:r>
              <a:rPr sz="1400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# open a file in read mode</a:t>
            </a:r>
            <a:endParaRPr sz="14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content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read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r>
              <a:rPr sz="1400">
                <a:latin typeface="Ubuntu Mono"/>
                <a:ea typeface="Ubuntu Mono"/>
                <a:cs typeface="Ubuntu Mono"/>
              </a:rPr>
              <a:t> </a:t>
            </a:r>
            <a:r>
              <a:rPr lang="en-US" sz="1400" b="0" i="0" u="none" strike="noStrike" cap="none" spc="0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reading the entire content</a:t>
            </a:r>
            <a:endParaRPr sz="14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content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content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+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</a:t>
            </a:r>
            <a:r>
              <a:rPr sz="1400" b="0" i="0" u="none">
                <a:solidFill>
                  <a:srgbClr val="D7BA7D"/>
                </a:solidFill>
                <a:latin typeface="Ubuntu Mono"/>
                <a:ea typeface="Ubuntu Mono"/>
                <a:cs typeface="Ubuntu Mono"/>
              </a:rPr>
              <a:t>\n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NOTE:This file was written by Aymane Galibou'</a:t>
            </a:r>
            <a:r>
              <a:rPr sz="1400">
                <a:latin typeface="Ubuntu Mono"/>
                <a:ea typeface="Ubuntu Mono"/>
                <a:cs typeface="Ubuntu Mono"/>
              </a:rPr>
              <a:t> </a:t>
            </a:r>
            <a:r>
              <a:rPr sz="1400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# appending something to the content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'result.txt'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mode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'w'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r>
              <a:rPr sz="1400">
                <a:latin typeface="Ubuntu Mono"/>
                <a:ea typeface="Ubuntu Mono"/>
                <a:cs typeface="Ubuntu Mono"/>
              </a:rPr>
              <a:t> </a:t>
            </a:r>
            <a:r>
              <a:rPr sz="1400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# .. write mode</a:t>
            </a:r>
            <a:endParaRPr sz="1400">
              <a:solidFill>
                <a:schemeClr val="bg1">
                  <a:lumMod val="50000"/>
                </a:schemeClr>
              </a:solidFill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write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content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# writing content in a new file</a:t>
            </a:r>
            <a:endParaRPr sz="1400" b="0" i="0" u="none">
              <a:solidFill>
                <a:srgbClr val="BBBEBF"/>
              </a:solidFill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400" b="0" i="0" u="none">
              <a:solidFill>
                <a:srgbClr val="BBBEBF"/>
              </a:solidFill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close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r>
              <a:rPr sz="1400"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close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400">
              <a:latin typeface="Ubuntu Mono"/>
              <a:cs typeface="Ubuntu Mono"/>
            </a:endParaRPr>
          </a:p>
        </p:txBody>
      </p:sp>
      <p:sp>
        <p:nvSpPr>
          <p:cNvPr id="1914356586" name="Text 3"/>
          <p:cNvSpPr/>
          <p:nvPr/>
        </p:nvSpPr>
        <p:spPr bwMode="auto">
          <a:xfrm rot="0" flipH="0" flipV="0">
            <a:off x="292608" y="1581912"/>
            <a:ext cx="5573035" cy="1083550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182880" tIns="0" rIns="182880" bIns="0" numCol="1" spcCol="137158" rtlCol="0" fromWordArt="0" anchor="t" anchorCtr="0" forceAA="0" upright="0" compatLnSpc="0">
            <a:normAutofit/>
          </a:bodyPr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Reading:</a:t>
            </a:r>
            <a:endParaRPr lang="en-US" sz="22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buNone/>
              <a:defRPr/>
            </a:pPr>
            <a:endParaRPr sz="1200" b="0">
              <a:solidFill>
                <a:srgbClr val="1A1A2E"/>
              </a:solidFill>
              <a:latin typeface="Roboto"/>
              <a:cs typeface="Roboto"/>
            </a:endParaRPr>
          </a:p>
          <a:p>
            <a:pPr marL="0" indent="0" algn="l"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Loads entire file into memory.</a:t>
            </a: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Reads the complete file content into a single string.</a:t>
            </a:r>
            <a:r>
              <a:rPr lang="en-US" sz="24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 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497811398" name="Text 3"/>
          <p:cNvSpPr/>
          <p:nvPr/>
        </p:nvSpPr>
        <p:spPr bwMode="auto">
          <a:xfrm rot="0" flipH="0" flipV="0">
            <a:off x="6236208" y="2350006"/>
            <a:ext cx="5573034" cy="1083550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182880" tIns="0" rIns="182880" bIns="0" numCol="1" spcCol="137160" rtlCol="0" fromWordArt="0" anchor="t" anchorCtr="0" forceAA="0" upright="0" compatLnSpc="0">
            <a:normAutofit/>
          </a:bodyPr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Writing:</a:t>
            </a:r>
            <a:endParaRPr lang="en-US" sz="22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buNone/>
              <a:defRPr/>
            </a:pPr>
            <a:endParaRPr lang="en-US" sz="14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Overwrites existing file content.</a:t>
            </a: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Replaces the file contents completely with new text.</a:t>
            </a:r>
            <a:endParaRPr sz="1100" b="0">
              <a:solidFill>
                <a:srgbClr val="1A1A2E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35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49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2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1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06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0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6704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1195543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RECAP</a:t>
            </a:r>
            <a:endParaRPr lang="en-US" sz="1100"/>
          </a:p>
        </p:txBody>
      </p:sp>
      <p:sp>
        <p:nvSpPr>
          <p:cNvPr id="350309441" name="Text 3"/>
          <p:cNvSpPr/>
          <p:nvPr/>
        </p:nvSpPr>
        <p:spPr bwMode="auto">
          <a:xfrm flipH="0" flipV="0">
            <a:off x="457200" y="804672"/>
            <a:ext cx="22079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File Handling</a:t>
            </a:r>
            <a:endParaRPr lang="en-US" sz="2700"/>
          </a:p>
        </p:txBody>
      </p:sp>
      <p:sp>
        <p:nvSpPr>
          <p:cNvPr id="1824416256" name="Shape 8"/>
          <p:cNvSpPr/>
          <p:nvPr/>
        </p:nvSpPr>
        <p:spPr bwMode="auto">
          <a:xfrm flipH="0" flipV="0">
            <a:off x="97443" y="2984901"/>
            <a:ext cx="6540321" cy="3302911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1324261" name="Text 9"/>
          <p:cNvSpPr/>
          <p:nvPr/>
        </p:nvSpPr>
        <p:spPr bwMode="auto">
          <a:xfrm flipH="0" flipV="0">
            <a:off x="222970" y="3112917"/>
            <a:ext cx="6337040" cy="305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'test_file.log'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mode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'r'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my_dict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{}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line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: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applying some modification 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status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line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strip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split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':'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)[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taking just The Status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status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569CD6"/>
                </a:solidFill>
                <a:latin typeface="Ubuntu Mono"/>
                <a:ea typeface="Ubuntu Mono"/>
                <a:cs typeface="Ubuntu Mono"/>
              </a:rPr>
              <a:t>not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569CD6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my_dict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my_dict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status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else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: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my_dict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status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+=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b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</a:b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close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my_dict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400">
              <a:latin typeface="Ubuntu Mono"/>
              <a:cs typeface="Ubuntu Mono"/>
            </a:endParaRPr>
          </a:p>
        </p:txBody>
      </p:sp>
      <p:sp>
        <p:nvSpPr>
          <p:cNvPr id="1687663629" name="Shape 8"/>
          <p:cNvSpPr/>
          <p:nvPr/>
        </p:nvSpPr>
        <p:spPr bwMode="auto">
          <a:xfrm flipH="0" flipV="0">
            <a:off x="6978177" y="2984900"/>
            <a:ext cx="5092957" cy="1833618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2929009" name="Text 9"/>
          <p:cNvSpPr/>
          <p:nvPr/>
        </p:nvSpPr>
        <p:spPr bwMode="auto">
          <a:xfrm flipH="0" flipV="0">
            <a:off x="7094809" y="3112916"/>
            <a:ext cx="4885093" cy="154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'test_file.log'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mode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'a'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reading the entire content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write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endParaRPr sz="1400" b="0" i="0" u="none">
              <a:solidFill>
                <a:srgbClr val="BBBEBF"/>
              </a:solidFill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</a:t>
            </a:r>
            <a:r>
              <a:rPr sz="1400" b="0" i="0" u="none">
                <a:solidFill>
                  <a:srgbClr val="D7BA7D"/>
                </a:solidFill>
                <a:latin typeface="Ubuntu Mono"/>
                <a:ea typeface="Ubuntu Mono"/>
                <a:cs typeface="Ubuntu Mono"/>
              </a:rPr>
              <a:t>\n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NOTE:This file was written by Aymane Galibou'</a:t>
            </a:r>
            <a:endParaRPr sz="1400" b="0" i="0" u="none">
              <a:solidFill>
                <a:srgbClr val="BBBEBF"/>
              </a:solidFill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	)</a:t>
            </a:r>
            <a:endParaRPr sz="2400">
              <a:latin typeface="Ubuntu Mono"/>
              <a:cs typeface="Ubuntu Mono"/>
            </a:endParaRPr>
          </a:p>
        </p:txBody>
      </p:sp>
      <p:sp>
        <p:nvSpPr>
          <p:cNvPr id="859674528" name="Text 3"/>
          <p:cNvSpPr/>
          <p:nvPr/>
        </p:nvSpPr>
        <p:spPr bwMode="auto">
          <a:xfrm rot="0" flipH="0" flipV="0">
            <a:off x="322441" y="1571553"/>
            <a:ext cx="5573034" cy="1238396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182880" tIns="91440" rIns="182880" bIns="91440" numCol="1" spcCol="137160" rtlCol="0" fromWordArt="0" anchor="t" anchorCtr="0" forceAA="0" upright="0" compatLnSpc="0">
            <a:normAutofit/>
          </a:bodyPr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Reading efficiently:</a:t>
            </a:r>
            <a:endParaRPr lang="en-US" sz="22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buNone/>
              <a:defRPr/>
            </a:pPr>
            <a:endParaRPr lang="en-US" sz="16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Streams content line-by-line.</a:t>
            </a: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Processes data efficiently without loading the whole file at once.</a:t>
            </a:r>
            <a:endParaRPr sz="1100" b="0">
              <a:solidFill>
                <a:srgbClr val="1A1A2E"/>
              </a:solidFill>
              <a:latin typeface="Roboto"/>
              <a:cs typeface="Roboto"/>
            </a:endParaRPr>
          </a:p>
        </p:txBody>
      </p:sp>
      <p:sp>
        <p:nvSpPr>
          <p:cNvPr id="749215180" name="Text 3"/>
          <p:cNvSpPr/>
          <p:nvPr/>
        </p:nvSpPr>
        <p:spPr bwMode="auto">
          <a:xfrm rot="0" flipH="0" flipV="0">
            <a:off x="6885353" y="1571553"/>
            <a:ext cx="5185780" cy="1314633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182880" tIns="91440" rIns="182880" bIns="91440" numCol="1" spcCol="137160" rtlCol="0" fromWordArt="0" anchor="t" anchorCtr="0" forceAA="0" upright="0" compatLnSpc="0">
            <a:normAutofit/>
          </a:bodyPr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Append : </a:t>
            </a:r>
            <a:endParaRPr lang="en-US" sz="26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buNone/>
              <a:defRPr/>
            </a:pPr>
            <a:endParaRPr lang="en-US" sz="9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spcAft>
                <a:spcPts val="998"/>
              </a:spcAft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Append mode updates existing files directly without loading them into the memory first (i.e optimize read then write previous process ) .</a:t>
            </a:r>
            <a:endParaRPr sz="2400" b="0" i="0" u="none" strike="noStrike" cap="none" spc="0">
              <a:solidFill>
                <a:schemeClr val="tx1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67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41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3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21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66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92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0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35946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1577504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93714763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Problem: Resource Leaks</a:t>
            </a:r>
            <a:endParaRPr lang="en-US" sz="2700"/>
          </a:p>
        </p:txBody>
      </p:sp>
      <p:sp>
        <p:nvSpPr>
          <p:cNvPr id="676154359" name="Text 7"/>
          <p:cNvSpPr/>
          <p:nvPr/>
        </p:nvSpPr>
        <p:spPr bwMode="auto">
          <a:xfrm rot="0" flipH="0" flipV="0">
            <a:off x="457200" y="1463040"/>
            <a:ext cx="5486400" cy="2183517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91440" tIns="91440" rIns="91440" bIns="91440" numCol="1" spcCol="0" rtlCol="0" fromWordArt="0" anchor="t" anchorCtr="0" forceAA="0" upright="0" compatLnSpc="0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Files, database connections, network sockets and locks are all resources that must be released, even if an error happens mid-way.</a:t>
            </a:r>
            <a:endParaRPr sz="16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Naive approach relying on manual </a:t>
            </a:r>
            <a:r>
              <a:rPr lang="en-US" sz="18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.close().</a:t>
            </a:r>
            <a:endParaRPr lang="en-US" sz="18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r>
              <a:rPr sz="16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The Risk:</a:t>
            </a: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Any exception raised before </a:t>
            </a:r>
            <a:r>
              <a:rPr sz="16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.close()</a:t>
            </a:r>
            <a:r>
              <a:rPr sz="16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leaves the file handle permanently open in memory.</a:t>
            </a:r>
            <a:endParaRPr lang="en-US" sz="1800" b="1">
              <a:solidFill>
                <a:srgbClr val="1A1A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8820942" name="Shape 8"/>
          <p:cNvSpPr/>
          <p:nvPr/>
        </p:nvSpPr>
        <p:spPr bwMode="auto">
          <a:xfrm>
            <a:off x="6245352" y="164592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0256052" name="Text 9"/>
          <p:cNvSpPr/>
          <p:nvPr/>
        </p:nvSpPr>
        <p:spPr bwMode="auto">
          <a:xfrm>
            <a:off x="6464808" y="1773936"/>
            <a:ext cx="5084062" cy="138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f = open(</a:t>
            </a:r>
            <a:r>
              <a:rPr lang="en-US" sz="15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"data.txt"</a:t>
            </a: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data = f.read()      </a:t>
            </a:r>
            <a:r>
              <a:rPr lang="en-US" sz="15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if this raises, f.close() never runs!</a:t>
            </a:r>
            <a:endParaRPr sz="15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f.close()</a:t>
            </a:r>
            <a:endParaRPr sz="1500">
              <a:latin typeface="Ubuntu Mono"/>
              <a:cs typeface="Ubuntu Mono"/>
            </a:endParaRPr>
          </a:p>
        </p:txBody>
      </p:sp>
      <p:sp>
        <p:nvSpPr>
          <p:cNvPr id="1487672440" name="Text 7"/>
          <p:cNvSpPr/>
          <p:nvPr/>
        </p:nvSpPr>
        <p:spPr bwMode="auto">
          <a:xfrm rot="0" flipH="0" flipV="0">
            <a:off x="457198" y="4184870"/>
            <a:ext cx="5486400" cy="2079947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91440" tIns="91440" rIns="91440" bIns="91440" numCol="1" spcCol="0" rtlCol="0" fromWordArt="0" anchor="t" anchorCtr="0" forceAA="0" upright="0" compatLnSpc="0"/>
          <a:lstStyle/>
          <a:p>
            <a:pPr marL="228600" indent="-228600" algn="l" rtl="0">
              <a:lnSpc>
                <a:spcPct val="114999"/>
              </a:lnSpc>
              <a:spcAft>
                <a:spcPts val="996"/>
              </a:spcAft>
              <a:buSzPct val="100000"/>
              <a:buChar char="●"/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Operating systems restrict the max number of open files per process </a:t>
            </a:r>
            <a:r>
              <a:rPr lang="en-US" sz="16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[ulimit -n]</a:t>
            </a:r>
            <a:r>
              <a:rPr lang="en-US" sz="16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(i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.e. , one exception in the mid-processing can lead to an app crash)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 algn="l" rtl="0">
              <a:lnSpc>
                <a:spcPct val="114999"/>
              </a:lnSpc>
              <a:spcAft>
                <a:spcPts val="996"/>
              </a:spcAft>
              <a:buSzPct val="100000"/>
              <a:buChar char="●"/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Managing 4 or 5 files manually requires cascading </a:t>
            </a:r>
            <a:r>
              <a:rPr lang="en-US" sz="16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.close()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calls or messy 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try...finally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blocks (try..catch..finally was the solution before CMP)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.</a:t>
            </a:r>
            <a:endParaRPr lang="en-US" sz="1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>
              <a:lnSpc>
                <a:spcPct val="114999"/>
              </a:lnSpc>
              <a:spcAft>
                <a:spcPts val="996"/>
              </a:spcAft>
              <a:buSzPct val="100000"/>
              <a:buChar char="●"/>
              <a:defRPr/>
            </a:pPr>
            <a:endParaRPr lang="en-US" sz="1600" b="0" i="0" u="none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631265215" name="Shape 8"/>
          <p:cNvSpPr/>
          <p:nvPr/>
        </p:nvSpPr>
        <p:spPr bwMode="auto">
          <a:xfrm flipH="0" flipV="0">
            <a:off x="6323041" y="3692277"/>
            <a:ext cx="5541264" cy="3093781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1145537" name="Text 9"/>
          <p:cNvSpPr/>
          <p:nvPr/>
        </p:nvSpPr>
        <p:spPr bwMode="auto">
          <a:xfrm flipH="0" flipV="0">
            <a:off x="6437310" y="3829437"/>
            <a:ext cx="5225826" cy="279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f1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"data.txt"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"data1.txt"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..</a:t>
            </a:r>
            <a:endParaRPr sz="2400">
              <a:solidFill>
                <a:schemeClr val="bg1">
                  <a:lumMod val="50000"/>
                </a:schemeClr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..</a:t>
            </a:r>
            <a:endParaRPr sz="2400">
              <a:solidFill>
                <a:schemeClr val="bg1">
                  <a:lumMod val="50000"/>
                </a:schemeClr>
              </a:solidFill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data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f1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read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 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..</a:t>
            </a:r>
            <a:endParaRPr sz="2400">
              <a:solidFill>
                <a:schemeClr val="bg1">
                  <a:lumMod val="50000"/>
                </a:schemeClr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..</a:t>
            </a:r>
            <a:endParaRPr sz="2400">
              <a:solidFill>
                <a:schemeClr val="bg1">
                  <a:lumMod val="50000"/>
                </a:schemeClr>
              </a:solidFill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f1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close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close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2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..</a:t>
            </a:r>
            <a:endParaRPr sz="2400">
              <a:solidFill>
                <a:schemeClr val="bg1">
                  <a:lumMod val="50000"/>
                </a:schemeClr>
              </a:solidFill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..</a:t>
            </a:r>
            <a:endParaRPr sz="24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2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5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67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26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14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2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049821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8180104" name="Text 1"/>
          <p:cNvSpPr/>
          <p:nvPr/>
        </p:nvSpPr>
        <p:spPr bwMode="auto">
          <a:xfrm>
            <a:off x="398882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683692430" name="Text 7"/>
          <p:cNvSpPr/>
          <p:nvPr/>
        </p:nvSpPr>
        <p:spPr bwMode="auto">
          <a:xfrm rot="0" flipH="0" flipV="0">
            <a:off x="457200" y="4386879"/>
            <a:ext cx="11292840" cy="365760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91440" tIns="91440" rIns="91440" bIns="91440" numCol="1" spcCol="0" rtlCol="0" fromWordArt="0" anchor="ctr" anchorCtr="0" forceAA="0" upright="0" compatLnSpc="0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6B7280"/>
                </a:solidFill>
                <a:latin typeface="Roboto"/>
                <a:ea typeface="Roboto"/>
                <a:cs typeface="Roboto"/>
              </a:rPr>
              <a:t>Any object implementing these two methods can be used with context manager :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6870675" name="Text 8"/>
          <p:cNvSpPr/>
          <p:nvPr/>
        </p:nvSpPr>
        <p:spPr bwMode="auto">
          <a:xfrm flipH="0" flipV="0">
            <a:off x="457198" y="4918164"/>
            <a:ext cx="11292840" cy="125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__enter__(self) → runs at the start of the block, returns the value bound by as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__exit__(self, exc_type, exc_value, traceback) → runs at the end, even on exception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return True to suppress the exception, False/None to let it propagate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4060803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Solution : </a:t>
            </a:r>
            <a:r>
              <a:rPr lang="en-US" sz="2700" b="1" i="0" u="none" strike="noStrike" cap="none" spc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Context Manager Protocol</a:t>
            </a:r>
            <a:endParaRPr lang="en-US" sz="2700"/>
          </a:p>
        </p:txBody>
      </p:sp>
      <p:sp>
        <p:nvSpPr>
          <p:cNvPr id="1302274390" name="Text 8"/>
          <p:cNvSpPr/>
          <p:nvPr/>
        </p:nvSpPr>
        <p:spPr bwMode="auto">
          <a:xfrm flipH="0" flipV="0">
            <a:off x="457198" y="1866742"/>
            <a:ext cx="11292840" cy="215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  <a:spcAft>
                <a:spcPts val="998"/>
              </a:spcAft>
              <a:defRPr/>
            </a:pPr>
            <a:r>
              <a:rPr lang="en-US" sz="1800" u="none">
                <a:solidFill>
                  <a:srgbClr val="1A1A2E"/>
                </a:solidFill>
                <a:latin typeface="Roboto"/>
                <a:ea typeface="Roboto"/>
                <a:cs typeface="Roboto"/>
              </a:rPr>
              <a:t>Context Manager is an object that handle this : </a:t>
            </a:r>
            <a:endParaRPr sz="1800" u="none">
              <a:solidFill>
                <a:srgbClr val="1A1A2E"/>
              </a:solidFill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Set up a context </a:t>
            </a:r>
            <a:endParaRPr lang="en-US" sz="1800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Run Your code </a:t>
            </a:r>
            <a:endParaRPr sz="1800">
              <a:solidFill>
                <a:srgbClr val="1A1A2E"/>
              </a:solidFill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Remove the context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14999"/>
              </a:lnSpc>
              <a:spcAft>
                <a:spcPts val="998"/>
              </a:spcAft>
              <a:defRPr/>
            </a:pPr>
            <a:r>
              <a:rPr sz="1800" i="1">
                <a:solidFill>
                  <a:schemeClr val="tx1"/>
                </a:solidFill>
                <a:highlight>
                  <a:srgbClr val="FFFF00"/>
                </a:highlight>
                <a:latin typeface="Roboto"/>
                <a:cs typeface="Roboto"/>
              </a:rPr>
              <a:t>Note :</a:t>
            </a:r>
            <a:r>
              <a:rPr sz="1800" i="1">
                <a:solidFill>
                  <a:schemeClr val="tx1"/>
                </a:solidFill>
                <a:latin typeface="Roboto"/>
                <a:cs typeface="Roboto"/>
              </a:rPr>
              <a:t> </a:t>
            </a:r>
            <a:r>
              <a:rPr sz="1800" i="1">
                <a:solidFill>
                  <a:schemeClr val="tx1"/>
                </a:solidFill>
                <a:latin typeface="Roboto"/>
                <a:cs typeface="Roboto"/>
              </a:rPr>
              <a:t>you interact with context manager using keyword with</a:t>
            </a:r>
            <a:endParaRPr sz="1800" i="1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418828277" name="Text 7"/>
          <p:cNvSpPr/>
          <p:nvPr/>
        </p:nvSpPr>
        <p:spPr bwMode="auto">
          <a:xfrm rot="0" flipH="0" flipV="0">
            <a:off x="457200" y="1408176"/>
            <a:ext cx="11292840" cy="365760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91440" tIns="91440" rIns="91440" bIns="91440" numCol="1" spcCol="0" rtlCol="0" fromWordArt="0" anchor="ctr" anchorCtr="0" forceAA="0" upright="0" compatLnSpc="0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6B7280"/>
                </a:solidFill>
                <a:latin typeface="Roboto"/>
                <a:ea typeface="Roboto"/>
                <a:cs typeface="Roboto"/>
              </a:rPr>
              <a:t>What is a Context </a:t>
            </a:r>
            <a:r>
              <a:rPr lang="en-US" sz="1600" i="1">
                <a:solidFill>
                  <a:srgbClr val="6B7280"/>
                </a:solidFill>
                <a:latin typeface="Roboto"/>
                <a:ea typeface="Roboto"/>
                <a:cs typeface="Roboto"/>
              </a:rPr>
              <a:t>Manager </a:t>
            </a:r>
            <a:r>
              <a:rPr lang="en-US" sz="1600" i="1">
                <a:solidFill>
                  <a:srgbClr val="6B7280"/>
                </a:solidFill>
                <a:latin typeface="Roboto"/>
                <a:ea typeface="Roboto"/>
                <a:cs typeface="Roboto"/>
              </a:rPr>
              <a:t>? 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27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69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1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414129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7941493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46408231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with Statement, Under the Hood</a:t>
            </a:r>
            <a:endParaRPr lang="en-US" sz="2700"/>
          </a:p>
        </p:txBody>
      </p:sp>
      <p:sp>
        <p:nvSpPr>
          <p:cNvPr id="1520640234" name="Shape 9"/>
          <p:cNvSpPr/>
          <p:nvPr/>
        </p:nvSpPr>
        <p:spPr bwMode="auto">
          <a:xfrm flipH="0" flipV="0">
            <a:off x="457198" y="2029968"/>
            <a:ext cx="5440680" cy="2343755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8797606" name="Text 10"/>
          <p:cNvSpPr/>
          <p:nvPr/>
        </p:nvSpPr>
        <p:spPr bwMode="auto">
          <a:xfrm flipH="0" flipV="0">
            <a:off x="658366" y="2157984"/>
            <a:ext cx="5038344" cy="171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C586C0"/>
                </a:solidFill>
                <a:latin typeface="Roboto"/>
                <a:ea typeface="Roboto"/>
                <a:cs typeface="Roboto"/>
              </a:rPr>
              <a:t>with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Roboto"/>
                <a:ea typeface="Roboto"/>
                <a:cs typeface="Roboto"/>
              </a:rPr>
              <a:t>open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(</a:t>
            </a:r>
            <a:r>
              <a:rPr sz="1600" b="0" i="0" u="none">
                <a:solidFill>
                  <a:srgbClr val="A5D6FF"/>
                </a:solidFill>
                <a:latin typeface="Roboto"/>
                <a:ea typeface="Roboto"/>
                <a:cs typeface="Roboto"/>
              </a:rPr>
              <a:t>"data.txt"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) </a:t>
            </a:r>
            <a:r>
              <a:rPr sz="1600" b="0" i="0" u="none">
                <a:solidFill>
                  <a:srgbClr val="C586C0"/>
                </a:solidFill>
                <a:latin typeface="Roboto"/>
                <a:ea typeface="Roboto"/>
                <a:cs typeface="Roboto"/>
              </a:rPr>
              <a:t>as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 </a:t>
            </a:r>
            <a:r>
              <a:rPr sz="1600" b="0" i="0" u="none">
                <a:solidFill>
                  <a:srgbClr val="C9D1D9"/>
                </a:solidFill>
                <a:latin typeface="Roboto"/>
                <a:ea typeface="Roboto"/>
                <a:cs typeface="Roboto"/>
              </a:rPr>
              <a:t>f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:</a:t>
            </a:r>
            <a:endParaRPr sz="1600">
              <a:latin typeface="Roboto"/>
              <a:cs typeface="Roboto"/>
            </a:endParaRPr>
          </a:p>
          <a:p>
            <a:pPr>
              <a:defRPr/>
            </a:pPr>
            <a:r>
              <a:rPr sz="1600" b="0" i="0" u="none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   .. no matter what instructions within this clause</a:t>
            </a:r>
            <a:endParaRPr sz="1600">
              <a:solidFill>
                <a:schemeClr val="bg1">
                  <a:lumMod val="50000"/>
                </a:schemeClr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    </a:t>
            </a:r>
            <a:r>
              <a:rPr sz="1600" b="0" i="0" u="none">
                <a:solidFill>
                  <a:srgbClr val="C9D1D9"/>
                </a:solidFill>
                <a:latin typeface="Roboto"/>
                <a:ea typeface="Roboto"/>
                <a:cs typeface="Roboto"/>
              </a:rPr>
              <a:t>data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Roboto"/>
                <a:ea typeface="Roboto"/>
                <a:cs typeface="Robot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 </a:t>
            </a:r>
            <a:r>
              <a:rPr sz="1600" b="0" i="0" u="none">
                <a:solidFill>
                  <a:srgbClr val="C9D1D9"/>
                </a:solidFill>
                <a:latin typeface="Roboto"/>
                <a:ea typeface="Roboto"/>
                <a:cs typeface="Roboto"/>
              </a:rPr>
              <a:t>f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.</a:t>
            </a:r>
            <a:r>
              <a:rPr sz="1600" b="0" i="0" u="none">
                <a:solidFill>
                  <a:srgbClr val="D2A8FF"/>
                </a:solidFill>
                <a:latin typeface="Roboto"/>
                <a:ea typeface="Roboto"/>
                <a:cs typeface="Roboto"/>
              </a:rPr>
              <a:t>read</a:t>
            </a:r>
            <a:r>
              <a:rPr sz="1600" b="0" i="0" u="none">
                <a:solidFill>
                  <a:srgbClr val="BBBEBF"/>
                </a:solidFill>
                <a:latin typeface="Roboto"/>
                <a:ea typeface="Roboto"/>
                <a:cs typeface="Roboto"/>
              </a:rPr>
              <a:t>()</a:t>
            </a:r>
            <a:endParaRPr sz="1600" b="0" i="0" u="none">
              <a:solidFill>
                <a:srgbClr val="BBBEBF"/>
              </a:solidFill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   .. no matter what instructions within this clause</a:t>
            </a:r>
            <a:endParaRPr sz="1600">
              <a:solidFill>
                <a:schemeClr val="bg1">
                  <a:lumMod val="50000"/>
                </a:schemeClr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sz="1600" b="0" i="0" u="none">
                <a:solidFill>
                  <a:schemeClr val="accent6"/>
                </a:solidFill>
                <a:latin typeface="Roboto"/>
                <a:ea typeface="Roboto"/>
                <a:cs typeface="Roboto"/>
              </a:rPr>
              <a:t>   # f is guaranteed to be closed here,</a:t>
            </a:r>
            <a:endParaRPr sz="1600">
              <a:solidFill>
                <a:schemeClr val="accent6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sz="1600" b="0" i="0" u="none">
                <a:solidFill>
                  <a:schemeClr val="accent6"/>
                </a:solidFill>
                <a:latin typeface="Roboto"/>
                <a:ea typeface="Roboto"/>
                <a:cs typeface="Roboto"/>
              </a:rPr>
              <a:t>   # even if an exception occurred</a:t>
            </a:r>
            <a:br>
              <a:rPr sz="1600" b="0" i="0" u="none">
                <a:solidFill>
                  <a:schemeClr val="accent6"/>
                </a:solidFill>
                <a:latin typeface="Roboto"/>
                <a:ea typeface="Roboto"/>
                <a:cs typeface="Roboto"/>
              </a:rPr>
            </a:br>
            <a:endParaRPr sz="1600">
              <a:latin typeface="Roboto"/>
              <a:cs typeface="Roboto"/>
            </a:endParaRPr>
          </a:p>
        </p:txBody>
      </p:sp>
      <p:sp>
        <p:nvSpPr>
          <p:cNvPr id="997217678" name="Shape 11"/>
          <p:cNvSpPr/>
          <p:nvPr/>
        </p:nvSpPr>
        <p:spPr bwMode="auto">
          <a:xfrm flipH="0" flipV="0">
            <a:off x="6309360" y="2029968"/>
            <a:ext cx="5440680" cy="2343755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3561200" name="Text 12"/>
          <p:cNvSpPr/>
          <p:nvPr/>
        </p:nvSpPr>
        <p:spPr bwMode="auto">
          <a:xfrm flipH="0" flipV="0">
            <a:off x="6510528" y="2157984"/>
            <a:ext cx="5038344" cy="171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f = open(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"data.txt"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try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data = f.read()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finally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f.close()</a:t>
            </a:r>
            <a:endParaRPr lang="en-US" sz="1500"/>
          </a:p>
        </p:txBody>
      </p:sp>
      <p:sp>
        <p:nvSpPr>
          <p:cNvPr id="1594885585" name="Text 7"/>
          <p:cNvSpPr/>
          <p:nvPr/>
        </p:nvSpPr>
        <p:spPr bwMode="auto">
          <a:xfrm rot="0" flipH="0" flipV="0">
            <a:off x="457198" y="1463040"/>
            <a:ext cx="5356982" cy="310894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91440" tIns="91440" rIns="91440" bIns="91440" numCol="1" spcCol="0" rtlCol="0" fromWordArt="0" anchor="ctr" anchorCtr="0" forceAA="0" upright="0" compatLnSpc="0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6B7280"/>
                </a:solidFill>
                <a:latin typeface="Roboto"/>
                <a:ea typeface="Roboto"/>
                <a:cs typeface="Roboto"/>
              </a:rPr>
              <a:t>With Statement Syntax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24913372" name="Text 7"/>
          <p:cNvSpPr/>
          <p:nvPr/>
        </p:nvSpPr>
        <p:spPr bwMode="auto">
          <a:xfrm rot="0" flipH="0" flipV="0">
            <a:off x="6309360" y="1459990"/>
            <a:ext cx="5356981" cy="310894"/>
          </a:xfrm>
          <a:prstGeom prst="rect">
            <a:avLst/>
          </a:prstGeom>
          <a:solidFill>
            <a:schemeClr val="accent2">
              <a:lumMod val="60000"/>
              <a:lumOff val="40000"/>
              <a:alpha val="15999"/>
            </a:schemeClr>
          </a:solidFill>
          <a:ln/>
        </p:spPr>
        <p:txBody>
          <a:bodyPr vertOverflow="overflow" horzOverflow="overflow" vert="horz" wrap="square" lIns="91440" tIns="91440" rIns="91440" bIns="91440" numCol="1" spcCol="0" rtlCol="0" fromWordArt="0" anchor="ctr" anchorCtr="0" forceAA="0" upright="0" compatLnSpc="0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6B7280"/>
                </a:solidFill>
                <a:latin typeface="Roboto"/>
                <a:ea typeface="Roboto"/>
                <a:cs typeface="Roboto"/>
              </a:rPr>
              <a:t>Equivalent To 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79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88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21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9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3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842767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4485602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26629990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Building a Class-Based Context Manager</a:t>
            </a:r>
            <a:endParaRPr lang="en-US" sz="2700"/>
          </a:p>
        </p:txBody>
      </p:sp>
      <p:sp>
        <p:nvSpPr>
          <p:cNvPr id="396230249" name="Shape 7"/>
          <p:cNvSpPr/>
          <p:nvPr/>
        </p:nvSpPr>
        <p:spPr bwMode="auto">
          <a:xfrm>
            <a:off x="457200" y="1600200"/>
            <a:ext cx="11292840" cy="461772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3246397" name="Text 8"/>
          <p:cNvSpPr/>
          <p:nvPr/>
        </p:nvSpPr>
        <p:spPr bwMode="auto">
          <a:xfrm>
            <a:off x="658368" y="1728216"/>
            <a:ext cx="10890504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class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ManagedFile: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__init__(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, filename, mode=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"r"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.filename = filename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.mode = mode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__enter__(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.file = open(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.filename,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.mode)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.file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__exit__(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, exc_type, exc_value, traceback):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.file.close()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False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1500" i="1">
                <a:solidFill>
                  <a:srgbClr val="6A9955"/>
                </a:solidFill>
                <a:latin typeface="Courier New"/>
                <a:ea typeface="Courier New"/>
                <a:cs typeface="Courier New"/>
              </a:rPr>
              <a:t># don't suppress exceptions to avoid probs in next blocks of code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ManagedFile(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"data.txt"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f: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print(f.read())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3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24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4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107998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1654765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101925064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Timer Context Manager</a:t>
            </a:r>
            <a:endParaRPr lang="en-US" sz="2700"/>
          </a:p>
        </p:txBody>
      </p:sp>
      <p:sp>
        <p:nvSpPr>
          <p:cNvPr id="181486993" name="Shape 7"/>
          <p:cNvSpPr/>
          <p:nvPr/>
        </p:nvSpPr>
        <p:spPr bwMode="auto">
          <a:xfrm>
            <a:off x="457200" y="1600200"/>
            <a:ext cx="11292840" cy="461772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6091108" name="Text 8"/>
          <p:cNvSpPr/>
          <p:nvPr/>
        </p:nvSpPr>
        <p:spPr bwMode="auto">
          <a:xfrm>
            <a:off x="658368" y="1728216"/>
            <a:ext cx="10890504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time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class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Timer: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__enter__(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.start = time.perf_counter()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__exit__(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, exc_type, exc_value, traceback):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.elapsed = time.perf_counter() -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self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.start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print(f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"Elapsed: {self.elapsed:.4f}s"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False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Timer():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heavy_computation()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8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09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5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101130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Exceptions Inside __exit__ Return Value</a:t>
            </a:r>
            <a:endParaRPr lang="en-US" sz="2700"/>
          </a:p>
        </p:txBody>
      </p:sp>
      <p:sp>
        <p:nvSpPr>
          <p:cNvPr id="1260058938" name="Shape 8"/>
          <p:cNvSpPr/>
          <p:nvPr/>
        </p:nvSpPr>
        <p:spPr bwMode="auto">
          <a:xfrm flipH="0" flipV="0">
            <a:off x="457200" y="1938528"/>
            <a:ext cx="11292840" cy="3718154"/>
          </a:xfrm>
          <a:prstGeom prst="roundRect">
            <a:avLst>
              <a:gd name="adj" fmla="val 3200"/>
            </a:avLst>
          </a:prstGeom>
          <a:solidFill>
            <a:srgbClr val="2415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3353006" name="Text 9"/>
          <p:cNvSpPr/>
          <p:nvPr/>
        </p:nvSpPr>
        <p:spPr bwMode="auto">
          <a:xfrm flipH="0" flipV="0">
            <a:off x="585153" y="2066544"/>
            <a:ext cx="10963717" cy="337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FF7B72"/>
                </a:solidFill>
                <a:latin typeface="Droid Sans Mono"/>
                <a:ea typeface="Droid Sans Mono"/>
                <a:cs typeface="Droid Sans Mono"/>
              </a:rPr>
              <a:t>class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Droid Sans Mono"/>
                <a:ea typeface="Droid Sans Mono"/>
                <a:cs typeface="Droid Sans Mono"/>
              </a:rPr>
              <a:t>SuppressErrors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: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Droid Sans Mono"/>
                <a:ea typeface="Droid Sans Mono"/>
                <a:cs typeface="Droid Sans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__enter__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):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return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Droid Sans Mono"/>
                <a:ea typeface="Droid Sans Mono"/>
                <a:cs typeface="Droid Sans Mono"/>
              </a:rPr>
              <a:t>self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Droid Sans Mono"/>
                <a:ea typeface="Droid Sans Mono"/>
                <a:cs typeface="Droid Sans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__exit__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Droid Sans Mono"/>
                <a:ea typeface="Droid Sans Mono"/>
                <a:cs typeface="Droid Sans Mono"/>
              </a:rPr>
              <a:t>exc_type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Droid Sans Mono"/>
                <a:ea typeface="Droid Sans Mono"/>
                <a:cs typeface="Droid Sans Mono"/>
              </a:rPr>
              <a:t>exc_value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Droid Sans Mono"/>
                <a:ea typeface="Droid Sans Mono"/>
                <a:cs typeface="Droid Sans Mono"/>
              </a:rPr>
              <a:t>traceback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):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     </a:t>
            </a:r>
            <a:r>
              <a:rPr sz="1400" b="0" i="0" u="none">
                <a:solidFill>
                  <a:srgbClr val="D2A8FF"/>
                </a:solidFill>
                <a:latin typeface="Droid Sans Mono"/>
                <a:ea typeface="Droid Sans Mono"/>
                <a:cs typeface="Droid Sans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400" b="0" i="0" u="none">
                <a:solidFill>
                  <a:srgbClr val="FF7B72"/>
                </a:solidFill>
                <a:latin typeface="Droid Sans Mono"/>
                <a:ea typeface="Droid Sans Mono"/>
                <a:cs typeface="Droid Sans Mono"/>
              </a:rPr>
              <a:t>f</a:t>
            </a:r>
            <a:r>
              <a:rPr sz="1400" b="0" i="0" u="none">
                <a:solidFill>
                  <a:srgbClr val="A5D6FF"/>
                </a:solidFill>
                <a:latin typeface="Droid Sans Mono"/>
                <a:ea typeface="Droid Sans Mono"/>
                <a:cs typeface="Droid Sans Mono"/>
              </a:rPr>
              <a:t>"Suppressed: </a:t>
            </a:r>
            <a:r>
              <a:rPr sz="1400" b="0" i="0" u="none">
                <a:solidFill>
                  <a:srgbClr val="FF7B72"/>
                </a:solidFill>
                <a:latin typeface="Droid Sans Mono"/>
                <a:ea typeface="Droid Sans Mono"/>
                <a:cs typeface="Droid Sans Mono"/>
              </a:rPr>
              <a:t>{</a:t>
            </a:r>
            <a:r>
              <a:rPr sz="1400" b="0" i="0" u="none">
                <a:solidFill>
                  <a:srgbClr val="FFA657"/>
                </a:solidFill>
                <a:latin typeface="Droid Sans Mono"/>
                <a:ea typeface="Droid Sans Mono"/>
                <a:cs typeface="Droid Sans Mono"/>
              </a:rPr>
              <a:t>exc_value</a:t>
            </a:r>
            <a:r>
              <a:rPr sz="1400" b="0" i="0" u="none">
                <a:solidFill>
                  <a:srgbClr val="FF7B72"/>
                </a:solidFill>
                <a:latin typeface="Droid Sans Mono"/>
                <a:ea typeface="Droid Sans Mono"/>
                <a:cs typeface="Droid Sans Mono"/>
              </a:rPr>
              <a:t>}</a:t>
            </a:r>
            <a:r>
              <a:rPr sz="1400" b="0" i="0" u="none">
                <a:solidFill>
                  <a:srgbClr val="A5D6FF"/>
                </a:solidFill>
                <a:latin typeface="Droid Sans Mono"/>
                <a:ea typeface="Droid Sans Mono"/>
                <a:cs typeface="Droid Sans Mono"/>
              </a:rPr>
              <a:t>"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)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return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569CD6"/>
                </a:solidFill>
                <a:latin typeface="Droid Sans Mono"/>
                <a:ea typeface="Droid Sans Mono"/>
                <a:cs typeface="Droid Sans Mono"/>
              </a:rPr>
              <a:t>True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</a:t>
            </a:r>
            <a:r>
              <a:rPr sz="1400" b="0" i="0" u="none">
                <a:solidFill>
                  <a:srgbClr val="8B949E"/>
                </a:solidFill>
                <a:latin typeface="Droid Sans Mono"/>
                <a:ea typeface="Droid Sans Mono"/>
                <a:cs typeface="Droid Sans Mono"/>
              </a:rPr>
              <a:t># &lt;- silently swallows ANY exception!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with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Droid Sans Mono"/>
                <a:ea typeface="Droid Sans Mono"/>
                <a:cs typeface="Droid Sans Mono"/>
              </a:rPr>
              <a:t>SuppressErrors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():</a:t>
            </a:r>
            <a:endParaRPr sz="2400"/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4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/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4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0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   </a:t>
            </a:r>
            <a:r>
              <a:rPr sz="1400" b="0" i="0" u="none">
                <a:solidFill>
                  <a:srgbClr val="8B949E"/>
                </a:solidFill>
                <a:latin typeface="Droid Sans Mono"/>
                <a:ea typeface="Droid Sans Mono"/>
                <a:cs typeface="Droid Sans Mono"/>
              </a:rPr>
              <a:t># ZeroDivisionError is silently ignored!</a:t>
            </a:r>
            <a:br>
              <a:rPr sz="1400" b="0" i="0" u="none">
                <a:solidFill>
                  <a:srgbClr val="8B949E"/>
                </a:solidFill>
                <a:latin typeface="Droid Sans Mono"/>
                <a:ea typeface="Droid Sans Mono"/>
                <a:cs typeface="Droid Sans Mono"/>
              </a:rPr>
            </a:br>
            <a:endParaRPr sz="2400"/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Droid Sans Mono"/>
                <a:ea typeface="Droid Sans Mono"/>
                <a:cs typeface="Droid Sans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Droid Sans Mono"/>
                <a:ea typeface="Droid Sans Mono"/>
                <a:cs typeface="Droid Sans Mono"/>
              </a:rPr>
              <a:t>"This will run because the Exception is ignored"</a:t>
            </a:r>
            <a:r>
              <a:rPr sz="1400" b="0" i="0" u="none">
                <a:solidFill>
                  <a:srgbClr val="BBBEBF"/>
                </a:solidFill>
                <a:latin typeface="Droid Sans Mono"/>
                <a:ea typeface="Droid Sans Mono"/>
                <a:cs typeface="Droid Sans Mono"/>
              </a:rPr>
              <a:t>)</a:t>
            </a:r>
            <a:endParaRPr sz="2400">
              <a:latin typeface="Ubuntu Mono"/>
              <a:cs typeface="Ubuntu Mono"/>
            </a:endParaRPr>
          </a:p>
        </p:txBody>
      </p:sp>
      <p:sp>
        <p:nvSpPr>
          <p:cNvPr id="1318920230" name="Text 10"/>
          <p:cNvSpPr/>
          <p:nvPr/>
        </p:nvSpPr>
        <p:spPr bwMode="auto">
          <a:xfrm flipH="0" flipV="0">
            <a:off x="457200" y="5943070"/>
            <a:ext cx="11292840" cy="491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Only return True when you deliberately want to swallow specific exception types — check exc_type first.</a:t>
            </a:r>
            <a:endParaRPr sz="1600" i="1">
              <a:solidFill>
                <a:schemeClr val="bg1">
                  <a:lumMod val="50000"/>
                </a:schemeClr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5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35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2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6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411545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0561372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346163661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contextlib.contextmanager — the Shortcut</a:t>
            </a:r>
            <a:endParaRPr lang="en-US" sz="2700"/>
          </a:p>
        </p:txBody>
      </p:sp>
      <p:sp>
        <p:nvSpPr>
          <p:cNvPr id="1029339600" name="Text 7"/>
          <p:cNvSpPr/>
          <p:nvPr/>
        </p:nvSpPr>
        <p:spPr bwMode="auto">
          <a:xfrm flipH="0" flipV="0">
            <a:off x="457200" y="1529286"/>
            <a:ext cx="11292840" cy="74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Writing a full class for every context manager is verbose.</a:t>
            </a:r>
            <a:endParaRPr sz="16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@contextmanager lets you write one using a generator function: code before yield = __enter__, code after yield = __exit__.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343246106" name="Shape 7"/>
          <p:cNvSpPr/>
          <p:nvPr/>
        </p:nvSpPr>
        <p:spPr bwMode="auto">
          <a:xfrm flipH="0" flipV="0">
            <a:off x="515064" y="2497329"/>
            <a:ext cx="7016247" cy="1652294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1205994" name="Text 8"/>
          <p:cNvSpPr/>
          <p:nvPr/>
        </p:nvSpPr>
        <p:spPr bwMode="auto">
          <a:xfrm flipH="0" flipV="0">
            <a:off x="727740" y="2629373"/>
            <a:ext cx="6706626" cy="144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contextlib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contextmanager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my_context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Add any set up code you need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yield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Add any teardown code you need</a:t>
            </a:r>
            <a:endParaRPr sz="2600">
              <a:latin typeface="Ubuntu Mono"/>
              <a:cs typeface="Ubuntu Mono"/>
            </a:endParaRPr>
          </a:p>
        </p:txBody>
      </p:sp>
      <p:sp>
        <p:nvSpPr>
          <p:cNvPr id="978111167" name="Text 7"/>
          <p:cNvSpPr/>
          <p:nvPr/>
        </p:nvSpPr>
        <p:spPr bwMode="auto">
          <a:xfrm rot="0" flipH="0" flipV="0">
            <a:off x="449080" y="4509794"/>
            <a:ext cx="11300958" cy="176892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179"/>
                </a:lnTo>
                <a:lnTo>
                  <a:pt x="43200" y="43200"/>
                </a:lnTo>
                <a:lnTo>
                  <a:pt x="31" y="4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5999"/>
            </a:schemeClr>
          </a:solidFill>
          <a:ln w="6350">
            <a:noFill/>
            <a:prstDash val="solid"/>
          </a:ln>
        </p:spPr>
        <p:txBody>
          <a:bodyPr vertOverflow="overflow" horzOverflow="overflow" vert="horz" wrap="square" lIns="91440" tIns="182880" rIns="91440" bIns="182880" numCol="1" spcCol="0" rtlCol="0" fromWordArt="0" anchor="t" anchorCtr="0" forceAA="0" upright="0" compatLnSpc="0"/>
          <a:lstStyle/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Define a function.</a:t>
            </a:r>
            <a:endParaRPr sz="1600" b="0" i="0" u="none" strike="noStrike" cap="none" spc="0">
              <a:solidFill>
                <a:schemeClr val="tx1"/>
              </a:solidFill>
              <a:latin typeface="Roboto"/>
              <a:cs typeface="Roboto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(optional) Add any set up code your context needs.</a:t>
            </a:r>
            <a:endParaRPr sz="1600" b="0" i="0" u="none" strike="noStrike" cap="none" spc="0">
              <a:solidFill>
                <a:schemeClr val="tx1"/>
              </a:solidFill>
              <a:latin typeface="Roboto"/>
              <a:cs typeface="Roboto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Use the "yield" keyword.</a:t>
            </a:r>
            <a:endParaRPr sz="1600" b="0" i="0" u="none" strike="noStrike" cap="none" spc="0">
              <a:solidFill>
                <a:schemeClr val="tx1"/>
              </a:solidFill>
              <a:latin typeface="Roboto"/>
              <a:cs typeface="Roboto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(optional) Add any teardown code your context needs.</a:t>
            </a:r>
            <a:endParaRPr sz="1600" b="0" i="0" u="none" strike="noStrike" cap="none" spc="0">
              <a:solidFill>
                <a:schemeClr val="tx1"/>
              </a:solidFill>
              <a:latin typeface="Roboto"/>
              <a:cs typeface="Roboto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Add the `@contextlib.contextmanager` decorator.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3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2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11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7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641712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3781126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693557574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Same Timer, as a Generator</a:t>
            </a:r>
            <a:endParaRPr lang="en-US" sz="2700"/>
          </a:p>
        </p:txBody>
      </p:sp>
      <p:sp>
        <p:nvSpPr>
          <p:cNvPr id="1084994562" name="Shape 7"/>
          <p:cNvSpPr/>
          <p:nvPr/>
        </p:nvSpPr>
        <p:spPr bwMode="auto">
          <a:xfrm>
            <a:off x="457200" y="1600200"/>
            <a:ext cx="11292840" cy="4160518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0979501" name="Text 8"/>
          <p:cNvSpPr/>
          <p:nvPr/>
        </p:nvSpPr>
        <p:spPr bwMode="auto">
          <a:xfrm>
            <a:off x="658368" y="1728216"/>
            <a:ext cx="10890504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contextlib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contextmanager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time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@contextmanager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timer():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start = time.perf_counter()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try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yield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finally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elapsed = time.perf_counter() - start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    print(f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"Elapsed: {elapsed:.4f}s"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timer():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heavy_computation()</a:t>
            </a:r>
            <a:endParaRPr lang="en-US" sz="1500"/>
          </a:p>
        </p:txBody>
      </p:sp>
      <p:sp>
        <p:nvSpPr>
          <p:cNvPr id="1818929889" name="Shape 9"/>
          <p:cNvSpPr/>
          <p:nvPr/>
        </p:nvSpPr>
        <p:spPr bwMode="auto">
          <a:xfrm>
            <a:off x="457200" y="5897880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2D2D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0751195" name="Text 10"/>
          <p:cNvSpPr/>
          <p:nvPr/>
        </p:nvSpPr>
        <p:spPr bwMode="auto">
          <a:xfrm>
            <a:off x="658368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C9CBE0"/>
                </a:solidFill>
                <a:latin typeface="Calibri"/>
                <a:ea typeface="Calibri"/>
                <a:cs typeface="Calibri"/>
              </a:rPr>
              <a:t>The try/finally around yield guarantees cleanup runs even if the block raises.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9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97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92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5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8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876780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5618417" name="Text 1"/>
          <p:cNvSpPr/>
          <p:nvPr/>
        </p:nvSpPr>
        <p:spPr bwMode="auto">
          <a:xfrm>
            <a:off x="457198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892264310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Managing a Mock Database Connection</a:t>
            </a:r>
            <a:endParaRPr lang="en-US" sz="2700"/>
          </a:p>
        </p:txBody>
      </p:sp>
      <p:sp>
        <p:nvSpPr>
          <p:cNvPr id="1470556362" name="Shape 7"/>
          <p:cNvSpPr/>
          <p:nvPr/>
        </p:nvSpPr>
        <p:spPr bwMode="auto">
          <a:xfrm>
            <a:off x="457200" y="1600200"/>
            <a:ext cx="11292840" cy="461772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1976135" name="Text 8"/>
          <p:cNvSpPr/>
          <p:nvPr/>
        </p:nvSpPr>
        <p:spPr bwMode="auto">
          <a:xfrm>
            <a:off x="658368" y="1728216"/>
            <a:ext cx="10890504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from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contextlib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contextmanager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@contextmanager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db_connection(name):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print(f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"Opening connection to {name}"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conn = {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"name"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: name, 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"open"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: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True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}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try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yield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conn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finally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conn[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"open"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] =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False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print(f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"Closing connection to {name}"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with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db_connection(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"analytics_db"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as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conn: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print(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"Running query..."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conn)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connection is automatically closed here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9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828495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7434030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219484307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Combining Multiple Context Managers</a:t>
            </a:r>
            <a:endParaRPr lang="en-US" sz="2700"/>
          </a:p>
        </p:txBody>
      </p:sp>
      <p:sp>
        <p:nvSpPr>
          <p:cNvPr id="47119193" name="Shape 7"/>
          <p:cNvSpPr/>
          <p:nvPr/>
        </p:nvSpPr>
        <p:spPr bwMode="auto">
          <a:xfrm flipH="0" flipV="0">
            <a:off x="457200" y="1600200"/>
            <a:ext cx="11292840" cy="2676330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5661308" name="Text 8"/>
          <p:cNvSpPr/>
          <p:nvPr/>
        </p:nvSpPr>
        <p:spPr bwMode="auto">
          <a:xfrm flipH="0" flipV="0">
            <a:off x="658368" y="1728214"/>
            <a:ext cx="10890504" cy="235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with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open(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"input.txt"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as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fin, open(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"output.txt"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"w"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as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fout: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line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fin:</a:t>
            </a:r>
            <a:endParaRPr sz="1600">
              <a:solidFill>
                <a:srgbClr val="D4D4D4"/>
              </a:solidFill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	# changes , instruction , operations ... </a:t>
            </a:r>
            <a:endParaRPr sz="1600">
              <a:solidFill>
                <a:schemeClr val="accent6"/>
              </a:solidFill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fout.write(line.upper())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2004577987" name="Shape 9"/>
          <p:cNvSpPr/>
          <p:nvPr/>
        </p:nvSpPr>
        <p:spPr bwMode="auto">
          <a:xfrm>
            <a:off x="466344" y="4556603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2D2D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09035651" name="Text 10"/>
          <p:cNvSpPr/>
          <p:nvPr/>
        </p:nvSpPr>
        <p:spPr bwMode="auto">
          <a:xfrm>
            <a:off x="667512" y="4556603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C9CBE0"/>
                </a:solidFill>
                <a:latin typeface="Calibri"/>
                <a:ea typeface="Calibri"/>
                <a:cs typeface="Calibri"/>
              </a:rPr>
              <a:t>Both files are guaranteed to close, even if writing fails halfway through.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0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593893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B7ADFC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43077655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97112220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File Locks Without Leaks</a:t>
            </a:r>
            <a:endParaRPr lang="en-US" sz="2700"/>
          </a:p>
        </p:txBody>
      </p:sp>
      <p:sp>
        <p:nvSpPr>
          <p:cNvPr id="1841955851" name="Shape 7"/>
          <p:cNvSpPr/>
          <p:nvPr/>
        </p:nvSpPr>
        <p:spPr bwMode="auto">
          <a:xfrm flipH="0" flipV="0">
            <a:off x="457200" y="1553996"/>
            <a:ext cx="9789023" cy="3750002"/>
          </a:xfrm>
          <a:prstGeom prst="roundRect">
            <a:avLst>
              <a:gd name="adj" fmla="val 2139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9190410" name="Text 8"/>
          <p:cNvSpPr/>
          <p:nvPr/>
        </p:nvSpPr>
        <p:spPr bwMode="auto">
          <a:xfrm flipH="0" flipV="0">
            <a:off x="658366" y="1645920"/>
            <a:ext cx="9237957" cy="345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fcntl  </a:t>
            </a:r>
            <a:r>
              <a:rPr lang="en-US" sz="14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Unix-style example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4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contextmanager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file_lock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"a"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"[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os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getpid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] Waiting to acquire lock..."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fcntl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flock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fcntl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LOCK_EX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Process halts here if locked</a:t>
            </a:r>
            <a:endParaRPr sz="14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"[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os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getpid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] Lock ACQUIRED!"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try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yield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finally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"[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os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getpid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] Releasing lock..."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fcntl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flock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fcntl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LOCK_UN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close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</a:t>
            </a:r>
            <a:endParaRPr sz="1400">
              <a:latin typeface="Ubuntu Mono"/>
              <a:cs typeface="Ubuntu Mono"/>
            </a:endParaRPr>
          </a:p>
        </p:txBody>
      </p:sp>
      <p:sp>
        <p:nvSpPr>
          <p:cNvPr id="883456735" name="Text 9"/>
          <p:cNvSpPr/>
          <p:nvPr/>
        </p:nvSpPr>
        <p:spPr bwMode="auto">
          <a:xfrm>
            <a:off x="457200" y="5455639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Same pattern as the DB connection: acquire → yield → guaranteed release.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1">
    <p:bg>
      <p:bgPr shadeToTitle="0">
        <a:solidFill>
          <a:srgbClr val="EFFB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713710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9328002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EXERCISE</a:t>
            </a:r>
            <a:endParaRPr lang="en-US" sz="1100"/>
          </a:p>
        </p:txBody>
      </p:sp>
      <p:sp>
        <p:nvSpPr>
          <p:cNvPr id="455710688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Build Your Own Context Manager</a:t>
            </a:r>
            <a:endParaRPr lang="en-US" sz="2700"/>
          </a:p>
        </p:txBody>
      </p:sp>
      <p:sp>
        <p:nvSpPr>
          <p:cNvPr id="925995176" name="Shape 7"/>
          <p:cNvSpPr/>
          <p:nvPr/>
        </p:nvSpPr>
        <p:spPr bwMode="auto">
          <a:xfrm>
            <a:off x="457200" y="1691640"/>
            <a:ext cx="11292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D8F0E1"/>
            </a:solidFill>
            <a:prstDash val="solid"/>
          </a:ln>
        </p:spPr>
      </p:sp>
      <p:sp>
        <p:nvSpPr>
          <p:cNvPr id="1592731009" name="Text 8"/>
          <p:cNvSpPr/>
          <p:nvPr/>
        </p:nvSpPr>
        <p:spPr bwMode="auto">
          <a:xfrm>
            <a:off x="777240" y="201168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 i="1">
                <a:solidFill>
                  <a:srgbClr val="0F5132"/>
                </a:solidFill>
                <a:latin typeface="Calibri"/>
                <a:ea typeface="Calibri"/>
                <a:cs typeface="Calibri"/>
              </a:rPr>
              <a:t>Build a context manager :</a:t>
            </a:r>
            <a:endParaRPr lang="en-US" sz="1500"/>
          </a:p>
        </p:txBody>
      </p:sp>
      <p:sp>
        <p:nvSpPr>
          <p:cNvPr id="627006730" name="Text 9"/>
          <p:cNvSpPr/>
          <p:nvPr/>
        </p:nvSpPr>
        <p:spPr bwMode="auto">
          <a:xfrm flipH="0" flipV="0">
            <a:off x="777240" y="2606040"/>
            <a:ext cx="10652760" cy="301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799"/>
              </a:spcAft>
              <a:buNone/>
              <a:defRPr/>
            </a:pPr>
            <a:r>
              <a:rPr lang="en-US" sz="16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1. Write the generator version of database transaction context manager </a:t>
            </a:r>
            <a:endParaRPr lang="en-US" sz="160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spcAft>
                <a:spcPts val="799"/>
              </a:spcAft>
              <a:buNone/>
              <a:defRPr/>
            </a:pPr>
            <a:r>
              <a:rPr lang="en-US" sz="16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2. Write the generator version of working-directory-changing context manager</a:t>
            </a:r>
            <a:endParaRPr lang="en-US" sz="160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spcAft>
                <a:spcPts val="799"/>
              </a:spcAft>
              <a:buNone/>
              <a:defRPr/>
            </a:pPr>
            <a:endParaRPr lang="en-US" sz="1600"/>
          </a:p>
          <a:p>
            <a:pPr marL="0" indent="0">
              <a:lnSpc>
                <a:spcPct val="125000"/>
              </a:lnSpc>
              <a:spcAft>
                <a:spcPts val="799"/>
              </a:spcAft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2">
    <p:bg>
      <p:bgPr shadeToTitle="0">
        <a:solidFill>
          <a:srgbClr val="B7AD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526184" name="Text 0"/>
          <p:cNvSpPr/>
          <p:nvPr/>
        </p:nvSpPr>
        <p:spPr bwMode="auto">
          <a:xfrm>
            <a:off x="640080" y="594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 spc="1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SESSION 3 RECAP</a:t>
            </a:r>
            <a:endParaRPr lang="en-US" sz="1500"/>
          </a:p>
        </p:txBody>
      </p:sp>
      <p:sp>
        <p:nvSpPr>
          <p:cNvPr id="77990277" name="Text 1"/>
          <p:cNvSpPr/>
          <p:nvPr/>
        </p:nvSpPr>
        <p:spPr bwMode="auto"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Context Managers &amp; File I/O</a:t>
            </a:r>
            <a:endParaRPr lang="en-US" sz="3000"/>
          </a:p>
        </p:txBody>
      </p:sp>
      <p:sp>
        <p:nvSpPr>
          <p:cNvPr id="1230824398" name="Shape 2"/>
          <p:cNvSpPr/>
          <p:nvPr/>
        </p:nvSpPr>
        <p:spPr bwMode="auto">
          <a:xfrm>
            <a:off x="640080" y="21991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7086091" name="Text 3"/>
          <p:cNvSpPr/>
          <p:nvPr/>
        </p:nvSpPr>
        <p:spPr bwMode="auto">
          <a:xfrm>
            <a:off x="640080" y="21991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2144069184" name="Text 4"/>
          <p:cNvSpPr/>
          <p:nvPr/>
        </p:nvSpPr>
        <p:spPr bwMode="auto">
          <a:xfrm>
            <a:off x="1234440" y="200253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with guarantees cleanup via the __enter__/__exit__ protocol.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914246444" name="Shape 5"/>
          <p:cNvSpPr/>
          <p:nvPr/>
        </p:nvSpPr>
        <p:spPr bwMode="auto">
          <a:xfrm>
            <a:off x="640080" y="297637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8997283" name="Text 6"/>
          <p:cNvSpPr/>
          <p:nvPr/>
        </p:nvSpPr>
        <p:spPr bwMode="auto">
          <a:xfrm>
            <a:off x="640080" y="29763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923793030" name="Text 7"/>
          <p:cNvSpPr/>
          <p:nvPr/>
        </p:nvSpPr>
        <p:spPr bwMode="auto">
          <a:xfrm>
            <a:off x="1234440" y="2779775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__exit__ returning True suppresses exceptions — use with extreme care.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50828679" name="Shape 8"/>
          <p:cNvSpPr/>
          <p:nvPr/>
        </p:nvSpPr>
        <p:spPr bwMode="auto">
          <a:xfrm>
            <a:off x="640080" y="375361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2495635" name="Text 9"/>
          <p:cNvSpPr/>
          <p:nvPr/>
        </p:nvSpPr>
        <p:spPr bwMode="auto">
          <a:xfrm>
            <a:off x="640080" y="3753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74875413" name="Text 10"/>
          <p:cNvSpPr/>
          <p:nvPr/>
        </p:nvSpPr>
        <p:spPr bwMode="auto">
          <a:xfrm>
            <a:off x="1234440" y="355701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contextlib.contextmanager</a:t>
            </a:r>
            <a:r>
              <a:rPr lang="en-US" sz="16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turns a generator function into a context manager in a few lines.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554984192" name="Shape 11"/>
          <p:cNvSpPr/>
          <p:nvPr/>
        </p:nvSpPr>
        <p:spPr bwMode="auto">
          <a:xfrm>
            <a:off x="640080" y="45308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0426676" name="Text 12"/>
          <p:cNvSpPr/>
          <p:nvPr/>
        </p:nvSpPr>
        <p:spPr bwMode="auto">
          <a:xfrm>
            <a:off x="64008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1376695246" name="Text 13"/>
          <p:cNvSpPr/>
          <p:nvPr/>
        </p:nvSpPr>
        <p:spPr bwMode="auto">
          <a:xfrm>
            <a:off x="1234440" y="433425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Use this pattern for anything with a clear "open/close" or "start/stop" lifecycle.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563731902" name="Text 14"/>
          <p:cNvSpPr/>
          <p:nvPr/>
        </p:nvSpPr>
        <p:spPr bwMode="auto"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8D3F0"/>
                </a:solidFill>
                <a:latin typeface="Calibri"/>
                <a:ea typeface="Calibri"/>
                <a:cs typeface="Calibri"/>
              </a:rPr>
              <a:t>Advanced Python — Session 3 / 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ONLYOFFICE/10.0.0.169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2026-10-21T17:09:04Z</dcterms:modified>
</cp:coreProperties>
</file>