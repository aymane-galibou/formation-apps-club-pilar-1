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docProps/app.xml" ContentType="application/vnd.openxmlformats-officedocument.extended-properties+xml"/>
  <Override PartName="/ppt/slides/slide17.xml" ContentType="application/vnd.openxmlformats-officedocument.presentationml.slide+xml"/>
  <Override PartName="/ppt/notesSlides/notesSlide17.xml" ContentType="application/vnd.openxmlformats-officedocument.presentationml.notesSlide+xml"/>
  <Override PartName="/ppt/handoutMasters/handoutMaster1.xml" ContentType="application/vnd.openxmlformats-officedocument.presentationml.handoutMaster+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docProps/core.xml" ContentType="application/vnd.openxmlformats-package.core-properties+xml"/>
  <Override PartName="/ppt/slideLayouts/slideLayout8.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Override PartName="/ppt/theme/theme3.xml" ContentType="application/vnd.openxmlformats-officedocument.theme+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Layouts/slideLayout11.xml" ContentType="application/vnd.openxmlformats-officedocument.presentationml.slideLayout+xml"/>
  <Override PartName="/ppt/tableStyles.xml" ContentType="application/vnd.openxmlformats-officedocument.presentationml.tableStyles+xml"/>
  <Override PartName="/ppt/notesSlides/notesSlide4.xml" ContentType="application/vnd.openxmlformats-officedocument.presentationml.notes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6.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23"/>
  </p:notesMasterIdLst>
  <p:handoutMasterIdLst>
    <p:handoutMasterId r:id="rId24"/>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theme" Target="theme/theme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 /><Relationship Id="rId26" Type="http://schemas.openxmlformats.org/officeDocument/2006/relationships/tableStyles" Target="tableStyles.xml" /><Relationship Id="rId27" Type="http://schemas.openxmlformats.org/officeDocument/2006/relationships/viewProps" Target="viewProps.xml" /></Relationships>
</file>

<file path=ppt/handoutMasters/_rels/handoutMaster1.xml.rels><?xml version="1.0" encoding="UTF-8" standalone="yes"?><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721047134" name="Header Placeholder 1"/>
          <p:cNvSpPr>
            <a:spLocks noGrp="1"/>
          </p:cNvSpPr>
          <p:nvPr>
            <p:ph type="hdr" sz="quarter"/>
          </p:nvPr>
        </p:nvSpPr>
        <p:spPr bwMode="auto">
          <a:xfrm>
            <a:off x="0" y="0"/>
            <a:ext cx="2971800" cy="458786"/>
          </a:xfrm>
          <a:prstGeom prst="rect">
            <a:avLst/>
          </a:prstGeom>
        </p:spPr>
        <p:txBody>
          <a:bodyPr vert="horz" lIns="91440" tIns="45720" rIns="91440" bIns="45720" anchor="t"/>
          <a:lstStyle>
            <a:lvl1pPr algn="l">
              <a:defRPr sz="1200"/>
            </a:lvl1pPr>
          </a:lstStyle>
          <a:p>
            <a:pPr>
              <a:defRPr/>
            </a:pPr>
            <a:endParaRPr/>
          </a:p>
        </p:txBody>
      </p:sp>
      <p:sp>
        <p:nvSpPr>
          <p:cNvPr id="1111846701" name="Date Placeholder 2"/>
          <p:cNvSpPr>
            <a:spLocks noGrp="1"/>
          </p:cNvSpPr>
          <p:nvPr>
            <p:ph type="dt" idx="3"/>
          </p:nvPr>
        </p:nvSpPr>
        <p:spPr bwMode="auto">
          <a:xfrm>
            <a:off x="3886200" y="0"/>
            <a:ext cx="2971800" cy="458786"/>
          </a:xfrm>
          <a:prstGeom prst="rect">
            <a:avLst/>
          </a:prstGeom>
        </p:spPr>
        <p:txBody>
          <a:bodyPr vert="horz" lIns="91440" tIns="45720" rIns="91440" bIns="45720" anchor="t"/>
          <a:lstStyle>
            <a:lvl1pPr algn="r">
              <a:defRPr sz="1200"/>
            </a:lvl1pPr>
          </a:lstStyle>
          <a:p>
            <a:pPr>
              <a:defRPr/>
            </a:pPr>
            <a:fld id="{648AAD30-28DA-4942-677E-214339FBFD5B}" type="datetimeFigureOut">
              <a:rPr lang="en-US"/>
              <a:t/>
            </a:fld>
            <a:endParaRPr/>
          </a:p>
        </p:txBody>
      </p:sp>
      <p:sp>
        <p:nvSpPr>
          <p:cNvPr id="1076267117" name="Footer Placeholder 3"/>
          <p:cNvSpPr>
            <a:spLocks noGrp="1"/>
          </p:cNvSpPr>
          <p:nvPr>
            <p:ph type="ftr" sz="quarter" idx="2"/>
          </p:nvPr>
        </p:nvSpPr>
        <p:spPr bwMode="auto">
          <a:xfrm>
            <a:off x="0" y="8685213"/>
            <a:ext cx="2971800" cy="458786"/>
          </a:xfrm>
          <a:prstGeom prst="rect">
            <a:avLst/>
          </a:prstGeom>
        </p:spPr>
        <p:txBody>
          <a:bodyPr vert="horz" lIns="91440" tIns="45720" rIns="91440" bIns="45720" anchor="b"/>
          <a:lstStyle>
            <a:lvl1pPr algn="l">
              <a:defRPr sz="1200"/>
            </a:lvl1pPr>
          </a:lstStyle>
          <a:p>
            <a:pPr>
              <a:defRPr/>
            </a:pPr>
            <a:endParaRPr/>
          </a:p>
        </p:txBody>
      </p:sp>
      <p:sp>
        <p:nvSpPr>
          <p:cNvPr id="1860488931" name="Slide Number Placeholder 4"/>
          <p:cNvSpPr>
            <a:spLocks noGrp="1"/>
          </p:cNvSpPr>
          <p:nvPr>
            <p:ph type="sldNum" sz="quarter" idx="3"/>
          </p:nvPr>
        </p:nvSpPr>
        <p:spPr bwMode="auto">
          <a:xfrm>
            <a:off x="3886200" y="8685213"/>
            <a:ext cx="2971800" cy="458786"/>
          </a:xfrm>
          <a:prstGeom prst="rect">
            <a:avLst/>
          </a:prstGeom>
        </p:spPr>
        <p:txBody>
          <a:bodyPr vert="horz" lIns="91440" tIns="45720" rIns="91440" bIns="45720" anchor="b"/>
          <a:lstStyle>
            <a:lvl1pPr algn="r">
              <a:defRPr sz="1200"/>
            </a:lvl1pPr>
          </a:lstStyle>
          <a:p>
            <a:pPr>
              <a:defRPr/>
            </a:pPr>
            <a:fld id="{D428F474-3A2B-E4B8-3945-AFF6C9B67AC2}" type="slidenum">
              <a:rPr/>
              <a:t/>
            </a:fld>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912513461"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333492710"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1469505692"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758503984"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44377312"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263143944"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850800334" name="Slide Image Placeholder 1"/>
          <p:cNvSpPr>
            <a:spLocks noChangeAspect="1" noGrp="1" noRot="1"/>
          </p:cNvSpPr>
          <p:nvPr>
            <p:ph type="sldImg"/>
          </p:nvPr>
        </p:nvSpPr>
        <p:spPr bwMode="auto"/>
      </p:sp>
      <p:sp>
        <p:nvSpPr>
          <p:cNvPr id="556407926" name="Notes Placeholder 2"/>
          <p:cNvSpPr>
            <a:spLocks noGrp="1"/>
          </p:cNvSpPr>
          <p:nvPr>
            <p:ph type="body" idx="1"/>
          </p:nvPr>
        </p:nvSpPr>
        <p:spPr bwMode="auto"/>
        <p:txBody>
          <a:bodyPr/>
          <a:lstStyle/>
          <a:p>
            <a:pPr>
              <a:defRPr/>
            </a:pPr>
            <a:endParaRPr lang="en-US"/>
          </a:p>
        </p:txBody>
      </p:sp>
      <p:sp>
        <p:nvSpPr>
          <p:cNvPr id="520117191" name="Slide Number Placeholder 3"/>
          <p:cNvSpPr>
            <a:spLocks noGrp="1"/>
          </p:cNvSpPr>
          <p:nvPr>
            <p:ph type="sldNum" sz="quarter" idx="10"/>
          </p:nvPr>
        </p:nvSpPr>
        <p:spPr bwMode="auto"/>
        <p:txBody>
          <a:bodyPr/>
          <a:lstStyle/>
          <a:p>
            <a:pPr>
              <a:defRPr/>
            </a:pPr>
            <a:fld id="{EDAB3156-CEF0-05F4-846A-717D4EB30A77}"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104992292" name="Slide Image Placeholder 1"/>
          <p:cNvSpPr>
            <a:spLocks noChangeAspect="1" noGrp="1" noRot="1"/>
          </p:cNvSpPr>
          <p:nvPr>
            <p:ph type="sldImg"/>
          </p:nvPr>
        </p:nvSpPr>
        <p:spPr bwMode="auto"/>
      </p:sp>
      <p:sp>
        <p:nvSpPr>
          <p:cNvPr id="2138853223" name="Notes Placeholder 2"/>
          <p:cNvSpPr>
            <a:spLocks noGrp="1"/>
          </p:cNvSpPr>
          <p:nvPr>
            <p:ph type="body" idx="1"/>
          </p:nvPr>
        </p:nvSpPr>
        <p:spPr bwMode="auto"/>
        <p:txBody>
          <a:bodyPr/>
          <a:lstStyle/>
          <a:p>
            <a:pPr>
              <a:defRPr/>
            </a:pPr>
            <a:endParaRPr lang="en-US"/>
          </a:p>
        </p:txBody>
      </p:sp>
      <p:sp>
        <p:nvSpPr>
          <p:cNvPr id="781473912" name="Slide Number Placeholder 3"/>
          <p:cNvSpPr>
            <a:spLocks noGrp="1"/>
          </p:cNvSpPr>
          <p:nvPr>
            <p:ph type="sldNum" sz="quarter" idx="10"/>
          </p:nvPr>
        </p:nvSpPr>
        <p:spPr bwMode="auto"/>
        <p:txBody>
          <a:bodyPr/>
          <a:lstStyle/>
          <a:p>
            <a:pPr>
              <a:defRPr/>
            </a:pPr>
            <a:fld id="{BE6C0078-ACF5-46DA-45DF-4AAC1326C94E}"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758362870" name="Slide Image Placeholder 1"/>
          <p:cNvSpPr>
            <a:spLocks noChangeAspect="1" noGrp="1" noRot="1"/>
          </p:cNvSpPr>
          <p:nvPr>
            <p:ph type="sldImg"/>
          </p:nvPr>
        </p:nvSpPr>
        <p:spPr bwMode="auto"/>
      </p:sp>
      <p:sp>
        <p:nvSpPr>
          <p:cNvPr id="1537920946" name="Notes Placeholder 2"/>
          <p:cNvSpPr>
            <a:spLocks noGrp="1"/>
          </p:cNvSpPr>
          <p:nvPr>
            <p:ph type="body" idx="1"/>
          </p:nvPr>
        </p:nvSpPr>
        <p:spPr bwMode="auto"/>
        <p:txBody>
          <a:bodyPr/>
          <a:lstStyle/>
          <a:p>
            <a:pPr>
              <a:defRPr/>
            </a:pPr>
            <a:endParaRPr lang="en-US"/>
          </a:p>
        </p:txBody>
      </p:sp>
      <p:sp>
        <p:nvSpPr>
          <p:cNvPr id="518540342" name="Slide Number Placeholder 3"/>
          <p:cNvSpPr>
            <a:spLocks noGrp="1"/>
          </p:cNvSpPr>
          <p:nvPr>
            <p:ph type="sldNum" sz="quarter" idx="10"/>
          </p:nvPr>
        </p:nvSpPr>
        <p:spPr bwMode="auto"/>
        <p:txBody>
          <a:bodyPr/>
          <a:lstStyle/>
          <a:p>
            <a:pPr>
              <a:defRPr/>
            </a:pPr>
            <a:fld id="{242A8939-EFC4-9E3F-0886-919FDDDC2403}" type="slidenum">
              <a:rPr lang="en-US"/>
              <a:t>24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7749745" name="Slide Image Placeholder 1"/>
          <p:cNvSpPr>
            <a:spLocks noChangeAspect="1" noGrp="1" noRot="1"/>
          </p:cNvSpPr>
          <p:nvPr>
            <p:ph type="sldImg"/>
          </p:nvPr>
        </p:nvSpPr>
        <p:spPr bwMode="auto"/>
      </p:sp>
      <p:sp>
        <p:nvSpPr>
          <p:cNvPr id="482081428" name="Notes Placeholder 2"/>
          <p:cNvSpPr>
            <a:spLocks noGrp="1"/>
          </p:cNvSpPr>
          <p:nvPr>
            <p:ph type="body" idx="1"/>
          </p:nvPr>
        </p:nvSpPr>
        <p:spPr bwMode="auto"/>
        <p:txBody>
          <a:bodyPr/>
          <a:lstStyle/>
          <a:p>
            <a:pPr>
              <a:defRPr/>
            </a:pPr>
            <a:endParaRPr lang="en-US"/>
          </a:p>
        </p:txBody>
      </p:sp>
      <p:sp>
        <p:nvSpPr>
          <p:cNvPr id="2131006984" name="Slide Number Placeholder 3"/>
          <p:cNvSpPr>
            <a:spLocks noGrp="1"/>
          </p:cNvSpPr>
          <p:nvPr>
            <p:ph type="sldNum" sz="quarter" idx="10"/>
          </p:nvPr>
        </p:nvSpPr>
        <p:spPr bwMode="auto"/>
        <p:txBody>
          <a:bodyPr/>
          <a:lstStyle/>
          <a:p>
            <a:pPr>
              <a:defRPr/>
            </a:pPr>
            <a:fld id="{4894EF81-08B5-60AB-E8B7-5343C424D9F9}" type="slidenum">
              <a:rPr lang="en-US"/>
              <a:t>25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802354537" name="Slide Image Placeholder 1"/>
          <p:cNvSpPr>
            <a:spLocks noChangeAspect="1" noGrp="1" noRot="1"/>
          </p:cNvSpPr>
          <p:nvPr>
            <p:ph type="sldImg"/>
          </p:nvPr>
        </p:nvSpPr>
        <p:spPr bwMode="auto"/>
      </p:sp>
      <p:sp>
        <p:nvSpPr>
          <p:cNvPr id="1906484963" name="Notes Placeholder 2"/>
          <p:cNvSpPr>
            <a:spLocks noGrp="1"/>
          </p:cNvSpPr>
          <p:nvPr>
            <p:ph type="body" idx="1"/>
          </p:nvPr>
        </p:nvSpPr>
        <p:spPr bwMode="auto"/>
        <p:txBody>
          <a:bodyPr/>
          <a:lstStyle/>
          <a:p>
            <a:pPr>
              <a:defRPr/>
            </a:pPr>
            <a:endParaRPr lang="en-US"/>
          </a:p>
        </p:txBody>
      </p:sp>
      <p:sp>
        <p:nvSpPr>
          <p:cNvPr id="659277283" name="Slide Number Placeholder 3"/>
          <p:cNvSpPr>
            <a:spLocks noGrp="1"/>
          </p:cNvSpPr>
          <p:nvPr>
            <p:ph type="sldNum" sz="quarter" idx="10"/>
          </p:nvPr>
        </p:nvSpPr>
        <p:spPr bwMode="auto"/>
        <p:txBody>
          <a:bodyPr/>
          <a:lstStyle/>
          <a:p>
            <a:pPr>
              <a:defRPr/>
            </a:pPr>
            <a:fld id="{F90F8EC1-5788-B2BE-A52E-73A53C77896B}" type="slidenum">
              <a:rPr lang="en-US"/>
              <a:t>26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087206657" name="Slide Image Placeholder 1"/>
          <p:cNvSpPr>
            <a:spLocks noChangeAspect="1" noGrp="1" noRot="1"/>
          </p:cNvSpPr>
          <p:nvPr>
            <p:ph type="sldImg"/>
          </p:nvPr>
        </p:nvSpPr>
        <p:spPr bwMode="auto"/>
      </p:sp>
      <p:sp>
        <p:nvSpPr>
          <p:cNvPr id="325511829" name="Notes Placeholder 2"/>
          <p:cNvSpPr>
            <a:spLocks noGrp="1"/>
          </p:cNvSpPr>
          <p:nvPr>
            <p:ph type="body" idx="1"/>
          </p:nvPr>
        </p:nvSpPr>
        <p:spPr bwMode="auto"/>
        <p:txBody>
          <a:bodyPr/>
          <a:lstStyle/>
          <a:p>
            <a:pPr>
              <a:defRPr/>
            </a:pPr>
            <a:endParaRPr lang="en-US"/>
          </a:p>
        </p:txBody>
      </p:sp>
      <p:sp>
        <p:nvSpPr>
          <p:cNvPr id="1998935322" name="Slide Number Placeholder 3"/>
          <p:cNvSpPr>
            <a:spLocks noGrp="1"/>
          </p:cNvSpPr>
          <p:nvPr>
            <p:ph type="sldNum" sz="quarter" idx="10"/>
          </p:nvPr>
        </p:nvSpPr>
        <p:spPr bwMode="auto"/>
        <p:txBody>
          <a:bodyPr/>
          <a:lstStyle/>
          <a:p>
            <a:pPr>
              <a:defRPr/>
            </a:pPr>
            <a:fld id="{45B180C7-36A7-53DE-AF9E-41838F10723E}" type="slidenum">
              <a:rPr lang="en-US"/>
              <a:t>27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510994818" name="Slide Image Placeholder 1"/>
          <p:cNvSpPr>
            <a:spLocks noChangeAspect="1" noGrp="1" noRot="1"/>
          </p:cNvSpPr>
          <p:nvPr>
            <p:ph type="sldImg"/>
          </p:nvPr>
        </p:nvSpPr>
        <p:spPr bwMode="auto"/>
      </p:sp>
      <p:sp>
        <p:nvSpPr>
          <p:cNvPr id="1846757092" name="Notes Placeholder 2"/>
          <p:cNvSpPr>
            <a:spLocks noGrp="1"/>
          </p:cNvSpPr>
          <p:nvPr>
            <p:ph type="body" idx="1"/>
          </p:nvPr>
        </p:nvSpPr>
        <p:spPr bwMode="auto"/>
        <p:txBody>
          <a:bodyPr/>
          <a:lstStyle/>
          <a:p>
            <a:pPr>
              <a:defRPr/>
            </a:pPr>
            <a:endParaRPr lang="en-US"/>
          </a:p>
        </p:txBody>
      </p:sp>
      <p:sp>
        <p:nvSpPr>
          <p:cNvPr id="33738081" name="Slide Number Placeholder 3"/>
          <p:cNvSpPr>
            <a:spLocks noGrp="1"/>
          </p:cNvSpPr>
          <p:nvPr>
            <p:ph type="sldNum" sz="quarter" idx="10"/>
          </p:nvPr>
        </p:nvSpPr>
        <p:spPr bwMode="auto"/>
        <p:txBody>
          <a:bodyPr/>
          <a:lstStyle/>
          <a:p>
            <a:pPr>
              <a:defRPr/>
            </a:pPr>
            <a:fld id="{BDA39FD6-64BF-B0FA-CA33-E3A9E01648AE}" type="slidenum">
              <a:rPr lang="en-US"/>
              <a:t>28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633537762" name="Slide Image Placeholder 1"/>
          <p:cNvSpPr>
            <a:spLocks noChangeAspect="1" noGrp="1" noRot="1"/>
          </p:cNvSpPr>
          <p:nvPr>
            <p:ph type="sldImg"/>
          </p:nvPr>
        </p:nvSpPr>
        <p:spPr bwMode="auto"/>
      </p:sp>
      <p:sp>
        <p:nvSpPr>
          <p:cNvPr id="346410717" name="Notes Placeholder 2"/>
          <p:cNvSpPr>
            <a:spLocks noGrp="1"/>
          </p:cNvSpPr>
          <p:nvPr>
            <p:ph type="body" idx="1"/>
          </p:nvPr>
        </p:nvSpPr>
        <p:spPr bwMode="auto"/>
        <p:txBody>
          <a:bodyPr/>
          <a:lstStyle/>
          <a:p>
            <a:pPr>
              <a:defRPr/>
            </a:pPr>
            <a:endParaRPr lang="en-US"/>
          </a:p>
        </p:txBody>
      </p:sp>
      <p:sp>
        <p:nvSpPr>
          <p:cNvPr id="1020142135" name="Slide Number Placeholder 3"/>
          <p:cNvSpPr>
            <a:spLocks noGrp="1"/>
          </p:cNvSpPr>
          <p:nvPr>
            <p:ph type="sldNum" sz="quarter" idx="10"/>
          </p:nvPr>
        </p:nvSpPr>
        <p:spPr bwMode="auto"/>
        <p:txBody>
          <a:bodyPr/>
          <a:lstStyle/>
          <a:p>
            <a:pPr>
              <a:defRPr/>
            </a:pPr>
            <a:fld id="{8216A912-49FB-80DB-0710-4C1A4646D624}" type="slidenum">
              <a:rPr lang="en-US"/>
              <a:t>29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896571370" name="Slide Image Placeholder 1"/>
          <p:cNvSpPr>
            <a:spLocks noChangeAspect="1" noGrp="1" noRot="1"/>
          </p:cNvSpPr>
          <p:nvPr>
            <p:ph type="sldImg"/>
          </p:nvPr>
        </p:nvSpPr>
        <p:spPr bwMode="auto"/>
      </p:sp>
      <p:sp>
        <p:nvSpPr>
          <p:cNvPr id="1322424007" name="Notes Placeholder 2"/>
          <p:cNvSpPr>
            <a:spLocks noGrp="1"/>
          </p:cNvSpPr>
          <p:nvPr>
            <p:ph type="body" idx="1"/>
          </p:nvPr>
        </p:nvSpPr>
        <p:spPr bwMode="auto"/>
        <p:txBody>
          <a:bodyPr/>
          <a:lstStyle/>
          <a:p>
            <a:pPr>
              <a:defRPr/>
            </a:pPr>
            <a:endParaRPr lang="en-US"/>
          </a:p>
        </p:txBody>
      </p:sp>
      <p:sp>
        <p:nvSpPr>
          <p:cNvPr id="1567806728" name="Slide Number Placeholder 3"/>
          <p:cNvSpPr>
            <a:spLocks noGrp="1"/>
          </p:cNvSpPr>
          <p:nvPr>
            <p:ph type="sldNum" sz="quarter" idx="10"/>
          </p:nvPr>
        </p:nvSpPr>
        <p:spPr bwMode="auto"/>
        <p:txBody>
          <a:bodyPr/>
          <a:lstStyle/>
          <a:p>
            <a:pPr>
              <a:defRPr/>
            </a:pPr>
            <a:fld id="{993384D0-827C-0713-7529-3872B6212A59}" type="slidenum">
              <a:rPr lang="en-US"/>
              <a:t>30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551816507" name="Slide Image Placeholder 1"/>
          <p:cNvSpPr>
            <a:spLocks noChangeAspect="1" noGrp="1" noRot="1"/>
          </p:cNvSpPr>
          <p:nvPr>
            <p:ph type="sldImg"/>
          </p:nvPr>
        </p:nvSpPr>
        <p:spPr bwMode="auto"/>
      </p:sp>
      <p:sp>
        <p:nvSpPr>
          <p:cNvPr id="1967083337" name="Notes Placeholder 2"/>
          <p:cNvSpPr>
            <a:spLocks noGrp="1"/>
          </p:cNvSpPr>
          <p:nvPr>
            <p:ph type="body" idx="1"/>
          </p:nvPr>
        </p:nvSpPr>
        <p:spPr bwMode="auto"/>
        <p:txBody>
          <a:bodyPr/>
          <a:lstStyle/>
          <a:p>
            <a:pPr>
              <a:defRPr/>
            </a:pPr>
            <a:endParaRPr lang="en-US"/>
          </a:p>
        </p:txBody>
      </p:sp>
      <p:sp>
        <p:nvSpPr>
          <p:cNvPr id="754510001" name="Slide Number Placeholder 3"/>
          <p:cNvSpPr>
            <a:spLocks noGrp="1"/>
          </p:cNvSpPr>
          <p:nvPr>
            <p:ph type="sldNum" sz="quarter" idx="10"/>
          </p:nvPr>
        </p:nvSpPr>
        <p:spPr bwMode="auto"/>
        <p:txBody>
          <a:bodyPr/>
          <a:lstStyle/>
          <a:p>
            <a:pPr>
              <a:defRPr/>
            </a:pPr>
            <a:fld id="{8D569603-82E1-6250-0831-BF9196D44B71}" type="slidenum">
              <a:rPr lang="en-US"/>
              <a:t>31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006876144" name="Slide Image Placeholder 1"/>
          <p:cNvSpPr>
            <a:spLocks noChangeAspect="1" noGrp="1" noRot="1"/>
          </p:cNvSpPr>
          <p:nvPr>
            <p:ph type="sldImg"/>
          </p:nvPr>
        </p:nvSpPr>
        <p:spPr bwMode="auto"/>
      </p:sp>
      <p:sp>
        <p:nvSpPr>
          <p:cNvPr id="580390665" name="Notes Placeholder 2"/>
          <p:cNvSpPr>
            <a:spLocks noGrp="1"/>
          </p:cNvSpPr>
          <p:nvPr>
            <p:ph type="body" idx="1"/>
          </p:nvPr>
        </p:nvSpPr>
        <p:spPr bwMode="auto"/>
        <p:txBody>
          <a:bodyPr/>
          <a:lstStyle/>
          <a:p>
            <a:pPr>
              <a:defRPr/>
            </a:pPr>
            <a:endParaRPr lang="en-US"/>
          </a:p>
        </p:txBody>
      </p:sp>
      <p:sp>
        <p:nvSpPr>
          <p:cNvPr id="549760336" name="Slide Number Placeholder 3"/>
          <p:cNvSpPr>
            <a:spLocks noGrp="1"/>
          </p:cNvSpPr>
          <p:nvPr>
            <p:ph type="sldNum" sz="quarter" idx="10"/>
          </p:nvPr>
        </p:nvSpPr>
        <p:spPr bwMode="auto"/>
        <p:txBody>
          <a:bodyPr/>
          <a:lstStyle/>
          <a:p>
            <a:pPr>
              <a:defRPr/>
            </a:pPr>
            <a:fld id="{73E4223C-6A0B-FB29-99D2-8FA470BF71F1}" type="slidenum">
              <a:rPr lang="en-US"/>
              <a:t>32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938208599" name="Slide Image Placeholder 1"/>
          <p:cNvSpPr>
            <a:spLocks noChangeAspect="1" noGrp="1" noRot="1"/>
          </p:cNvSpPr>
          <p:nvPr>
            <p:ph type="sldImg"/>
          </p:nvPr>
        </p:nvSpPr>
        <p:spPr bwMode="auto"/>
      </p:sp>
      <p:sp>
        <p:nvSpPr>
          <p:cNvPr id="2091536168" name="Notes Placeholder 2"/>
          <p:cNvSpPr>
            <a:spLocks noGrp="1"/>
          </p:cNvSpPr>
          <p:nvPr>
            <p:ph type="body" idx="1"/>
          </p:nvPr>
        </p:nvSpPr>
        <p:spPr bwMode="auto"/>
        <p:txBody>
          <a:bodyPr/>
          <a:lstStyle/>
          <a:p>
            <a:pPr>
              <a:defRPr/>
            </a:pPr>
            <a:endParaRPr lang="en-US"/>
          </a:p>
        </p:txBody>
      </p:sp>
      <p:sp>
        <p:nvSpPr>
          <p:cNvPr id="210619507" name="Slide Number Placeholder 3"/>
          <p:cNvSpPr>
            <a:spLocks noGrp="1"/>
          </p:cNvSpPr>
          <p:nvPr>
            <p:ph type="sldNum" sz="quarter" idx="10"/>
          </p:nvPr>
        </p:nvSpPr>
        <p:spPr bwMode="auto"/>
        <p:txBody>
          <a:bodyPr/>
          <a:lstStyle/>
          <a:p>
            <a:pPr>
              <a:defRPr/>
            </a:pPr>
            <a:fld id="{757E4C34-CE02-0822-7588-F903FCC43088}" type="slidenum">
              <a:rPr lang="en-US"/>
              <a:t>33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508803146" name="Slide Image Placeholder 1"/>
          <p:cNvSpPr>
            <a:spLocks noChangeAspect="1" noGrp="1" noRot="1"/>
          </p:cNvSpPr>
          <p:nvPr>
            <p:ph type="sldImg"/>
          </p:nvPr>
        </p:nvSpPr>
        <p:spPr bwMode="auto"/>
      </p:sp>
      <p:sp>
        <p:nvSpPr>
          <p:cNvPr id="331399681" name="Notes Placeholder 2"/>
          <p:cNvSpPr>
            <a:spLocks noGrp="1"/>
          </p:cNvSpPr>
          <p:nvPr>
            <p:ph type="body" idx="1"/>
          </p:nvPr>
        </p:nvSpPr>
        <p:spPr bwMode="auto"/>
        <p:txBody>
          <a:bodyPr/>
          <a:lstStyle/>
          <a:p>
            <a:pPr>
              <a:defRPr/>
            </a:pPr>
            <a:endParaRPr lang="en-US"/>
          </a:p>
        </p:txBody>
      </p:sp>
      <p:sp>
        <p:nvSpPr>
          <p:cNvPr id="119700557" name="Slide Number Placeholder 3"/>
          <p:cNvSpPr>
            <a:spLocks noGrp="1"/>
          </p:cNvSpPr>
          <p:nvPr>
            <p:ph type="sldNum" sz="quarter" idx="10"/>
          </p:nvPr>
        </p:nvSpPr>
        <p:spPr bwMode="auto"/>
        <p:txBody>
          <a:bodyPr/>
          <a:lstStyle/>
          <a:p>
            <a:pPr>
              <a:defRPr/>
            </a:pPr>
            <a:fld id="{34CB9C2F-48D0-358A-565E-DFA507097D3E}" type="slidenum">
              <a:rPr lang="en-US"/>
              <a:t>34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80740702" name="Slide Image Placeholder 1"/>
          <p:cNvSpPr>
            <a:spLocks noChangeAspect="1" noGrp="1" noRot="1"/>
          </p:cNvSpPr>
          <p:nvPr>
            <p:ph type="sldImg"/>
          </p:nvPr>
        </p:nvSpPr>
        <p:spPr bwMode="auto"/>
      </p:sp>
      <p:sp>
        <p:nvSpPr>
          <p:cNvPr id="879033838" name="Notes Placeholder 2"/>
          <p:cNvSpPr>
            <a:spLocks noGrp="1"/>
          </p:cNvSpPr>
          <p:nvPr>
            <p:ph type="body" idx="1"/>
          </p:nvPr>
        </p:nvSpPr>
        <p:spPr bwMode="auto"/>
        <p:txBody>
          <a:bodyPr/>
          <a:lstStyle/>
          <a:p>
            <a:pPr>
              <a:defRPr/>
            </a:pPr>
            <a:endParaRPr lang="en-US"/>
          </a:p>
        </p:txBody>
      </p:sp>
      <p:sp>
        <p:nvSpPr>
          <p:cNvPr id="1701685621" name="Slide Number Placeholder 3"/>
          <p:cNvSpPr>
            <a:spLocks noGrp="1"/>
          </p:cNvSpPr>
          <p:nvPr>
            <p:ph type="sldNum" sz="quarter" idx="10"/>
          </p:nvPr>
        </p:nvSpPr>
        <p:spPr bwMode="auto"/>
        <p:txBody>
          <a:bodyPr/>
          <a:lstStyle/>
          <a:p>
            <a:pPr>
              <a:defRPr/>
            </a:pPr>
            <a:fld id="{64E24DBE-BDCC-7133-F374-91DE291CCF67}" type="slidenum">
              <a:rPr lang="en-US"/>
              <a:t>35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498499591" name="Slide Image Placeholder 1"/>
          <p:cNvSpPr>
            <a:spLocks noChangeAspect="1" noGrp="1" noRot="1"/>
          </p:cNvSpPr>
          <p:nvPr>
            <p:ph type="sldImg"/>
          </p:nvPr>
        </p:nvSpPr>
        <p:spPr bwMode="auto"/>
      </p:sp>
      <p:sp>
        <p:nvSpPr>
          <p:cNvPr id="944575971" name="Notes Placeholder 2"/>
          <p:cNvSpPr>
            <a:spLocks noGrp="1"/>
          </p:cNvSpPr>
          <p:nvPr>
            <p:ph type="body" idx="1"/>
          </p:nvPr>
        </p:nvSpPr>
        <p:spPr bwMode="auto"/>
        <p:txBody>
          <a:bodyPr/>
          <a:lstStyle/>
          <a:p>
            <a:pPr>
              <a:defRPr/>
            </a:pPr>
            <a:endParaRPr lang="en-US"/>
          </a:p>
        </p:txBody>
      </p:sp>
      <p:sp>
        <p:nvSpPr>
          <p:cNvPr id="1804777821" name="Slide Number Placeholder 3"/>
          <p:cNvSpPr>
            <a:spLocks noGrp="1"/>
          </p:cNvSpPr>
          <p:nvPr>
            <p:ph type="sldNum" sz="quarter" idx="10"/>
          </p:nvPr>
        </p:nvSpPr>
        <p:spPr bwMode="auto"/>
        <p:txBody>
          <a:bodyPr/>
          <a:lstStyle/>
          <a:p>
            <a:pPr>
              <a:defRPr/>
            </a:pPr>
            <a:fld id="{A667DF9F-518B-7D6D-8BDE-7B67D5139473}" type="slidenum">
              <a:rPr lang="en-US"/>
              <a:t>36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647413204" name="Slide Image Placeholder 1"/>
          <p:cNvSpPr>
            <a:spLocks noChangeAspect="1" noGrp="1" noRot="1"/>
          </p:cNvSpPr>
          <p:nvPr>
            <p:ph type="sldImg"/>
          </p:nvPr>
        </p:nvSpPr>
        <p:spPr bwMode="auto"/>
      </p:sp>
      <p:sp>
        <p:nvSpPr>
          <p:cNvPr id="1549680271" name="Notes Placeholder 2"/>
          <p:cNvSpPr>
            <a:spLocks noGrp="1"/>
          </p:cNvSpPr>
          <p:nvPr>
            <p:ph type="body" idx="1"/>
          </p:nvPr>
        </p:nvSpPr>
        <p:spPr bwMode="auto"/>
        <p:txBody>
          <a:bodyPr/>
          <a:lstStyle/>
          <a:p>
            <a:pPr>
              <a:defRPr/>
            </a:pPr>
            <a:endParaRPr lang="en-US"/>
          </a:p>
        </p:txBody>
      </p:sp>
      <p:sp>
        <p:nvSpPr>
          <p:cNvPr id="398536642" name="Slide Number Placeholder 3"/>
          <p:cNvSpPr>
            <a:spLocks noGrp="1"/>
          </p:cNvSpPr>
          <p:nvPr>
            <p:ph type="sldNum" sz="quarter" idx="10"/>
          </p:nvPr>
        </p:nvSpPr>
        <p:spPr bwMode="auto"/>
        <p:txBody>
          <a:bodyPr/>
          <a:lstStyle/>
          <a:p>
            <a:pPr>
              <a:defRPr/>
            </a:pPr>
            <a:fld id="{C9050443-CB30-FCBB-258B-ED8DF5817992}" type="slidenum">
              <a:rPr lang="en-US"/>
              <a:t>37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78744827" name="Slide Image Placeholder 1"/>
          <p:cNvSpPr>
            <a:spLocks noChangeAspect="1" noGrp="1" noRot="1"/>
          </p:cNvSpPr>
          <p:nvPr>
            <p:ph type="sldImg"/>
          </p:nvPr>
        </p:nvSpPr>
        <p:spPr bwMode="auto"/>
      </p:sp>
      <p:sp>
        <p:nvSpPr>
          <p:cNvPr id="139720221" name="Notes Placeholder 2"/>
          <p:cNvSpPr>
            <a:spLocks noGrp="1"/>
          </p:cNvSpPr>
          <p:nvPr>
            <p:ph type="body" idx="1"/>
          </p:nvPr>
        </p:nvSpPr>
        <p:spPr bwMode="auto"/>
        <p:txBody>
          <a:bodyPr/>
          <a:lstStyle/>
          <a:p>
            <a:pPr>
              <a:defRPr/>
            </a:pPr>
            <a:endParaRPr lang="en-US"/>
          </a:p>
        </p:txBody>
      </p:sp>
      <p:sp>
        <p:nvSpPr>
          <p:cNvPr id="624069562" name="Slide Number Placeholder 3"/>
          <p:cNvSpPr>
            <a:spLocks noGrp="1"/>
          </p:cNvSpPr>
          <p:nvPr>
            <p:ph type="sldNum" sz="quarter" idx="10"/>
          </p:nvPr>
        </p:nvSpPr>
        <p:spPr bwMode="auto"/>
        <p:txBody>
          <a:bodyPr/>
          <a:lstStyle/>
          <a:p>
            <a:pPr>
              <a:defRPr/>
            </a:pPr>
            <a:fld id="{C12CA914-DACD-A334-E9E9-F234DDA31798}" type="slidenum">
              <a:rPr lang="en-US"/>
              <a:t>38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825521535" name="Slide Image Placeholder 1"/>
          <p:cNvSpPr>
            <a:spLocks noChangeAspect="1" noGrp="1" noRot="1"/>
          </p:cNvSpPr>
          <p:nvPr>
            <p:ph type="sldImg"/>
          </p:nvPr>
        </p:nvSpPr>
        <p:spPr bwMode="auto"/>
      </p:sp>
      <p:sp>
        <p:nvSpPr>
          <p:cNvPr id="1938237843" name="Notes Placeholder 2"/>
          <p:cNvSpPr>
            <a:spLocks noGrp="1"/>
          </p:cNvSpPr>
          <p:nvPr>
            <p:ph type="body" idx="1"/>
          </p:nvPr>
        </p:nvSpPr>
        <p:spPr bwMode="auto"/>
        <p:txBody>
          <a:bodyPr/>
          <a:lstStyle/>
          <a:p>
            <a:pPr>
              <a:defRPr/>
            </a:pPr>
            <a:endParaRPr lang="en-US"/>
          </a:p>
        </p:txBody>
      </p:sp>
      <p:sp>
        <p:nvSpPr>
          <p:cNvPr id="13983606" name="Slide Number Placeholder 3"/>
          <p:cNvSpPr>
            <a:spLocks noGrp="1"/>
          </p:cNvSpPr>
          <p:nvPr>
            <p:ph type="sldNum" sz="quarter" idx="10"/>
          </p:nvPr>
        </p:nvSpPr>
        <p:spPr bwMode="auto"/>
        <p:txBody>
          <a:bodyPr/>
          <a:lstStyle/>
          <a:p>
            <a:pPr>
              <a:defRPr/>
            </a:pPr>
            <a:fld id="{DFAAA095-E5C6-8B34-812F-0AD0BB2D3804}" type="slidenum">
              <a:rPr lang="en-US"/>
              <a:t>70</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897520675"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131673693"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958344996"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477675642" name="Footer Placeholder 4"/>
          <p:cNvSpPr>
            <a:spLocks noGrp="1"/>
          </p:cNvSpPr>
          <p:nvPr>
            <p:ph type="ftr" sz="quarter" idx="11"/>
          </p:nvPr>
        </p:nvSpPr>
        <p:spPr bwMode="auto"/>
        <p:txBody>
          <a:bodyPr/>
          <a:lstStyle/>
          <a:p>
            <a:pPr>
              <a:defRPr/>
            </a:pPr>
            <a:endParaRPr lang="en-US"/>
          </a:p>
        </p:txBody>
      </p:sp>
      <p:sp>
        <p:nvSpPr>
          <p:cNvPr id="1763814510"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206632872" name="Title 1"/>
          <p:cNvSpPr>
            <a:spLocks noGrp="1"/>
          </p:cNvSpPr>
          <p:nvPr>
            <p:ph type="title"/>
          </p:nvPr>
        </p:nvSpPr>
        <p:spPr bwMode="auto"/>
        <p:txBody>
          <a:bodyPr/>
          <a:lstStyle/>
          <a:p>
            <a:pPr>
              <a:defRPr/>
            </a:pPr>
            <a:r>
              <a:rPr lang="en-US"/>
              <a:t>Click to edit Master title style</a:t>
            </a:r>
            <a:endParaRPr lang="en-US"/>
          </a:p>
        </p:txBody>
      </p:sp>
      <p:sp>
        <p:nvSpPr>
          <p:cNvPr id="91195027"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27218009"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335472133" name="Footer Placeholder 4"/>
          <p:cNvSpPr>
            <a:spLocks noGrp="1"/>
          </p:cNvSpPr>
          <p:nvPr>
            <p:ph type="ftr" sz="quarter" idx="11"/>
          </p:nvPr>
        </p:nvSpPr>
        <p:spPr bwMode="auto"/>
        <p:txBody>
          <a:bodyPr/>
          <a:lstStyle/>
          <a:p>
            <a:pPr>
              <a:defRPr/>
            </a:pPr>
            <a:endParaRPr lang="en-US"/>
          </a:p>
        </p:txBody>
      </p:sp>
      <p:sp>
        <p:nvSpPr>
          <p:cNvPr id="391897678"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785707920"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394578647"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929481771"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164440208" name="Footer Placeholder 4"/>
          <p:cNvSpPr>
            <a:spLocks noGrp="1"/>
          </p:cNvSpPr>
          <p:nvPr>
            <p:ph type="ftr" sz="quarter" idx="11"/>
          </p:nvPr>
        </p:nvSpPr>
        <p:spPr bwMode="auto"/>
        <p:txBody>
          <a:bodyPr/>
          <a:lstStyle/>
          <a:p>
            <a:pPr>
              <a:defRPr/>
            </a:pPr>
            <a:endParaRPr lang="en-US"/>
          </a:p>
        </p:txBody>
      </p:sp>
      <p:sp>
        <p:nvSpPr>
          <p:cNvPr id="35495609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969426341" name="Title 1"/>
          <p:cNvSpPr>
            <a:spLocks noGrp="1"/>
          </p:cNvSpPr>
          <p:nvPr>
            <p:ph type="title"/>
          </p:nvPr>
        </p:nvSpPr>
        <p:spPr bwMode="auto"/>
        <p:txBody>
          <a:bodyPr/>
          <a:lstStyle/>
          <a:p>
            <a:pPr>
              <a:defRPr/>
            </a:pPr>
            <a:r>
              <a:rPr lang="en-US"/>
              <a:t>Click to edit Master title style</a:t>
            </a:r>
            <a:endParaRPr lang="en-US"/>
          </a:p>
        </p:txBody>
      </p:sp>
      <p:sp>
        <p:nvSpPr>
          <p:cNvPr id="1083783458"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13773635"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8107047"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023629044" name="Footer Placeholder 5"/>
          <p:cNvSpPr>
            <a:spLocks noGrp="1"/>
          </p:cNvSpPr>
          <p:nvPr>
            <p:ph type="ftr" sz="quarter" idx="11"/>
          </p:nvPr>
        </p:nvSpPr>
        <p:spPr bwMode="auto"/>
        <p:txBody>
          <a:bodyPr/>
          <a:lstStyle/>
          <a:p>
            <a:pPr>
              <a:defRPr/>
            </a:pPr>
            <a:endParaRPr lang="en-US"/>
          </a:p>
        </p:txBody>
      </p:sp>
      <p:sp>
        <p:nvSpPr>
          <p:cNvPr id="36491214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222684870"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1277323710"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364886628"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24305088"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924283346"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56977870"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19322189" name="Footer Placeholder 7"/>
          <p:cNvSpPr>
            <a:spLocks noGrp="1"/>
          </p:cNvSpPr>
          <p:nvPr>
            <p:ph type="ftr" sz="quarter" idx="11"/>
          </p:nvPr>
        </p:nvSpPr>
        <p:spPr bwMode="auto"/>
        <p:txBody>
          <a:bodyPr/>
          <a:lstStyle/>
          <a:p>
            <a:pPr>
              <a:defRPr/>
            </a:pPr>
            <a:endParaRPr lang="en-US"/>
          </a:p>
        </p:txBody>
      </p:sp>
      <p:sp>
        <p:nvSpPr>
          <p:cNvPr id="464593840"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407760325" name="Title 1"/>
          <p:cNvSpPr>
            <a:spLocks noGrp="1"/>
          </p:cNvSpPr>
          <p:nvPr>
            <p:ph type="title"/>
          </p:nvPr>
        </p:nvSpPr>
        <p:spPr bwMode="auto"/>
        <p:txBody>
          <a:bodyPr/>
          <a:lstStyle/>
          <a:p>
            <a:pPr>
              <a:defRPr/>
            </a:pPr>
            <a:r>
              <a:rPr lang="en-US"/>
              <a:t>Click to edit Master title style</a:t>
            </a:r>
            <a:endParaRPr lang="en-US"/>
          </a:p>
        </p:txBody>
      </p:sp>
      <p:sp>
        <p:nvSpPr>
          <p:cNvPr id="542038352"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882348582" name="Footer Placeholder 3"/>
          <p:cNvSpPr>
            <a:spLocks noGrp="1"/>
          </p:cNvSpPr>
          <p:nvPr>
            <p:ph type="ftr" sz="quarter" idx="11"/>
          </p:nvPr>
        </p:nvSpPr>
        <p:spPr bwMode="auto"/>
        <p:txBody>
          <a:bodyPr/>
          <a:lstStyle/>
          <a:p>
            <a:pPr>
              <a:defRPr/>
            </a:pPr>
            <a:endParaRPr lang="en-US"/>
          </a:p>
        </p:txBody>
      </p:sp>
      <p:sp>
        <p:nvSpPr>
          <p:cNvPr id="337875964"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8932705"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309529030" name="Footer Placeholder 2"/>
          <p:cNvSpPr>
            <a:spLocks noGrp="1"/>
          </p:cNvSpPr>
          <p:nvPr>
            <p:ph type="ftr" sz="quarter" idx="11"/>
          </p:nvPr>
        </p:nvSpPr>
        <p:spPr bwMode="auto"/>
        <p:txBody>
          <a:bodyPr/>
          <a:lstStyle/>
          <a:p>
            <a:pPr>
              <a:defRPr/>
            </a:pPr>
            <a:endParaRPr lang="en-US"/>
          </a:p>
        </p:txBody>
      </p:sp>
      <p:sp>
        <p:nvSpPr>
          <p:cNvPr id="717160988"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2040128256"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535207695"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51717410"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201140171"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88159326" name="Footer Placeholder 5"/>
          <p:cNvSpPr>
            <a:spLocks noGrp="1"/>
          </p:cNvSpPr>
          <p:nvPr>
            <p:ph type="ftr" sz="quarter" idx="11"/>
          </p:nvPr>
        </p:nvSpPr>
        <p:spPr bwMode="auto"/>
        <p:txBody>
          <a:bodyPr/>
          <a:lstStyle/>
          <a:p>
            <a:pPr>
              <a:defRPr/>
            </a:pPr>
            <a:endParaRPr lang="en-US"/>
          </a:p>
        </p:txBody>
      </p:sp>
      <p:sp>
        <p:nvSpPr>
          <p:cNvPr id="156240042"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481027670"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242993189"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1706643542"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729943838"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339737294" name="Footer Placeholder 5"/>
          <p:cNvSpPr>
            <a:spLocks noGrp="1"/>
          </p:cNvSpPr>
          <p:nvPr>
            <p:ph type="ftr" sz="quarter" idx="11"/>
          </p:nvPr>
        </p:nvSpPr>
        <p:spPr bwMode="auto"/>
        <p:txBody>
          <a:bodyPr/>
          <a:lstStyle/>
          <a:p>
            <a:pPr>
              <a:defRPr/>
            </a:pPr>
            <a:endParaRPr lang="en-US"/>
          </a:p>
        </p:txBody>
      </p:sp>
      <p:sp>
        <p:nvSpPr>
          <p:cNvPr id="671798715"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742002739" name="Title 1"/>
          <p:cNvSpPr>
            <a:spLocks noGrp="1"/>
          </p:cNvSpPr>
          <p:nvPr>
            <p:ph type="title"/>
          </p:nvPr>
        </p:nvSpPr>
        <p:spPr bwMode="auto"/>
        <p:txBody>
          <a:bodyPr/>
          <a:lstStyle/>
          <a:p>
            <a:pPr>
              <a:defRPr/>
            </a:pPr>
            <a:r>
              <a:rPr lang="en-US"/>
              <a:t>Click to edit Master title style</a:t>
            </a:r>
            <a:endParaRPr lang="en-US"/>
          </a:p>
        </p:txBody>
      </p:sp>
      <p:sp>
        <p:nvSpPr>
          <p:cNvPr id="1630906647"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8296291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25168481" name="Footer Placeholder 4"/>
          <p:cNvSpPr>
            <a:spLocks noGrp="1"/>
          </p:cNvSpPr>
          <p:nvPr>
            <p:ph type="ftr" sz="quarter" idx="11"/>
          </p:nvPr>
        </p:nvSpPr>
        <p:spPr bwMode="auto"/>
        <p:txBody>
          <a:bodyPr/>
          <a:lstStyle/>
          <a:p>
            <a:pPr>
              <a:defRPr/>
            </a:pPr>
            <a:endParaRPr lang="en-US"/>
          </a:p>
        </p:txBody>
      </p:sp>
      <p:sp>
        <p:nvSpPr>
          <p:cNvPr id="1091548385"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128393353"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646754565"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3028381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159096140" name="Footer Placeholder 4"/>
          <p:cNvSpPr>
            <a:spLocks noGrp="1"/>
          </p:cNvSpPr>
          <p:nvPr>
            <p:ph type="ftr" sz="quarter" idx="11"/>
          </p:nvPr>
        </p:nvSpPr>
        <p:spPr bwMode="auto"/>
        <p:txBody>
          <a:bodyPr/>
          <a:lstStyle/>
          <a:p>
            <a:pPr>
              <a:defRPr/>
            </a:pPr>
            <a:endParaRPr lang="en-US"/>
          </a:p>
        </p:txBody>
      </p:sp>
      <p:sp>
        <p:nvSpPr>
          <p:cNvPr id="1006226882"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291405902"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995343222"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94079591"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1059659469"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958052036"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gradFill>
          <a:gsLst>
            <a:gs pos="0">
              <a:srgbClr val="14102B">
                <a:alpha val="99999"/>
              </a:srgbClr>
            </a:gs>
            <a:gs pos="28000">
              <a:srgbClr val="1A1630">
                <a:alpha val="99999"/>
              </a:srgbClr>
            </a:gs>
            <a:gs pos="52000">
              <a:srgbClr val="3C3950">
                <a:alpha val="99999"/>
              </a:srgbClr>
            </a:gs>
            <a:gs pos="91000">
              <a:srgbClr val="9998A3">
                <a:alpha val="99999"/>
              </a:srgbClr>
            </a:gs>
          </a:gsLst>
          <a:lin ang="2400000" scaled="1"/>
        </a:gradFill>
      </p:bgPr>
    </p:bg>
    <p:spTree>
      <p:nvGrpSpPr>
        <p:cNvPr id="1" name=""/>
        <p:cNvGrpSpPr/>
        <p:nvPr/>
      </p:nvGrpSpPr>
      <p:grpSpPr bwMode="auto">
        <a:xfrm>
          <a:off x="0" y="0"/>
          <a:ext cx="0" cy="0"/>
          <a:chOff x="0" y="0"/>
          <a:chExt cx="0" cy="0"/>
        </a:xfrm>
      </p:grpSpPr>
      <p:sp>
        <p:nvSpPr>
          <p:cNvPr id="1030743949" name="Shape 0"/>
          <p:cNvSpPr/>
          <p:nvPr/>
        </p:nvSpPr>
        <p:spPr bwMode="auto">
          <a:xfrm flipH="0" flipV="0">
            <a:off x="9614240" y="-1203267"/>
            <a:ext cx="3253808" cy="3053991"/>
          </a:xfrm>
          <a:prstGeom prst="ellipse">
            <a:avLst/>
          </a:prstGeom>
          <a:solidFill>
            <a:srgbClr val="1F1A44"/>
          </a:solidFill>
          <a:ln w="12700">
            <a:solidFill>
              <a:srgbClr val="000000"/>
            </a:solidFill>
            <a:prstDash val="solid"/>
          </a:ln>
        </p:spPr>
      </p:sp>
      <p:sp>
        <p:nvSpPr>
          <p:cNvPr id="1188129846" name="Shape 1"/>
          <p:cNvSpPr/>
          <p:nvPr/>
        </p:nvSpPr>
        <p:spPr bwMode="auto">
          <a:xfrm>
            <a:off x="-1828800" y="4846320"/>
            <a:ext cx="3840480" cy="3840480"/>
          </a:xfrm>
          <a:prstGeom prst="ellipse">
            <a:avLst/>
          </a:prstGeom>
          <a:solidFill>
            <a:srgbClr val="241C4D"/>
          </a:solidFill>
          <a:ln w="12700">
            <a:solidFill>
              <a:srgbClr val="000000"/>
            </a:solidFill>
            <a:prstDash val="solid"/>
          </a:ln>
        </p:spPr>
      </p:sp>
      <p:sp>
        <p:nvSpPr>
          <p:cNvPr id="1891178512" name="Text 2"/>
          <p:cNvSpPr/>
          <p:nvPr/>
        </p:nvSpPr>
        <p:spPr bwMode="auto">
          <a:xfrm>
            <a:off x="822960" y="1965960"/>
            <a:ext cx="10515600" cy="365760"/>
          </a:xfrm>
          <a:prstGeom prst="rect">
            <a:avLst/>
          </a:prstGeom>
          <a:noFill/>
          <a:ln/>
        </p:spPr>
        <p:txBody>
          <a:bodyPr wrap="square" lIns="0" tIns="0" rIns="0" bIns="0" rtlCol="0" anchor="ctr"/>
          <a:lstStyle/>
          <a:p>
            <a:pPr marL="0" indent="0">
              <a:buNone/>
              <a:defRPr/>
            </a:pPr>
            <a:r>
              <a:rPr lang="en-US" sz="1300" b="1" spc="299">
                <a:solidFill>
                  <a:srgbClr val="8B7CF0"/>
                </a:solidFill>
                <a:latin typeface="Calibri"/>
                <a:ea typeface="Calibri"/>
                <a:cs typeface="Calibri"/>
              </a:rPr>
              <a:t>ADVANCED PYTHON — FORMATION PROGRAM , PILLAR 1</a:t>
            </a:r>
            <a:endParaRPr lang="en-US" sz="1300"/>
          </a:p>
        </p:txBody>
      </p:sp>
      <p:sp>
        <p:nvSpPr>
          <p:cNvPr id="323933119" name="Text 3"/>
          <p:cNvSpPr/>
          <p:nvPr/>
        </p:nvSpPr>
        <p:spPr bwMode="auto">
          <a:xfrm>
            <a:off x="822960" y="2377440"/>
            <a:ext cx="10515600" cy="1188720"/>
          </a:xfrm>
          <a:prstGeom prst="rect">
            <a:avLst/>
          </a:prstGeom>
          <a:noFill/>
          <a:ln/>
        </p:spPr>
        <p:txBody>
          <a:bodyPr wrap="square" lIns="0" tIns="0" rIns="0" bIns="0" rtlCol="0" anchor="ctr"/>
          <a:lstStyle/>
          <a:p>
            <a:pPr marL="0" indent="0">
              <a:buNone/>
              <a:defRPr/>
            </a:pPr>
            <a:r>
              <a:rPr lang="en-US" sz="5600" b="1">
                <a:solidFill>
                  <a:srgbClr val="FFFFFF"/>
                </a:solidFill>
                <a:latin typeface="Cambria"/>
                <a:ea typeface="Cambria"/>
                <a:cs typeface="Cambria"/>
              </a:rPr>
              <a:t>Advanced Python</a:t>
            </a:r>
            <a:endParaRPr lang="en-US" sz="5600"/>
          </a:p>
        </p:txBody>
      </p:sp>
      <p:sp>
        <p:nvSpPr>
          <p:cNvPr id="1541772781" name="Text 4"/>
          <p:cNvSpPr/>
          <p:nvPr/>
        </p:nvSpPr>
        <p:spPr bwMode="auto">
          <a:xfrm flipH="0" flipV="0">
            <a:off x="822960" y="3611880"/>
            <a:ext cx="10515600" cy="640080"/>
          </a:xfrm>
          <a:prstGeom prst="rect">
            <a:avLst/>
          </a:prstGeom>
          <a:noFill/>
          <a:ln/>
        </p:spPr>
        <p:txBody>
          <a:bodyPr wrap="square" lIns="0" tIns="0" rIns="0" bIns="0" rtlCol="0" anchor="ctr"/>
          <a:lstStyle/>
          <a:p>
            <a:pPr marL="0" indent="0">
              <a:buNone/>
              <a:defRPr/>
            </a:pPr>
            <a:r>
              <a:rPr lang="en-US" sz="2400" i="1">
                <a:solidFill>
                  <a:srgbClr val="C9C3F0"/>
                </a:solidFill>
                <a:latin typeface="Cambria"/>
                <a:ea typeface="Cambria"/>
                <a:cs typeface="Cambria"/>
              </a:rPr>
              <a:t>From Scripts to Structured Code</a:t>
            </a:r>
            <a:endParaRPr lang="en-US" sz="2400"/>
          </a:p>
        </p:txBody>
      </p:sp>
      <p:sp>
        <p:nvSpPr>
          <p:cNvPr id="598511174" name="Text 5"/>
          <p:cNvSpPr/>
          <p:nvPr/>
        </p:nvSpPr>
        <p:spPr bwMode="auto">
          <a:xfrm flipH="0" flipV="0">
            <a:off x="45407" y="5989317"/>
            <a:ext cx="2131182" cy="365760"/>
          </a:xfrm>
          <a:prstGeom prst="rect">
            <a:avLst/>
          </a:prstGeom>
          <a:noFill/>
          <a:ln/>
        </p:spPr>
        <p:txBody>
          <a:bodyPr wrap="square" lIns="0" tIns="0" rIns="0" bIns="0" rtlCol="0" anchor="ctr"/>
          <a:lstStyle/>
          <a:p>
            <a:pPr marL="0" indent="0">
              <a:buNone/>
              <a:defRPr/>
            </a:pPr>
            <a:endParaRPr lang="en-US" sz="1400"/>
          </a:p>
        </p:txBody>
      </p:sp>
      <p:sp>
        <p:nvSpPr>
          <p:cNvPr id="1851983117" name="Text 3"/>
          <p:cNvSpPr/>
          <p:nvPr/>
        </p:nvSpPr>
        <p:spPr bwMode="auto">
          <a:xfrm flipH="0" flipV="0">
            <a:off x="6268537" y="5313316"/>
            <a:ext cx="5897638" cy="986788"/>
          </a:xfrm>
          <a:prstGeom prst="rect">
            <a:avLst/>
          </a:prstGeom>
          <a:noFill/>
          <a:ln/>
        </p:spPr>
        <p:txBody>
          <a:bodyPr wrap="square" lIns="0" tIns="0" rIns="0" bIns="0" rtlCol="0" anchor="ctr"/>
          <a:lstStyle/>
          <a:p>
            <a:pPr marL="0" indent="0">
              <a:buNone/>
              <a:defRPr/>
            </a:pPr>
            <a:r>
              <a:rPr lang="en-US" sz="3000" b="0" i="1" u="none" strike="noStrike" cap="none" spc="0">
                <a:solidFill>
                  <a:srgbClr val="C9C3F0"/>
                </a:solidFill>
                <a:latin typeface="Cambria"/>
                <a:ea typeface="Cambria"/>
                <a:cs typeface="Cambria"/>
              </a:rPr>
              <a:t>Animated by </a:t>
            </a:r>
            <a:r>
              <a:rPr lang="en-US" sz="3000" b="1">
                <a:solidFill>
                  <a:schemeClr val="bg1">
                    <a:lumMod val="65000"/>
                  </a:schemeClr>
                </a:solidFill>
                <a:latin typeface="Cambria"/>
                <a:ea typeface="Cambria"/>
                <a:cs typeface="Cambria"/>
              </a:rPr>
              <a:t>: </a:t>
            </a:r>
            <a:endParaRPr sz="3000" b="1">
              <a:solidFill>
                <a:schemeClr val="bg1">
                  <a:lumMod val="65000"/>
                </a:schemeClr>
              </a:solidFill>
              <a:latin typeface="Cambria"/>
              <a:ea typeface="Cambria"/>
              <a:cs typeface="Cambria"/>
            </a:endParaRPr>
          </a:p>
          <a:p>
            <a:pPr marL="0" indent="0">
              <a:buNone/>
              <a:defRPr/>
            </a:pPr>
            <a:r>
              <a:rPr lang="en-US" sz="3000" b="1">
                <a:solidFill>
                  <a:srgbClr val="FFFFFF"/>
                </a:solidFill>
                <a:latin typeface="Cambria"/>
                <a:ea typeface="Cambria"/>
                <a:cs typeface="Cambria"/>
              </a:rPr>
              <a:t>		AYMANE GALIBOU</a:t>
            </a:r>
            <a:endParaRPr sz="3000"/>
          </a:p>
        </p:txBody>
      </p:sp>
      <p:pic>
        <p:nvPicPr>
          <p:cNvPr id="1827615381" name=""/>
          <p:cNvPicPr>
            <a:picLocks noChangeAspect="1"/>
          </p:cNvPicPr>
          <p:nvPr/>
        </p:nvPicPr>
        <p:blipFill rotWithShape="1">
          <a:blip r:embed="rId3"/>
          <a:stretch/>
        </p:blipFill>
        <p:spPr bwMode="auto">
          <a:xfrm flipH="0" flipV="0">
            <a:off x="10040415" y="-142072"/>
            <a:ext cx="1689274" cy="1689274"/>
          </a:xfrm>
          <a:prstGeom prst="rect">
            <a:avLst/>
          </a:prstGeom>
        </p:spPr>
      </p:pic>
      <p:sp>
        <p:nvSpPr>
          <p:cNvPr id="258566761" name=""/>
          <p:cNvSpPr txBox="1"/>
          <p:nvPr/>
        </p:nvSpPr>
        <p:spPr bwMode="auto">
          <a:xfrm rot="0" flipH="0" flipV="0">
            <a:off x="91440" y="6172196"/>
            <a:ext cx="1735569" cy="366118"/>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indent="0" algn="l">
              <a:buNone/>
              <a:defRPr/>
            </a:pPr>
            <a:r>
              <a:rPr lang="en-US" b="1" spc="298">
                <a:solidFill>
                  <a:srgbClr val="8B7CF0"/>
                </a:solidFill>
                <a:latin typeface="Calibri"/>
                <a:ea typeface="Calibri"/>
                <a:cs typeface="Calibri"/>
              </a:rPr>
              <a:t>Data Cell</a:t>
            </a:r>
            <a:endParaRPr lang="en-US" sz="1300"/>
          </a:p>
        </p:txBody>
      </p:sp>
      <p:pic>
        <p:nvPicPr>
          <p:cNvPr id="1838338173" name=""/>
          <p:cNvPicPr>
            <a:picLocks noChangeAspect="1"/>
          </p:cNvPicPr>
          <p:nvPr/>
        </p:nvPicPr>
        <p:blipFill rotWithShape="1">
          <a:blip r:embed="rId4"/>
          <a:stretch/>
        </p:blipFill>
        <p:spPr bwMode="auto">
          <a:xfrm flipH="0" flipV="0">
            <a:off x="200917" y="5185359"/>
            <a:ext cx="986834" cy="98683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chemeClr val="bg1"/>
        </a:solidFill>
      </p:bgPr>
    </p:bg>
    <p:spTree>
      <p:nvGrpSpPr>
        <p:cNvPr id="1" name=""/>
        <p:cNvGrpSpPr/>
        <p:nvPr/>
      </p:nvGrpSpPr>
      <p:grpSpPr bwMode="auto">
        <a:xfrm>
          <a:off x="0" y="0"/>
          <a:ext cx="0" cy="0"/>
          <a:chOff x="0" y="0"/>
          <a:chExt cx="0" cy="0"/>
        </a:xfrm>
      </p:grpSpPr>
      <p:sp>
        <p:nvSpPr>
          <p:cNvPr id="1394057247" name=""/>
          <p:cNvSpPr/>
          <p:nvPr/>
        </p:nvSpPr>
        <p:spPr bwMode="auto">
          <a:xfrm rot="10800000" flipH="0" flipV="0">
            <a:off x="8623443" y="4649720"/>
            <a:ext cx="734536" cy="484629"/>
          </a:xfrm>
          <a:prstGeom prst="leftArrow">
            <a:avLst>
              <a:gd name="adj1" fmla="val 50000"/>
              <a:gd name="adj2" fmla="val 5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sp>
      <p:sp>
        <p:nvSpPr>
          <p:cNvPr id="696270202" name=""/>
          <p:cNvSpPr/>
          <p:nvPr/>
        </p:nvSpPr>
        <p:spPr bwMode="auto">
          <a:xfrm rot="10800000" flipH="0" flipV="0">
            <a:off x="2898366" y="4636005"/>
            <a:ext cx="734537" cy="484630"/>
          </a:xfrm>
          <a:prstGeom prst="leftArrow">
            <a:avLst>
              <a:gd name="adj1" fmla="val 50000"/>
              <a:gd name="adj2" fmla="val 5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sp>
      <p:sp>
        <p:nvSpPr>
          <p:cNvPr id="1557182269" name=""/>
          <p:cNvSpPr/>
          <p:nvPr/>
        </p:nvSpPr>
        <p:spPr bwMode="auto">
          <a:xfrm rot="10800000" flipH="0" flipV="0">
            <a:off x="5681813" y="4649722"/>
            <a:ext cx="734536" cy="484629"/>
          </a:xfrm>
          <a:prstGeom prst="leftArrow">
            <a:avLst>
              <a:gd name="adj1" fmla="val 50000"/>
              <a:gd name="adj2" fmla="val 50000"/>
            </a:avLst>
          </a:prstGeom>
          <a:solidFill>
            <a:srgbClr val="002060"/>
          </a:solidFill>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28141848" name=""/>
          <p:cNvSpPr/>
          <p:nvPr/>
        </p:nvSpPr>
        <p:spPr bwMode="auto">
          <a:xfrm rot="0" flipH="0" flipV="0">
            <a:off x="9357981" y="3985833"/>
            <a:ext cx="2254896" cy="1812407"/>
          </a:xfrm>
          <a:prstGeom prst="ellipse">
            <a:avLst/>
          </a:prstGeom>
          <a:solidFill>
            <a:srgbClr val="593CFF"/>
          </a:solidFill>
        </p:spPr>
        <p:style>
          <a:lnRef idx="2">
            <a:schemeClr val="accent1">
              <a:shade val="50000"/>
            </a:schemeClr>
          </a:lnRef>
          <a:fillRef idx="1">
            <a:schemeClr val="accent1"/>
          </a:fillRef>
          <a:effectRef idx="0">
            <a:schemeClr val="accent1"/>
          </a:effectRef>
          <a:fontRef idx="minor">
            <a:schemeClr val="lt1"/>
          </a:fontRef>
        </p:style>
      </p:sp>
      <p:sp>
        <p:nvSpPr>
          <p:cNvPr id="1600593579" name=""/>
          <p:cNvSpPr/>
          <p:nvPr/>
        </p:nvSpPr>
        <p:spPr bwMode="auto">
          <a:xfrm rot="0" flipH="0" flipV="0">
            <a:off x="6416350" y="3985833"/>
            <a:ext cx="2254896" cy="1812407"/>
          </a:xfrm>
          <a:prstGeom prst="ellipse">
            <a:avLst/>
          </a:prstGeom>
          <a:solidFill>
            <a:srgbClr val="593CFF"/>
          </a:solidFill>
        </p:spPr>
        <p:style>
          <a:lnRef idx="2">
            <a:schemeClr val="accent1">
              <a:shade val="50000"/>
            </a:schemeClr>
          </a:lnRef>
          <a:fillRef idx="1">
            <a:schemeClr val="accent1"/>
          </a:fillRef>
          <a:effectRef idx="0">
            <a:schemeClr val="accent1"/>
          </a:effectRef>
          <a:fontRef idx="minor">
            <a:schemeClr val="lt1"/>
          </a:fontRef>
        </p:style>
      </p:sp>
      <p:sp>
        <p:nvSpPr>
          <p:cNvPr id="656969824" name=""/>
          <p:cNvSpPr/>
          <p:nvPr/>
        </p:nvSpPr>
        <p:spPr bwMode="auto">
          <a:xfrm rot="0" flipH="0" flipV="0">
            <a:off x="3597261" y="3985833"/>
            <a:ext cx="2254896" cy="1812407"/>
          </a:xfrm>
          <a:prstGeom prst="ellipse">
            <a:avLst/>
          </a:prstGeom>
          <a:solidFill>
            <a:srgbClr val="593CFF"/>
          </a:solidFill>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a:p>
        </p:txBody>
      </p:sp>
      <p:sp>
        <p:nvSpPr>
          <p:cNvPr id="1476179501" name=""/>
          <p:cNvSpPr/>
          <p:nvPr/>
        </p:nvSpPr>
        <p:spPr bwMode="auto">
          <a:xfrm rot="0" flipH="0" flipV="0">
            <a:off x="643468" y="3985833"/>
            <a:ext cx="2254896" cy="1812408"/>
          </a:xfrm>
          <a:prstGeom prst="ellipse">
            <a:avLst/>
          </a:prstGeom>
          <a:solidFill>
            <a:srgbClr val="593CFF"/>
          </a:solidFill>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a:p>
        </p:txBody>
      </p:sp>
      <p:sp>
        <p:nvSpPr>
          <p:cNvPr id="1194159137" name="Shape 0"/>
          <p:cNvSpPr/>
          <p:nvPr/>
        </p:nvSpPr>
        <p:spPr bwMode="auto">
          <a:xfrm>
            <a:off x="457200" y="384048"/>
            <a:ext cx="1417320" cy="329184"/>
          </a:xfrm>
          <a:prstGeom prst="roundRect">
            <a:avLst>
              <a:gd name="adj" fmla="val 50000"/>
            </a:avLst>
          </a:prstGeom>
          <a:solidFill>
            <a:srgbClr val="7C3AED"/>
          </a:solidFill>
          <a:ln w="12700">
            <a:solidFill>
              <a:srgbClr val="000000"/>
            </a:solidFill>
            <a:prstDash val="solid"/>
          </a:ln>
        </p:spPr>
        <p:txBody>
          <a:bodyPr anchor="ctr"/>
          <a:p>
            <a:pPr algn="ctr">
              <a:defRPr/>
            </a:pPr>
            <a:endParaRPr>
              <a:latin typeface="Roboto"/>
              <a:cs typeface="Roboto"/>
            </a:endParaRPr>
          </a:p>
        </p:txBody>
      </p:sp>
      <p:sp>
        <p:nvSpPr>
          <p:cNvPr id="1335337804" name="Text 1"/>
          <p:cNvSpPr/>
          <p:nvPr/>
        </p:nvSpPr>
        <p:spPr bwMode="auto">
          <a:xfrm>
            <a:off x="457200" y="384048"/>
            <a:ext cx="1417320" cy="329184"/>
          </a:xfrm>
          <a:prstGeom prst="rect">
            <a:avLst/>
          </a:prstGeom>
          <a:noFill/>
          <a:ln/>
        </p:spPr>
        <p:txBody>
          <a:bodyPr wrap="square" lIns="0" tIns="0" rIns="0" bIns="0" rtlCol="0" anchor="ctr"/>
          <a:lstStyle/>
          <a:p>
            <a:pPr marL="0" indent="0" algn="ctr">
              <a:buNone/>
              <a:defRPr/>
            </a:pPr>
            <a:r>
              <a:rPr lang="en-US" sz="1100" b="1" spc="99">
                <a:solidFill>
                  <a:srgbClr val="FFFFFF"/>
                </a:solidFill>
                <a:latin typeface="Roboto"/>
                <a:ea typeface="Roboto"/>
                <a:cs typeface="Roboto"/>
              </a:rPr>
              <a:t>INTRO</a:t>
            </a:r>
            <a:endParaRPr sz="1100">
              <a:latin typeface="Roboto"/>
              <a:cs typeface="Roboto"/>
            </a:endParaRPr>
          </a:p>
        </p:txBody>
      </p:sp>
      <p:sp>
        <p:nvSpPr>
          <p:cNvPr id="2032198163" name="Text 2"/>
          <p:cNvSpPr/>
          <p:nvPr/>
        </p:nvSpPr>
        <p:spPr bwMode="auto">
          <a:xfrm>
            <a:off x="457200" y="804672"/>
            <a:ext cx="11292840" cy="658368"/>
          </a:xfrm>
          <a:prstGeom prst="rect">
            <a:avLst/>
          </a:prstGeom>
          <a:noFill/>
          <a:ln/>
        </p:spPr>
        <p:txBody>
          <a:bodyPr wrap="square" lIns="0" tIns="0" rIns="0" bIns="0" rtlCol="0" anchor="ctr"/>
          <a:lstStyle/>
          <a:p>
            <a:pPr marL="0" indent="0">
              <a:buNone/>
              <a:defRPr/>
            </a:pPr>
            <a:r>
              <a:rPr lang="en-US" sz="3000" b="1">
                <a:solidFill>
                  <a:srgbClr val="1A1A2E"/>
                </a:solidFill>
                <a:latin typeface="Roboto"/>
                <a:ea typeface="Roboto"/>
                <a:cs typeface="Roboto"/>
              </a:rPr>
              <a:t>Why This Pillar Exists</a:t>
            </a:r>
            <a:endParaRPr sz="3000">
              <a:latin typeface="Roboto"/>
              <a:cs typeface="Roboto"/>
            </a:endParaRPr>
          </a:p>
        </p:txBody>
      </p:sp>
      <p:sp>
        <p:nvSpPr>
          <p:cNvPr id="1729667680" name="Text 3"/>
          <p:cNvSpPr/>
          <p:nvPr/>
        </p:nvSpPr>
        <p:spPr bwMode="auto">
          <a:xfrm>
            <a:off x="457200" y="1645920"/>
            <a:ext cx="11292840" cy="1920240"/>
          </a:xfrm>
          <a:prstGeom prst="rect">
            <a:avLst/>
          </a:prstGeom>
          <a:noFill/>
          <a:ln/>
        </p:spPr>
        <p:txBody>
          <a:bodyPr wrap="square" lIns="0" tIns="0" rIns="0" bIns="0" rtlCol="0" anchor="t"/>
          <a:lstStyle/>
          <a:p>
            <a:pPr marL="228600" indent="-228600">
              <a:lnSpc>
                <a:spcPct val="120000"/>
              </a:lnSpc>
              <a:spcAft>
                <a:spcPts val="999"/>
              </a:spcAft>
              <a:buSzPct val="100000"/>
              <a:buChar char="●"/>
              <a:defRPr/>
            </a:pPr>
            <a:r>
              <a:rPr lang="en-US" sz="1600">
                <a:solidFill>
                  <a:srgbClr val="1A1A2E"/>
                </a:solidFill>
                <a:latin typeface="Roboto"/>
                <a:ea typeface="Roboto"/>
                <a:cs typeface="Roboto"/>
              </a:rPr>
              <a:t>Most students write Python as a sequence of instructions in one file.</a:t>
            </a:r>
            <a:endParaRPr sz="1600">
              <a:latin typeface="Roboto"/>
              <a:cs typeface="Roboto"/>
            </a:endParaRPr>
          </a:p>
          <a:p>
            <a:pPr marL="228600" indent="-228600">
              <a:lnSpc>
                <a:spcPct val="120000"/>
              </a:lnSpc>
              <a:spcAft>
                <a:spcPts val="999"/>
              </a:spcAft>
              <a:buSzPct val="100000"/>
              <a:buChar char="●"/>
              <a:defRPr/>
            </a:pPr>
            <a:r>
              <a:rPr lang="en-US" sz="1600">
                <a:solidFill>
                  <a:srgbClr val="1A1A2E"/>
                </a:solidFill>
                <a:latin typeface="Roboto"/>
                <a:ea typeface="Roboto"/>
                <a:cs typeface="Roboto"/>
              </a:rPr>
              <a:t>Real codebases (pandas, FastAPI, scikit-learn) are built on 4 ideas: scope &amp; closures, iteration, resource management, and object design.</a:t>
            </a:r>
            <a:endParaRPr sz="1600">
              <a:latin typeface="Roboto"/>
              <a:cs typeface="Roboto"/>
            </a:endParaRPr>
          </a:p>
          <a:p>
            <a:pPr marL="228600" indent="-228600">
              <a:lnSpc>
                <a:spcPct val="120000"/>
              </a:lnSpc>
              <a:spcAft>
                <a:spcPts val="999"/>
              </a:spcAft>
              <a:buSzPct val="100000"/>
              <a:buChar char="●"/>
              <a:defRPr/>
            </a:pPr>
            <a:r>
              <a:rPr lang="en-US" sz="1600">
                <a:solidFill>
                  <a:srgbClr val="1A1A2E"/>
                </a:solidFill>
                <a:latin typeface="Roboto"/>
                <a:ea typeface="Roboto"/>
                <a:cs typeface="Roboto"/>
              </a:rPr>
              <a:t>By the end of this pillar, you'll read library source code and no longer be confused by @decorator, yield, with, or self.</a:t>
            </a:r>
            <a:endParaRPr sz="1600">
              <a:latin typeface="Roboto"/>
              <a:cs typeface="Roboto"/>
            </a:endParaRPr>
          </a:p>
        </p:txBody>
      </p:sp>
      <p:sp>
        <p:nvSpPr>
          <p:cNvPr id="1265370319" name="Shape 5"/>
          <p:cNvSpPr/>
          <p:nvPr/>
        </p:nvSpPr>
        <p:spPr bwMode="auto">
          <a:xfrm>
            <a:off x="1508758" y="4251960"/>
            <a:ext cx="548640" cy="548640"/>
          </a:xfrm>
          <a:prstGeom prst="ellipse">
            <a:avLst/>
          </a:prstGeom>
          <a:solidFill>
            <a:srgbClr val="7C3AED"/>
          </a:solidFill>
          <a:ln w="12700">
            <a:solidFill>
              <a:srgbClr val="000000"/>
            </a:solidFill>
            <a:prstDash val="solid"/>
          </a:ln>
        </p:spPr>
        <p:txBody>
          <a:bodyPr anchor="ctr"/>
          <a:p>
            <a:pPr algn="ctr">
              <a:defRPr/>
            </a:pPr>
            <a:endParaRPr>
              <a:latin typeface="Roboto"/>
              <a:cs typeface="Roboto"/>
            </a:endParaRPr>
          </a:p>
        </p:txBody>
      </p:sp>
      <p:sp>
        <p:nvSpPr>
          <p:cNvPr id="881993103" name="Text 6"/>
          <p:cNvSpPr/>
          <p:nvPr/>
        </p:nvSpPr>
        <p:spPr bwMode="auto">
          <a:xfrm>
            <a:off x="1508758" y="4251960"/>
            <a:ext cx="548640" cy="548640"/>
          </a:xfrm>
          <a:prstGeom prst="rect">
            <a:avLst/>
          </a:prstGeom>
          <a:noFill/>
          <a:ln/>
        </p:spPr>
        <p:txBody>
          <a:bodyPr wrap="square" lIns="0" tIns="0" rIns="0" bIns="0" rtlCol="0" anchor="ctr"/>
          <a:lstStyle/>
          <a:p>
            <a:pPr marL="0" indent="0" algn="ctr">
              <a:buNone/>
              <a:defRPr/>
            </a:pPr>
            <a:r>
              <a:rPr lang="en-US" sz="2000" b="1">
                <a:solidFill>
                  <a:srgbClr val="FFFFFF"/>
                </a:solidFill>
                <a:latin typeface="Roboto"/>
                <a:ea typeface="Roboto"/>
                <a:cs typeface="Roboto"/>
              </a:rPr>
              <a:t>1</a:t>
            </a:r>
            <a:endParaRPr sz="2000">
              <a:latin typeface="Roboto"/>
              <a:cs typeface="Roboto"/>
            </a:endParaRPr>
          </a:p>
        </p:txBody>
      </p:sp>
      <p:sp>
        <p:nvSpPr>
          <p:cNvPr id="497661467" name="Text 7"/>
          <p:cNvSpPr/>
          <p:nvPr/>
        </p:nvSpPr>
        <p:spPr bwMode="auto">
          <a:xfrm>
            <a:off x="582197" y="4892037"/>
            <a:ext cx="2377440" cy="457200"/>
          </a:xfrm>
          <a:prstGeom prst="rect">
            <a:avLst/>
          </a:prstGeom>
          <a:noFill/>
          <a:ln/>
        </p:spPr>
        <p:txBody>
          <a:bodyPr wrap="square" lIns="0" tIns="0" rIns="0" bIns="0" rtlCol="0" anchor="ctr"/>
          <a:lstStyle/>
          <a:p>
            <a:pPr marL="0" indent="0" algn="ctr">
              <a:buNone/>
              <a:defRPr/>
            </a:pPr>
            <a:r>
              <a:rPr lang="en-US" sz="1350" b="1">
                <a:solidFill>
                  <a:schemeClr val="bg1"/>
                </a:solidFill>
                <a:latin typeface="Roboto"/>
                <a:ea typeface="Roboto"/>
                <a:cs typeface="Roboto"/>
              </a:rPr>
              <a:t>Scope &amp; Closures</a:t>
            </a:r>
            <a:endParaRPr sz="1350">
              <a:solidFill>
                <a:schemeClr val="bg1"/>
              </a:solidFill>
              <a:latin typeface="Roboto"/>
              <a:cs typeface="Roboto"/>
            </a:endParaRPr>
          </a:p>
        </p:txBody>
      </p:sp>
      <p:sp>
        <p:nvSpPr>
          <p:cNvPr id="1988412787" name="Text 8"/>
          <p:cNvSpPr/>
          <p:nvPr/>
        </p:nvSpPr>
        <p:spPr bwMode="auto">
          <a:xfrm>
            <a:off x="594360" y="5276088"/>
            <a:ext cx="2377440" cy="365760"/>
          </a:xfrm>
          <a:prstGeom prst="rect">
            <a:avLst/>
          </a:prstGeom>
          <a:noFill/>
          <a:ln/>
        </p:spPr>
        <p:txBody>
          <a:bodyPr wrap="square" lIns="0" tIns="0" rIns="0" bIns="0" rtlCol="0" anchor="ctr"/>
          <a:lstStyle/>
          <a:p>
            <a:pPr marL="0" indent="0" algn="ctr">
              <a:buNone/>
              <a:defRPr/>
            </a:pPr>
            <a:r>
              <a:rPr lang="en-US" sz="1200" i="1">
                <a:solidFill>
                  <a:schemeClr val="tx1"/>
                </a:solidFill>
                <a:latin typeface="Roboto"/>
                <a:ea typeface="Roboto"/>
                <a:cs typeface="Roboto"/>
              </a:rPr>
              <a:t>→ decorators</a:t>
            </a:r>
            <a:endParaRPr sz="1200">
              <a:solidFill>
                <a:schemeClr val="tx1"/>
              </a:solidFill>
              <a:latin typeface="Roboto"/>
              <a:cs typeface="Roboto"/>
            </a:endParaRPr>
          </a:p>
        </p:txBody>
      </p:sp>
      <p:sp>
        <p:nvSpPr>
          <p:cNvPr id="1469910916" name="Shape 10"/>
          <p:cNvSpPr/>
          <p:nvPr/>
        </p:nvSpPr>
        <p:spPr bwMode="auto">
          <a:xfrm>
            <a:off x="4389120" y="4251960"/>
            <a:ext cx="548640" cy="548640"/>
          </a:xfrm>
          <a:prstGeom prst="ellipse">
            <a:avLst/>
          </a:prstGeom>
          <a:solidFill>
            <a:srgbClr val="7D6CF7"/>
          </a:solidFill>
          <a:ln w="12700">
            <a:solidFill>
              <a:srgbClr val="000000"/>
            </a:solidFill>
            <a:prstDash val="solid"/>
          </a:ln>
        </p:spPr>
        <p:txBody>
          <a:bodyPr anchor="ctr"/>
          <a:p>
            <a:pPr algn="ctr">
              <a:defRPr/>
            </a:pPr>
            <a:endParaRPr>
              <a:latin typeface="Roboto"/>
              <a:cs typeface="Roboto"/>
            </a:endParaRPr>
          </a:p>
        </p:txBody>
      </p:sp>
      <p:sp>
        <p:nvSpPr>
          <p:cNvPr id="460619186" name="Text 11"/>
          <p:cNvSpPr/>
          <p:nvPr/>
        </p:nvSpPr>
        <p:spPr bwMode="auto">
          <a:xfrm flipH="0" flipV="0">
            <a:off x="4389118" y="4251958"/>
            <a:ext cx="548640" cy="548640"/>
          </a:xfrm>
          <a:prstGeom prst="rect">
            <a:avLst/>
          </a:prstGeom>
          <a:noFill/>
          <a:ln/>
        </p:spPr>
        <p:txBody>
          <a:bodyPr wrap="square" lIns="0" tIns="0" rIns="0" bIns="0" rtlCol="0" anchor="ctr"/>
          <a:lstStyle/>
          <a:p>
            <a:pPr marL="0" indent="0" algn="ctr">
              <a:buNone/>
              <a:defRPr/>
            </a:pPr>
            <a:r>
              <a:rPr lang="en-US" sz="2000" b="1">
                <a:solidFill>
                  <a:srgbClr val="FFFFFF"/>
                </a:solidFill>
                <a:latin typeface="Roboto"/>
                <a:ea typeface="Roboto"/>
                <a:cs typeface="Roboto"/>
              </a:rPr>
              <a:t>2</a:t>
            </a:r>
            <a:endParaRPr sz="2000">
              <a:latin typeface="Roboto"/>
              <a:cs typeface="Roboto"/>
            </a:endParaRPr>
          </a:p>
        </p:txBody>
      </p:sp>
      <p:sp>
        <p:nvSpPr>
          <p:cNvPr id="832838600" name="Text 12"/>
          <p:cNvSpPr/>
          <p:nvPr/>
        </p:nvSpPr>
        <p:spPr bwMode="auto">
          <a:xfrm>
            <a:off x="3474720" y="4892038"/>
            <a:ext cx="2377440" cy="457200"/>
          </a:xfrm>
          <a:prstGeom prst="rect">
            <a:avLst/>
          </a:prstGeom>
          <a:noFill/>
          <a:ln/>
        </p:spPr>
        <p:txBody>
          <a:bodyPr wrap="square" lIns="0" tIns="0" rIns="0" bIns="0" rtlCol="0" anchor="ctr"/>
          <a:lstStyle/>
          <a:p>
            <a:pPr marL="0" indent="0" algn="ctr">
              <a:buNone/>
              <a:defRPr/>
            </a:pPr>
            <a:r>
              <a:rPr lang="en-US" sz="1350" b="1">
                <a:solidFill>
                  <a:schemeClr val="bg1"/>
                </a:solidFill>
                <a:latin typeface="Roboto"/>
                <a:ea typeface="Roboto"/>
                <a:cs typeface="Roboto"/>
              </a:rPr>
              <a:t>Iteration</a:t>
            </a:r>
            <a:endParaRPr sz="1350">
              <a:solidFill>
                <a:schemeClr val="bg1"/>
              </a:solidFill>
              <a:latin typeface="Roboto"/>
              <a:cs typeface="Roboto"/>
            </a:endParaRPr>
          </a:p>
        </p:txBody>
      </p:sp>
      <p:sp>
        <p:nvSpPr>
          <p:cNvPr id="1729681873" name="Text 13"/>
          <p:cNvSpPr/>
          <p:nvPr/>
        </p:nvSpPr>
        <p:spPr bwMode="auto">
          <a:xfrm>
            <a:off x="3535990" y="5276088"/>
            <a:ext cx="2377440" cy="365760"/>
          </a:xfrm>
          <a:prstGeom prst="rect">
            <a:avLst/>
          </a:prstGeom>
          <a:noFill/>
          <a:ln/>
        </p:spPr>
        <p:txBody>
          <a:bodyPr wrap="square" lIns="0" tIns="0" rIns="0" bIns="0" rtlCol="0" anchor="ctr"/>
          <a:lstStyle/>
          <a:p>
            <a:pPr marL="0" indent="0" algn="ctr">
              <a:buNone/>
              <a:defRPr/>
            </a:pPr>
            <a:r>
              <a:rPr lang="en-US" sz="1200" i="1">
                <a:solidFill>
                  <a:schemeClr val="tx1"/>
                </a:solidFill>
                <a:latin typeface="Roboto"/>
                <a:ea typeface="Roboto"/>
                <a:cs typeface="Roboto"/>
              </a:rPr>
              <a:t>→ generators -</a:t>
            </a:r>
            <a:endParaRPr sz="1200" i="1">
              <a:solidFill>
                <a:schemeClr val="tx1"/>
              </a:solidFill>
              <a:latin typeface="Roboto"/>
              <a:ea typeface="Roboto"/>
              <a:cs typeface="Roboto"/>
            </a:endParaRPr>
          </a:p>
          <a:p>
            <a:pPr marL="0" indent="0" algn="ctr">
              <a:buNone/>
              <a:defRPr/>
            </a:pPr>
            <a:r>
              <a:rPr lang="en-US" sz="1200" i="1">
                <a:solidFill>
                  <a:schemeClr val="tx1"/>
                </a:solidFill>
                <a:latin typeface="Roboto"/>
                <a:ea typeface="Roboto"/>
                <a:cs typeface="Roboto"/>
              </a:rPr>
              <a:t> comprehensions</a:t>
            </a:r>
            <a:endParaRPr sz="1200">
              <a:solidFill>
                <a:schemeClr val="tx1"/>
              </a:solidFill>
              <a:latin typeface="Roboto"/>
              <a:cs typeface="Roboto"/>
            </a:endParaRPr>
          </a:p>
        </p:txBody>
      </p:sp>
      <p:sp>
        <p:nvSpPr>
          <p:cNvPr id="1515913762" name="Shape 15"/>
          <p:cNvSpPr/>
          <p:nvPr/>
        </p:nvSpPr>
        <p:spPr bwMode="auto">
          <a:xfrm>
            <a:off x="7269480" y="4251960"/>
            <a:ext cx="548640" cy="548640"/>
          </a:xfrm>
          <a:prstGeom prst="ellipse">
            <a:avLst/>
          </a:prstGeom>
          <a:solidFill>
            <a:srgbClr val="B7ADFC"/>
          </a:solidFill>
          <a:ln w="12700">
            <a:solidFill>
              <a:srgbClr val="000000"/>
            </a:solidFill>
            <a:prstDash val="solid"/>
          </a:ln>
        </p:spPr>
        <p:txBody>
          <a:bodyPr anchor="ctr"/>
          <a:p>
            <a:pPr algn="ctr">
              <a:defRPr/>
            </a:pPr>
            <a:endParaRPr>
              <a:latin typeface="Roboto"/>
              <a:cs typeface="Roboto"/>
            </a:endParaRPr>
          </a:p>
        </p:txBody>
      </p:sp>
      <p:sp>
        <p:nvSpPr>
          <p:cNvPr id="1955899380" name="Text 16"/>
          <p:cNvSpPr/>
          <p:nvPr/>
        </p:nvSpPr>
        <p:spPr bwMode="auto">
          <a:xfrm>
            <a:off x="7269480" y="4251958"/>
            <a:ext cx="548640" cy="548640"/>
          </a:xfrm>
          <a:prstGeom prst="rect">
            <a:avLst/>
          </a:prstGeom>
          <a:noFill/>
          <a:ln/>
        </p:spPr>
        <p:txBody>
          <a:bodyPr wrap="square" lIns="0" tIns="0" rIns="0" bIns="0" rtlCol="0" anchor="ctr"/>
          <a:lstStyle/>
          <a:p>
            <a:pPr marL="0" indent="0" algn="ctr">
              <a:buNone/>
              <a:defRPr/>
            </a:pPr>
            <a:r>
              <a:rPr lang="en-US" sz="2000" b="1">
                <a:solidFill>
                  <a:srgbClr val="FFFFFF"/>
                </a:solidFill>
                <a:latin typeface="Roboto"/>
                <a:ea typeface="Roboto"/>
                <a:cs typeface="Roboto"/>
              </a:rPr>
              <a:t>3</a:t>
            </a:r>
            <a:endParaRPr sz="2000">
              <a:latin typeface="Roboto"/>
              <a:cs typeface="Roboto"/>
            </a:endParaRPr>
          </a:p>
        </p:txBody>
      </p:sp>
      <p:sp>
        <p:nvSpPr>
          <p:cNvPr id="806536533" name="Text 17"/>
          <p:cNvSpPr/>
          <p:nvPr/>
        </p:nvSpPr>
        <p:spPr bwMode="auto">
          <a:xfrm>
            <a:off x="6355080" y="4892038"/>
            <a:ext cx="2377440" cy="457200"/>
          </a:xfrm>
          <a:prstGeom prst="rect">
            <a:avLst/>
          </a:prstGeom>
          <a:noFill/>
          <a:ln/>
        </p:spPr>
        <p:txBody>
          <a:bodyPr wrap="square" lIns="0" tIns="0" rIns="0" bIns="0" rtlCol="0" anchor="ctr"/>
          <a:lstStyle/>
          <a:p>
            <a:pPr marL="0" indent="0" algn="ctr">
              <a:buNone/>
              <a:defRPr/>
            </a:pPr>
            <a:r>
              <a:rPr lang="en-US" sz="1350" b="1">
                <a:solidFill>
                  <a:schemeClr val="bg1"/>
                </a:solidFill>
                <a:latin typeface="Roboto"/>
                <a:ea typeface="Roboto"/>
                <a:cs typeface="Roboto"/>
              </a:rPr>
              <a:t>Resource Lifecycles</a:t>
            </a:r>
            <a:endParaRPr sz="1350">
              <a:solidFill>
                <a:schemeClr val="bg1"/>
              </a:solidFill>
              <a:latin typeface="Roboto"/>
              <a:cs typeface="Roboto"/>
            </a:endParaRPr>
          </a:p>
        </p:txBody>
      </p:sp>
      <p:sp>
        <p:nvSpPr>
          <p:cNvPr id="221247667" name="Text 18"/>
          <p:cNvSpPr/>
          <p:nvPr/>
        </p:nvSpPr>
        <p:spPr bwMode="auto">
          <a:xfrm>
            <a:off x="6355080" y="5276088"/>
            <a:ext cx="2377440" cy="365760"/>
          </a:xfrm>
          <a:prstGeom prst="rect">
            <a:avLst/>
          </a:prstGeom>
          <a:noFill/>
          <a:ln/>
        </p:spPr>
        <p:txBody>
          <a:bodyPr wrap="square" lIns="0" tIns="0" rIns="0" bIns="0" rtlCol="0" anchor="ctr"/>
          <a:lstStyle/>
          <a:p>
            <a:pPr marL="0" indent="0" algn="ctr">
              <a:buNone/>
              <a:defRPr/>
            </a:pPr>
            <a:r>
              <a:rPr lang="en-US" sz="1200" i="1">
                <a:solidFill>
                  <a:schemeClr val="tx1"/>
                </a:solidFill>
                <a:latin typeface="Roboto"/>
                <a:ea typeface="Roboto"/>
                <a:cs typeface="Roboto"/>
              </a:rPr>
              <a:t>→ context managers</a:t>
            </a:r>
            <a:endParaRPr sz="1200">
              <a:solidFill>
                <a:schemeClr val="tx1"/>
              </a:solidFill>
              <a:latin typeface="Roboto"/>
              <a:cs typeface="Roboto"/>
            </a:endParaRPr>
          </a:p>
        </p:txBody>
      </p:sp>
      <p:sp>
        <p:nvSpPr>
          <p:cNvPr id="242332557" name="Shape 20"/>
          <p:cNvSpPr/>
          <p:nvPr/>
        </p:nvSpPr>
        <p:spPr bwMode="auto">
          <a:xfrm>
            <a:off x="10149840" y="4251960"/>
            <a:ext cx="548640" cy="548640"/>
          </a:xfrm>
          <a:prstGeom prst="ellipse">
            <a:avLst/>
          </a:prstGeom>
          <a:solidFill>
            <a:srgbClr val="6B21A8"/>
          </a:solidFill>
          <a:ln w="12700">
            <a:solidFill>
              <a:srgbClr val="000000"/>
            </a:solidFill>
            <a:prstDash val="solid"/>
          </a:ln>
        </p:spPr>
        <p:txBody>
          <a:bodyPr anchor="ctr"/>
          <a:p>
            <a:pPr algn="ctr">
              <a:defRPr/>
            </a:pPr>
            <a:endParaRPr>
              <a:latin typeface="Roboto"/>
              <a:cs typeface="Roboto"/>
            </a:endParaRPr>
          </a:p>
        </p:txBody>
      </p:sp>
      <p:sp>
        <p:nvSpPr>
          <p:cNvPr id="1001660382" name="Text 21"/>
          <p:cNvSpPr/>
          <p:nvPr/>
        </p:nvSpPr>
        <p:spPr bwMode="auto">
          <a:xfrm>
            <a:off x="10149840" y="4251960"/>
            <a:ext cx="548640" cy="548640"/>
          </a:xfrm>
          <a:prstGeom prst="rect">
            <a:avLst/>
          </a:prstGeom>
          <a:noFill/>
          <a:ln/>
        </p:spPr>
        <p:txBody>
          <a:bodyPr wrap="square" lIns="0" tIns="0" rIns="0" bIns="0" rtlCol="0" anchor="ctr"/>
          <a:lstStyle/>
          <a:p>
            <a:pPr marL="0" indent="0" algn="ctr">
              <a:buNone/>
              <a:defRPr/>
            </a:pPr>
            <a:r>
              <a:rPr lang="en-US" sz="2000" b="1">
                <a:solidFill>
                  <a:srgbClr val="FFFFFF"/>
                </a:solidFill>
                <a:latin typeface="Roboto"/>
                <a:ea typeface="Roboto"/>
                <a:cs typeface="Roboto"/>
              </a:rPr>
              <a:t>4</a:t>
            </a:r>
            <a:endParaRPr sz="2000">
              <a:latin typeface="Roboto"/>
              <a:cs typeface="Roboto"/>
            </a:endParaRPr>
          </a:p>
        </p:txBody>
      </p:sp>
      <p:sp>
        <p:nvSpPr>
          <p:cNvPr id="210834009" name="Text 22"/>
          <p:cNvSpPr/>
          <p:nvPr/>
        </p:nvSpPr>
        <p:spPr bwMode="auto">
          <a:xfrm>
            <a:off x="9235440" y="4892038"/>
            <a:ext cx="2377440" cy="457200"/>
          </a:xfrm>
          <a:prstGeom prst="rect">
            <a:avLst/>
          </a:prstGeom>
          <a:noFill/>
          <a:ln/>
        </p:spPr>
        <p:txBody>
          <a:bodyPr wrap="square" lIns="0" tIns="0" rIns="0" bIns="0" rtlCol="0" anchor="ctr"/>
          <a:lstStyle/>
          <a:p>
            <a:pPr marL="0" indent="0" algn="ctr">
              <a:buNone/>
              <a:defRPr/>
            </a:pPr>
            <a:r>
              <a:rPr lang="en-US" sz="1350" b="1">
                <a:solidFill>
                  <a:schemeClr val="bg1"/>
                </a:solidFill>
                <a:latin typeface="Roboto"/>
                <a:ea typeface="Roboto"/>
                <a:cs typeface="Roboto"/>
              </a:rPr>
              <a:t>Structure</a:t>
            </a:r>
            <a:endParaRPr sz="1350">
              <a:solidFill>
                <a:schemeClr val="bg1"/>
              </a:solidFill>
              <a:latin typeface="Roboto"/>
              <a:cs typeface="Roboto"/>
            </a:endParaRPr>
          </a:p>
        </p:txBody>
      </p:sp>
      <p:sp>
        <p:nvSpPr>
          <p:cNvPr id="113797862" name="Text 23"/>
          <p:cNvSpPr/>
          <p:nvPr/>
        </p:nvSpPr>
        <p:spPr bwMode="auto">
          <a:xfrm>
            <a:off x="9235440" y="5276088"/>
            <a:ext cx="2377440" cy="365760"/>
          </a:xfrm>
          <a:prstGeom prst="rect">
            <a:avLst/>
          </a:prstGeom>
          <a:noFill/>
          <a:ln/>
        </p:spPr>
        <p:txBody>
          <a:bodyPr wrap="square" lIns="0" tIns="0" rIns="0" bIns="0" rtlCol="0" anchor="ctr"/>
          <a:lstStyle/>
          <a:p>
            <a:pPr marL="0" indent="0" algn="ctr">
              <a:buNone/>
              <a:defRPr/>
            </a:pPr>
            <a:r>
              <a:rPr lang="en-US" sz="1200" i="1">
                <a:solidFill>
                  <a:schemeClr val="tx1"/>
                </a:solidFill>
                <a:latin typeface="Roboto"/>
                <a:ea typeface="Roboto"/>
                <a:cs typeface="Roboto"/>
              </a:rPr>
              <a:t>→ OOP</a:t>
            </a:r>
            <a:endParaRPr sz="1200">
              <a:solidFill>
                <a:schemeClr val="tx1"/>
              </a:solidFill>
              <a:latin typeface="Roboto"/>
              <a:cs typeface="Roboto"/>
            </a:endParaRPr>
          </a:p>
        </p:txBody>
      </p:sp>
      <p:sp>
        <p:nvSpPr>
          <p:cNvPr id="987011350" name="Text 24"/>
          <p:cNvSpPr/>
          <p:nvPr/>
        </p:nvSpPr>
        <p:spPr bwMode="auto">
          <a:xfrm>
            <a:off x="457200" y="6510528"/>
            <a:ext cx="5486400" cy="274320"/>
          </a:xfrm>
          <a:prstGeom prst="rect">
            <a:avLst/>
          </a:prstGeom>
          <a:noFill/>
          <a:ln/>
        </p:spPr>
        <p:txBody>
          <a:bodyPr wrap="square" lIns="0" tIns="0" rIns="0" bIns="0" rtlCol="0" anchor="ctr"/>
          <a:lstStyle/>
          <a:p>
            <a:pPr marL="0" indent="0" algn="l">
              <a:buNone/>
              <a:defRPr/>
            </a:pPr>
            <a:r>
              <a:rPr lang="en-US" sz="1000">
                <a:solidFill>
                  <a:srgbClr val="6B7280"/>
                </a:solidFill>
                <a:latin typeface="Roboto"/>
                <a:ea typeface="Roboto"/>
                <a:cs typeface="Roboto"/>
              </a:rPr>
              <a:t>Advanced Python — Introduction</a:t>
            </a:r>
            <a:endParaRPr sz="1000">
              <a:latin typeface="Roboto"/>
              <a:cs typeface="Roboto"/>
            </a:endParaRPr>
          </a:p>
        </p:txBody>
      </p:sp>
      <p:pic>
        <p:nvPicPr>
          <p:cNvPr id="1276329625" name=""/>
          <p:cNvPicPr>
            <a:picLocks noChangeAspect="1"/>
          </p:cNvPicPr>
          <p:nvPr/>
        </p:nvPicPr>
        <p:blipFill rotWithShape="1">
          <a:blip r:embed="rId3"/>
          <a:stretch/>
        </p:blipFill>
        <p:spPr bwMode="auto">
          <a:xfrm flipH="0" flipV="0">
            <a:off x="10289363" y="-39963"/>
            <a:ext cx="1689273" cy="168927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4">
    <p:bg>
      <p:bgPr shadeToTitle="0">
        <a:solidFill>
          <a:srgbClr val="7D6CF7"/>
        </a:solidFill>
      </p:bgPr>
    </p:bg>
    <p:spTree>
      <p:nvGrpSpPr>
        <p:cNvPr id="1" name=""/>
        <p:cNvGrpSpPr/>
        <p:nvPr/>
      </p:nvGrpSpPr>
      <p:grpSpPr bwMode="auto">
        <a:xfrm>
          <a:off x="0" y="0"/>
          <a:ext cx="0" cy="0"/>
          <a:chOff x="0" y="0"/>
          <a:chExt cx="0" cy="0"/>
        </a:xfrm>
      </p:grpSpPr>
      <p:sp>
        <p:nvSpPr>
          <p:cNvPr id="1555475981" name="Text 0"/>
          <p:cNvSpPr/>
          <p:nvPr/>
        </p:nvSpPr>
        <p:spPr bwMode="auto">
          <a:xfrm>
            <a:off x="822960" y="2331720"/>
            <a:ext cx="10515600" cy="457200"/>
          </a:xfrm>
          <a:prstGeom prst="rect">
            <a:avLst/>
          </a:prstGeom>
          <a:noFill/>
          <a:ln/>
        </p:spPr>
        <p:txBody>
          <a:bodyPr wrap="square" lIns="0" tIns="0" rIns="0" bIns="0" rtlCol="0" anchor="ctr"/>
          <a:lstStyle/>
          <a:p>
            <a:pPr marL="0" indent="0">
              <a:buNone/>
              <a:defRPr/>
            </a:pPr>
            <a:r>
              <a:rPr lang="en-US" sz="1600" b="1" spc="299">
                <a:solidFill>
                  <a:srgbClr val="E5E1F7"/>
                </a:solidFill>
                <a:latin typeface="Calibri"/>
                <a:ea typeface="Calibri"/>
                <a:cs typeface="Calibri"/>
              </a:rPr>
              <a:t>SESSION 4 / 4</a:t>
            </a:r>
            <a:endParaRPr lang="en-US" sz="1600"/>
          </a:p>
        </p:txBody>
      </p:sp>
      <p:sp>
        <p:nvSpPr>
          <p:cNvPr id="443070571" name="Text 1"/>
          <p:cNvSpPr/>
          <p:nvPr/>
        </p:nvSpPr>
        <p:spPr bwMode="auto">
          <a:xfrm>
            <a:off x="822960" y="2788920"/>
            <a:ext cx="10515600" cy="1463040"/>
          </a:xfrm>
          <a:prstGeom prst="rect">
            <a:avLst/>
          </a:prstGeom>
          <a:noFill/>
          <a:ln/>
        </p:spPr>
        <p:txBody>
          <a:bodyPr wrap="square" lIns="0" tIns="0" rIns="0" bIns="0" rtlCol="0" anchor="t"/>
          <a:lstStyle/>
          <a:p>
            <a:pPr marL="0" indent="0">
              <a:buNone/>
              <a:defRPr/>
            </a:pPr>
            <a:r>
              <a:rPr lang="en-US" sz="4200" b="1">
                <a:solidFill>
                  <a:srgbClr val="FFFFFF"/>
                </a:solidFill>
                <a:latin typeface="Cambria"/>
                <a:ea typeface="Cambria"/>
                <a:cs typeface="Cambria"/>
              </a:rPr>
              <a:t>Iterators, Generators &amp; Memory Management</a:t>
            </a:r>
            <a:endParaRPr lang="en-US" sz="4200"/>
          </a:p>
        </p:txBody>
      </p:sp>
      <p:sp>
        <p:nvSpPr>
          <p:cNvPr id="1111903422" name="Shape 2"/>
          <p:cNvSpPr/>
          <p:nvPr/>
        </p:nvSpPr>
        <p:spPr bwMode="auto">
          <a:xfrm>
            <a:off x="822960" y="4343400"/>
            <a:ext cx="2743200" cy="457200"/>
          </a:xfrm>
          <a:prstGeom prst="roundRect">
            <a:avLst>
              <a:gd name="adj" fmla="val 50000"/>
            </a:avLst>
          </a:prstGeom>
          <a:solidFill>
            <a:srgbClr val="2A2258"/>
          </a:solidFill>
          <a:ln w="12700">
            <a:solidFill>
              <a:srgbClr val="FFFFFF"/>
            </a:solidFill>
            <a:prstDash val="solid"/>
          </a:ln>
        </p:spPr>
      </p:sp>
      <p:sp>
        <p:nvSpPr>
          <p:cNvPr id="1682924217" name="Text 3"/>
          <p:cNvSpPr/>
          <p:nvPr/>
        </p:nvSpPr>
        <p:spPr bwMode="auto">
          <a:xfrm>
            <a:off x="822960" y="4343400"/>
            <a:ext cx="2743200" cy="457200"/>
          </a:xfrm>
          <a:prstGeom prst="rect">
            <a:avLst/>
          </a:prstGeom>
          <a:noFill/>
          <a:ln/>
        </p:spPr>
        <p:txBody>
          <a:bodyPr wrap="square" lIns="0" tIns="0" rIns="0" bIns="0" rtlCol="0" anchor="ctr"/>
          <a:lstStyle/>
          <a:p>
            <a:pPr marL="0" indent="0" algn="ctr">
              <a:buNone/>
              <a:defRPr/>
            </a:pPr>
            <a:r>
              <a:rPr lang="en-US" sz="1300">
                <a:solidFill>
                  <a:srgbClr val="FFFFFF"/>
                </a:solidFill>
                <a:latin typeface="Calibri"/>
                <a:ea typeface="Calibri"/>
                <a:cs typeface="Calibri"/>
              </a:rPr>
              <a:t>Duration: 2h</a:t>
            </a:r>
            <a:endParaRPr lang="en-US" sz="1300"/>
          </a:p>
        </p:txBody>
      </p:sp>
      <p:sp>
        <p:nvSpPr>
          <p:cNvPr id="1898803673" name="Shape 4"/>
          <p:cNvSpPr/>
          <p:nvPr/>
        </p:nvSpPr>
        <p:spPr bwMode="auto">
          <a:xfrm>
            <a:off x="822960" y="6172200"/>
            <a:ext cx="182880" cy="182880"/>
          </a:xfrm>
          <a:prstGeom prst="ellipse">
            <a:avLst/>
          </a:prstGeom>
          <a:solidFill>
            <a:srgbClr val="473F7A"/>
          </a:solidFill>
          <a:ln w="12700">
            <a:solidFill>
              <a:srgbClr val="000000"/>
            </a:solidFill>
            <a:prstDash val="solid"/>
          </a:ln>
        </p:spPr>
      </p:sp>
      <p:sp>
        <p:nvSpPr>
          <p:cNvPr id="2006684411" name="Shape 5"/>
          <p:cNvSpPr/>
          <p:nvPr/>
        </p:nvSpPr>
        <p:spPr bwMode="auto">
          <a:xfrm>
            <a:off x="1143000" y="6172200"/>
            <a:ext cx="182880" cy="182880"/>
          </a:xfrm>
          <a:prstGeom prst="ellipse">
            <a:avLst/>
          </a:prstGeom>
          <a:solidFill>
            <a:srgbClr val="FFFFFF"/>
          </a:solidFill>
          <a:ln w="12700">
            <a:solidFill>
              <a:srgbClr val="000000"/>
            </a:solidFill>
            <a:prstDash val="solid"/>
          </a:ln>
        </p:spPr>
      </p:sp>
      <p:sp>
        <p:nvSpPr>
          <p:cNvPr id="1737929171" name="Shape 6"/>
          <p:cNvSpPr/>
          <p:nvPr/>
        </p:nvSpPr>
        <p:spPr bwMode="auto">
          <a:xfrm>
            <a:off x="1463040" y="6172200"/>
            <a:ext cx="182880" cy="182880"/>
          </a:xfrm>
          <a:prstGeom prst="ellipse">
            <a:avLst/>
          </a:prstGeom>
          <a:solidFill>
            <a:srgbClr val="473F7A"/>
          </a:solidFill>
          <a:ln w="12700">
            <a:solidFill>
              <a:srgbClr val="000000"/>
            </a:solidFill>
            <a:prstDash val="solid"/>
          </a:ln>
        </p:spPr>
      </p:sp>
      <p:sp>
        <p:nvSpPr>
          <p:cNvPr id="1613195079" name="Shape 7"/>
          <p:cNvSpPr/>
          <p:nvPr/>
        </p:nvSpPr>
        <p:spPr bwMode="auto">
          <a:xfrm>
            <a:off x="1783080" y="6172200"/>
            <a:ext cx="182880" cy="182880"/>
          </a:xfrm>
          <a:prstGeom prst="ellipse">
            <a:avLst/>
          </a:prstGeom>
          <a:solidFill>
            <a:srgbClr val="473F7A"/>
          </a:solidFill>
          <a:ln w="12700">
            <a:solidFill>
              <a:srgbClr val="000000"/>
            </a:solidFill>
            <a:prstDash val="solid"/>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5">
    <p:bg>
      <p:bgPr shadeToTitle="0">
        <a:solidFill>
          <a:srgbClr val="F7F7FB"/>
        </a:solidFill>
      </p:bgPr>
    </p:bg>
    <p:spTree>
      <p:nvGrpSpPr>
        <p:cNvPr id="1" name=""/>
        <p:cNvGrpSpPr/>
        <p:nvPr/>
      </p:nvGrpSpPr>
      <p:grpSpPr bwMode="auto">
        <a:xfrm>
          <a:off x="0" y="0"/>
          <a:ext cx="0" cy="0"/>
          <a:chOff x="0" y="0"/>
          <a:chExt cx="0" cy="0"/>
        </a:xfrm>
      </p:grpSpPr>
      <p:sp>
        <p:nvSpPr>
          <p:cNvPr id="2067548031" name="Shape 0"/>
          <p:cNvSpPr/>
          <p:nvPr/>
        </p:nvSpPr>
        <p:spPr bwMode="auto">
          <a:xfrm>
            <a:off x="457200" y="384048"/>
            <a:ext cx="1417320" cy="329184"/>
          </a:xfrm>
          <a:prstGeom prst="roundRect">
            <a:avLst>
              <a:gd name="adj" fmla="val 50000"/>
            </a:avLst>
          </a:prstGeom>
          <a:solidFill>
            <a:srgbClr val="7D6CF7"/>
          </a:solidFill>
          <a:ln w="12700">
            <a:solidFill>
              <a:srgbClr val="000000"/>
            </a:solidFill>
            <a:prstDash val="solid"/>
          </a:ln>
        </p:spPr>
      </p:sp>
      <p:sp>
        <p:nvSpPr>
          <p:cNvPr id="546873228" name="Text 1"/>
          <p:cNvSpPr/>
          <p:nvPr/>
        </p:nvSpPr>
        <p:spPr bwMode="auto">
          <a:xfrm>
            <a:off x="457200" y="384048"/>
            <a:ext cx="1417320" cy="329184"/>
          </a:xfrm>
          <a:prstGeom prst="rect">
            <a:avLst/>
          </a:prstGeom>
          <a:noFill/>
          <a:ln/>
        </p:spPr>
        <p:txBody>
          <a:bodyPr wrap="square" lIns="0" tIns="0" rIns="0" bIns="0" rtlCol="0" anchor="ctr"/>
          <a:lstStyle/>
          <a:p>
            <a:pPr marL="0" indent="0" algn="ctr">
              <a:buNone/>
              <a:defRPr/>
            </a:pPr>
            <a:r>
              <a:rPr lang="en-US" sz="1100" b="1" spc="99">
                <a:solidFill>
                  <a:srgbClr val="FFFFFF"/>
                </a:solidFill>
                <a:latin typeface="Calibri"/>
                <a:ea typeface="Calibri"/>
                <a:cs typeface="Calibri"/>
              </a:rPr>
              <a:t>THEORY</a:t>
            </a:r>
            <a:endParaRPr lang="en-US" sz="1100"/>
          </a:p>
        </p:txBody>
      </p:sp>
      <p:sp>
        <p:nvSpPr>
          <p:cNvPr id="1888368546" name="Text 3"/>
          <p:cNvSpPr/>
          <p:nvPr/>
        </p:nvSpPr>
        <p:spPr bwMode="auto">
          <a:xfrm>
            <a:off x="457200" y="804672"/>
            <a:ext cx="11292840" cy="658368"/>
          </a:xfrm>
          <a:prstGeom prst="rect">
            <a:avLst/>
          </a:prstGeom>
          <a:noFill/>
          <a:ln/>
        </p:spPr>
        <p:txBody>
          <a:bodyPr wrap="square" lIns="0" tIns="0" rIns="0" bIns="0" rtlCol="0" anchor="t"/>
          <a:lstStyle/>
          <a:p>
            <a:pPr marL="0" indent="0" algn="l">
              <a:buNone/>
              <a:defRPr/>
            </a:pPr>
            <a:r>
              <a:rPr lang="en-US" sz="2700" b="1">
                <a:solidFill>
                  <a:srgbClr val="1A1A2E"/>
                </a:solidFill>
                <a:latin typeface="Cambria"/>
                <a:ea typeface="Cambria"/>
                <a:cs typeface="Cambria"/>
              </a:rPr>
              <a:t>What Makes Something "Iterable"?</a:t>
            </a:r>
            <a:endParaRPr lang="en-US" sz="2700"/>
          </a:p>
        </p:txBody>
      </p:sp>
      <p:sp>
        <p:nvSpPr>
          <p:cNvPr id="990755989" name="Text 7"/>
          <p:cNvSpPr/>
          <p:nvPr/>
        </p:nvSpPr>
        <p:spPr bwMode="auto">
          <a:xfrm flipH="0" flipV="0">
            <a:off x="457198" y="1645920"/>
            <a:ext cx="11688798" cy="1163953"/>
          </a:xfrm>
          <a:prstGeom prst="rect">
            <a:avLst/>
          </a:prstGeom>
          <a:noFill/>
          <a:ln/>
        </p:spPr>
        <p:txBody>
          <a:bodyPr wrap="square" lIns="0" tIns="0" rIns="0" bIns="0" rtlCol="0" anchor="t"/>
          <a:lstStyle/>
          <a:p>
            <a:pPr marL="228600" indent="-228600">
              <a:lnSpc>
                <a:spcPct val="114999"/>
              </a:lnSpc>
              <a:spcAft>
                <a:spcPts val="999"/>
              </a:spcAft>
              <a:buSzPct val="100000"/>
              <a:buChar char="●"/>
              <a:defRPr/>
            </a:pPr>
            <a:r>
              <a:rPr lang="en-US" sz="1600">
                <a:solidFill>
                  <a:srgbClr val="1A1A2E"/>
                </a:solidFill>
                <a:latin typeface="Calibri"/>
                <a:ea typeface="Calibri"/>
                <a:cs typeface="Calibri"/>
              </a:rPr>
              <a:t>An iterable is any object you can loop over with </a:t>
            </a:r>
            <a:r>
              <a:rPr lang="en-US" sz="1600" b="1">
                <a:solidFill>
                  <a:srgbClr val="1A1A2E"/>
                </a:solidFill>
                <a:latin typeface="Andika"/>
                <a:ea typeface="Andika"/>
                <a:cs typeface="Andika"/>
              </a:rPr>
              <a:t>for </a:t>
            </a:r>
            <a:r>
              <a:rPr lang="en-US" sz="1600" b="0">
                <a:solidFill>
                  <a:srgbClr val="1A1A2E"/>
                </a:solidFill>
                <a:latin typeface="Andika"/>
                <a:ea typeface="Andika"/>
                <a:cs typeface="Andika"/>
              </a:rPr>
              <a:t>or</a:t>
            </a:r>
            <a:r>
              <a:rPr lang="en-US" sz="1600" b="1">
                <a:solidFill>
                  <a:srgbClr val="1A1A2E"/>
                </a:solidFill>
                <a:latin typeface="Andika"/>
                <a:ea typeface="Andika"/>
                <a:cs typeface="Andika"/>
              </a:rPr>
              <a:t> indexing, </a:t>
            </a:r>
            <a:r>
              <a:rPr lang="en-US" sz="1600">
                <a:solidFill>
                  <a:srgbClr val="1A1A2E"/>
                </a:solidFill>
                <a:latin typeface="Calibri"/>
                <a:ea typeface="Calibri"/>
                <a:cs typeface="Calibri"/>
              </a:rPr>
              <a:t>it returns its members once at a time (lists, tuples, dicts, strings, files...)</a:t>
            </a:r>
            <a:endParaRPr lang="en-US" sz="1600">
              <a:solidFill>
                <a:srgbClr val="1A1A2E"/>
              </a:solidFill>
              <a:latin typeface="Calibri"/>
              <a:ea typeface="Calibri"/>
              <a:cs typeface="Calibri"/>
            </a:endParaRPr>
          </a:p>
          <a:p>
            <a:pPr marL="228600" indent="-228600">
              <a:lnSpc>
                <a:spcPct val="114999"/>
              </a:lnSpc>
              <a:spcAft>
                <a:spcPts val="998"/>
              </a:spcAft>
              <a:buSzPct val="100000"/>
              <a:buChar char="●"/>
              <a:defRPr/>
            </a:pPr>
            <a:r>
              <a:rPr lang="en-US" sz="1600">
                <a:solidFill>
                  <a:srgbClr val="1A1A2E"/>
                </a:solidFill>
                <a:latin typeface="Calibri"/>
                <a:ea typeface="Calibri"/>
                <a:cs typeface="Calibri"/>
              </a:rPr>
              <a:t>Analogy : </a:t>
            </a:r>
            <a:r>
              <a:rPr lang="en-US" sz="1600">
                <a:solidFill>
                  <a:srgbClr val="1A1A2E"/>
                </a:solidFill>
                <a:latin typeface="Calibri"/>
                <a:ea typeface="Calibri"/>
                <a:cs typeface="Calibri"/>
              </a:rPr>
              <a:t>a book full of pages </a:t>
            </a:r>
            <a:endParaRPr lang="en-US" sz="1600"/>
          </a:p>
          <a:p>
            <a:pPr marL="228600" indent="-228600">
              <a:lnSpc>
                <a:spcPct val="114999"/>
              </a:lnSpc>
              <a:spcAft>
                <a:spcPts val="998"/>
              </a:spcAft>
              <a:buSzPct val="100000"/>
              <a:buChar char="●"/>
              <a:defRPr/>
            </a:pPr>
            <a:r>
              <a:rPr lang="en-US" sz="1600"/>
              <a:t>What are the different approach to create a list ?</a:t>
            </a:r>
            <a:endParaRPr lang="en-US" sz="1600"/>
          </a:p>
        </p:txBody>
      </p:sp>
      <p:sp>
        <p:nvSpPr>
          <p:cNvPr id="523726854" name="Shape 8"/>
          <p:cNvSpPr/>
          <p:nvPr/>
        </p:nvSpPr>
        <p:spPr bwMode="auto">
          <a:xfrm flipH="0" flipV="0">
            <a:off x="510584" y="3072962"/>
            <a:ext cx="3011186" cy="2286000"/>
          </a:xfrm>
          <a:prstGeom prst="roundRect">
            <a:avLst>
              <a:gd name="adj" fmla="val 3200"/>
            </a:avLst>
          </a:prstGeom>
          <a:solidFill>
            <a:srgbClr val="241512"/>
          </a:solidFill>
          <a:ln w="12700">
            <a:solidFill>
              <a:srgbClr val="000000"/>
            </a:solidFill>
            <a:prstDash val="solid"/>
          </a:ln>
        </p:spPr>
      </p:sp>
      <p:sp>
        <p:nvSpPr>
          <p:cNvPr id="2072878145" name=""/>
          <p:cNvSpPr txBox="1"/>
          <p:nvPr/>
        </p:nvSpPr>
        <p:spPr bwMode="auto">
          <a:xfrm rot="0" flipH="0" flipV="0">
            <a:off x="539949" y="3072962"/>
            <a:ext cx="2916315" cy="22863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600" b="0" i="0" u="none">
                <a:solidFill>
                  <a:srgbClr val="C9D1D9"/>
                </a:solidFill>
                <a:latin typeface="Ubuntu Mono"/>
                <a:ea typeface="Ubuntu Mono"/>
                <a:cs typeface="Ubuntu Mono"/>
              </a:rPr>
              <a:t>my_list</a:t>
            </a:r>
            <a:r>
              <a:rPr sz="1600" b="0" i="0" u="none">
                <a:solidFill>
                  <a:srgbClr val="BBBEBF"/>
                </a:solidFill>
                <a:latin typeface="Ubuntu Mono"/>
                <a:ea typeface="Ubuntu Mono"/>
                <a:cs typeface="Ubuntu Mono"/>
              </a:rPr>
              <a:t> </a:t>
            </a:r>
            <a:r>
              <a:rPr sz="1600" b="0" i="0" u="none">
                <a:solidFill>
                  <a:srgbClr val="D4D4D4"/>
                </a:solidFill>
                <a:latin typeface="Ubuntu Mono"/>
                <a:ea typeface="Ubuntu Mono"/>
                <a:cs typeface="Ubuntu Mono"/>
              </a:rPr>
              <a:t>=</a:t>
            </a:r>
            <a:r>
              <a:rPr sz="1600" b="0" i="0" u="none">
                <a:solidFill>
                  <a:srgbClr val="BBBEBF"/>
                </a:solidFill>
                <a:latin typeface="Ubuntu Mono"/>
                <a:ea typeface="Ubuntu Mono"/>
                <a:cs typeface="Ubuntu Mono"/>
              </a:rPr>
              <a:t> [</a:t>
            </a:r>
            <a:r>
              <a:rPr sz="1600" b="0" i="0" u="none">
                <a:solidFill>
                  <a:srgbClr val="B5CEA8"/>
                </a:solidFill>
                <a:latin typeface="Ubuntu Mono"/>
                <a:ea typeface="Ubuntu Mono"/>
                <a:cs typeface="Ubuntu Mono"/>
              </a:rPr>
              <a:t>1</a:t>
            </a:r>
            <a:r>
              <a:rPr sz="1600" b="0" i="0" u="none">
                <a:solidFill>
                  <a:srgbClr val="BBBEBF"/>
                </a:solidFill>
                <a:latin typeface="Ubuntu Mono"/>
                <a:ea typeface="Ubuntu Mono"/>
                <a:cs typeface="Ubuntu Mono"/>
              </a:rPr>
              <a:t>,</a:t>
            </a:r>
            <a:r>
              <a:rPr sz="1600" b="0" i="0" u="none">
                <a:solidFill>
                  <a:srgbClr val="B5CEA8"/>
                </a:solidFill>
                <a:latin typeface="Ubuntu Mono"/>
                <a:ea typeface="Ubuntu Mono"/>
                <a:cs typeface="Ubuntu Mono"/>
              </a:rPr>
              <a:t>2</a:t>
            </a:r>
            <a:r>
              <a:rPr sz="1600" b="0" i="0" u="none">
                <a:solidFill>
                  <a:srgbClr val="BBBEBF"/>
                </a:solidFill>
                <a:latin typeface="Ubuntu Mono"/>
                <a:ea typeface="Ubuntu Mono"/>
                <a:cs typeface="Ubuntu Mono"/>
              </a:rPr>
              <a:t>,</a:t>
            </a:r>
            <a:r>
              <a:rPr sz="1600" b="0" i="0" u="none">
                <a:solidFill>
                  <a:srgbClr val="B5CEA8"/>
                </a:solidFill>
                <a:latin typeface="Ubuntu Mono"/>
                <a:ea typeface="Ubuntu Mono"/>
                <a:cs typeface="Ubuntu Mono"/>
              </a:rPr>
              <a:t>3</a:t>
            </a:r>
            <a:r>
              <a:rPr sz="1600" b="0" i="0" u="none">
                <a:solidFill>
                  <a:srgbClr val="BBBEBF"/>
                </a:solidFill>
                <a:latin typeface="Ubuntu Mono"/>
                <a:ea typeface="Ubuntu Mono"/>
                <a:cs typeface="Ubuntu Mono"/>
              </a:rPr>
              <a:t>,</a:t>
            </a:r>
            <a:r>
              <a:rPr sz="1600" b="0" i="0" u="none">
                <a:solidFill>
                  <a:srgbClr val="B5CEA8"/>
                </a:solidFill>
                <a:latin typeface="Ubuntu Mono"/>
                <a:ea typeface="Ubuntu Mono"/>
                <a:cs typeface="Ubuntu Mono"/>
              </a:rPr>
              <a:t>4</a:t>
            </a:r>
            <a:r>
              <a:rPr sz="1600" b="0" i="0" u="none">
                <a:solidFill>
                  <a:srgbClr val="BBBEBF"/>
                </a:solidFill>
                <a:latin typeface="Ubuntu Mono"/>
                <a:ea typeface="Ubuntu Mono"/>
                <a:cs typeface="Ubuntu Mono"/>
              </a:rPr>
              <a:t>]</a:t>
            </a:r>
            <a:br>
              <a:rPr sz="1600" b="0" i="0" u="none">
                <a:solidFill>
                  <a:srgbClr val="BBBEBF"/>
                </a:solidFill>
                <a:latin typeface="Ubuntu Mono"/>
                <a:ea typeface="Ubuntu Mono"/>
                <a:cs typeface="Ubuntu Mono"/>
              </a:rPr>
            </a:br>
            <a:endParaRPr sz="1600">
              <a:latin typeface="Ubuntu Mono"/>
              <a:cs typeface="Ubuntu Mono"/>
            </a:endParaRPr>
          </a:p>
          <a:p>
            <a:pPr>
              <a:defRPr/>
            </a:pPr>
            <a:r>
              <a:rPr sz="1600" b="0" i="0" u="none">
                <a:solidFill>
                  <a:srgbClr val="C586C0"/>
                </a:solidFill>
                <a:latin typeface="Ubuntu Mono"/>
                <a:ea typeface="Ubuntu Mono"/>
                <a:cs typeface="Ubuntu Mono"/>
              </a:rPr>
              <a:t>for</a:t>
            </a:r>
            <a:r>
              <a:rPr sz="1600" b="0" i="0" u="none">
                <a:solidFill>
                  <a:srgbClr val="BBBEBF"/>
                </a:solidFill>
                <a:latin typeface="Ubuntu Mono"/>
                <a:ea typeface="Ubuntu Mono"/>
                <a:cs typeface="Ubuntu Mono"/>
              </a:rPr>
              <a:t> </a:t>
            </a:r>
            <a:r>
              <a:rPr sz="1600" b="0" i="0" u="none">
                <a:solidFill>
                  <a:srgbClr val="C9D1D9"/>
                </a:solidFill>
                <a:latin typeface="Ubuntu Mono"/>
                <a:ea typeface="Ubuntu Mono"/>
                <a:cs typeface="Ubuntu Mono"/>
              </a:rPr>
              <a:t>i</a:t>
            </a:r>
            <a:r>
              <a:rPr sz="1600" b="0" i="0" u="none">
                <a:solidFill>
                  <a:srgbClr val="BBBEBF"/>
                </a:solidFill>
                <a:latin typeface="Ubuntu Mono"/>
                <a:ea typeface="Ubuntu Mono"/>
                <a:cs typeface="Ubuntu Mono"/>
              </a:rPr>
              <a:t> </a:t>
            </a:r>
            <a:r>
              <a:rPr sz="1600" b="0" i="0" u="none">
                <a:solidFill>
                  <a:srgbClr val="C586C0"/>
                </a:solidFill>
                <a:latin typeface="Ubuntu Mono"/>
                <a:ea typeface="Ubuntu Mono"/>
                <a:cs typeface="Ubuntu Mono"/>
              </a:rPr>
              <a:t>in</a:t>
            </a:r>
            <a:r>
              <a:rPr sz="1600" b="0" i="0" u="none">
                <a:solidFill>
                  <a:srgbClr val="BBBEBF"/>
                </a:solidFill>
                <a:latin typeface="Ubuntu Mono"/>
                <a:ea typeface="Ubuntu Mono"/>
                <a:cs typeface="Ubuntu Mono"/>
              </a:rPr>
              <a:t> </a:t>
            </a:r>
            <a:r>
              <a:rPr sz="1600" b="0" i="0" u="none">
                <a:solidFill>
                  <a:srgbClr val="C9D1D9"/>
                </a:solidFill>
                <a:latin typeface="Ubuntu Mono"/>
                <a:ea typeface="Ubuntu Mono"/>
                <a:cs typeface="Ubuntu Mono"/>
              </a:rPr>
              <a:t>my_list</a:t>
            </a:r>
            <a:r>
              <a:rPr sz="1600" b="0" i="0" u="none">
                <a:solidFill>
                  <a:srgbClr val="BBBEBF"/>
                </a:solidFill>
                <a:latin typeface="Ubuntu Mono"/>
                <a:ea typeface="Ubuntu Mono"/>
                <a:cs typeface="Ubuntu Mono"/>
              </a:rPr>
              <a:t>:</a:t>
            </a:r>
            <a:endParaRPr sz="2600">
              <a:latin typeface="Ubuntu Mono"/>
              <a:cs typeface="Ubuntu Mono"/>
            </a:endParaRPr>
          </a:p>
          <a:p>
            <a:pPr>
              <a:defRPr/>
            </a:pPr>
            <a:r>
              <a:rPr sz="1600" b="0" i="0" u="none">
                <a:solidFill>
                  <a:srgbClr val="BBBEBF"/>
                </a:solidFill>
                <a:latin typeface="Ubuntu Mono"/>
                <a:ea typeface="Ubuntu Mono"/>
                <a:cs typeface="Ubuntu Mono"/>
              </a:rPr>
              <a:t>    </a:t>
            </a:r>
            <a:r>
              <a:rPr sz="1600" b="0" i="0" u="none">
                <a:solidFill>
                  <a:srgbClr val="D2A8FF"/>
                </a:solidFill>
                <a:latin typeface="Ubuntu Mono"/>
                <a:ea typeface="Ubuntu Mono"/>
                <a:cs typeface="Ubuntu Mono"/>
              </a:rPr>
              <a:t>print</a:t>
            </a:r>
            <a:r>
              <a:rPr sz="1600" b="0" i="0" u="none">
                <a:solidFill>
                  <a:srgbClr val="BBBEBF"/>
                </a:solidFill>
                <a:latin typeface="Ubuntu Mono"/>
                <a:ea typeface="Ubuntu Mono"/>
                <a:cs typeface="Ubuntu Mono"/>
              </a:rPr>
              <a:t>(</a:t>
            </a:r>
            <a:r>
              <a:rPr sz="1600" b="0" i="0" u="none">
                <a:solidFill>
                  <a:srgbClr val="C9D1D9"/>
                </a:solidFill>
                <a:latin typeface="Ubuntu Mono"/>
                <a:ea typeface="Ubuntu Mono"/>
                <a:cs typeface="Ubuntu Mono"/>
              </a:rPr>
              <a:t>i</a:t>
            </a:r>
            <a:r>
              <a:rPr sz="1600" b="0" i="0" u="none">
                <a:solidFill>
                  <a:srgbClr val="BBBEBF"/>
                </a:solidFill>
                <a:latin typeface="Ubuntu Mono"/>
                <a:ea typeface="Ubuntu Mono"/>
                <a:cs typeface="Ubuntu Mono"/>
              </a:rPr>
              <a:t>)</a:t>
            </a:r>
            <a:endParaRPr sz="1600" b="0" i="0" u="none">
              <a:solidFill>
                <a:srgbClr val="BBBEBF"/>
              </a:solidFill>
              <a:latin typeface="Ubuntu Mono"/>
              <a:ea typeface="Ubuntu Mono"/>
              <a:cs typeface="Ubuntu Mono"/>
            </a:endParaRPr>
          </a:p>
          <a:p>
            <a:pPr>
              <a:defRPr/>
            </a:pPr>
            <a:r>
              <a:rPr sz="1600">
                <a:solidFill>
                  <a:schemeClr val="accent6"/>
                </a:solidFill>
                <a:latin typeface="Ubuntu Mono"/>
                <a:cs typeface="Ubuntu Mono"/>
              </a:rPr>
              <a:t># it returns : </a:t>
            </a:r>
            <a:endParaRPr sz="1600">
              <a:solidFill>
                <a:schemeClr val="accent6"/>
              </a:solidFill>
              <a:latin typeface="Ubuntu Mono"/>
              <a:cs typeface="Ubuntu Mono"/>
            </a:endParaRPr>
          </a:p>
          <a:p>
            <a:pPr>
              <a:defRPr/>
            </a:pPr>
            <a:r>
              <a:rPr sz="1600">
                <a:solidFill>
                  <a:schemeClr val="accent6"/>
                </a:solidFill>
                <a:latin typeface="Ubuntu Mono"/>
                <a:cs typeface="Ubuntu Mono"/>
              </a:rPr>
              <a:t>1 </a:t>
            </a:r>
            <a:endParaRPr sz="1600">
              <a:solidFill>
                <a:schemeClr val="accent6"/>
              </a:solidFill>
              <a:latin typeface="Ubuntu Mono"/>
              <a:cs typeface="Ubuntu Mono"/>
            </a:endParaRPr>
          </a:p>
          <a:p>
            <a:pPr>
              <a:defRPr/>
            </a:pPr>
            <a:r>
              <a:rPr sz="1600">
                <a:solidFill>
                  <a:schemeClr val="accent6"/>
                </a:solidFill>
                <a:latin typeface="Ubuntu Mono"/>
                <a:cs typeface="Ubuntu Mono"/>
              </a:rPr>
              <a:t>2 </a:t>
            </a:r>
            <a:endParaRPr sz="1600">
              <a:solidFill>
                <a:schemeClr val="accent6"/>
              </a:solidFill>
              <a:latin typeface="Ubuntu Mono"/>
              <a:cs typeface="Ubuntu Mono"/>
            </a:endParaRPr>
          </a:p>
          <a:p>
            <a:pPr>
              <a:defRPr/>
            </a:pPr>
            <a:r>
              <a:rPr sz="1600">
                <a:solidFill>
                  <a:schemeClr val="accent6"/>
                </a:solidFill>
                <a:latin typeface="Ubuntu Mono"/>
                <a:cs typeface="Ubuntu Mono"/>
              </a:rPr>
              <a:t>3 </a:t>
            </a:r>
            <a:endParaRPr sz="1600">
              <a:solidFill>
                <a:schemeClr val="accent6"/>
              </a:solidFill>
              <a:latin typeface="Ubuntu Mono"/>
              <a:cs typeface="Ubuntu Mono"/>
            </a:endParaRPr>
          </a:p>
          <a:p>
            <a:pPr>
              <a:defRPr/>
            </a:pPr>
            <a:r>
              <a:rPr sz="1600">
                <a:solidFill>
                  <a:schemeClr val="accent6"/>
                </a:solidFill>
                <a:latin typeface="Ubuntu Mono"/>
                <a:cs typeface="Ubuntu Mono"/>
              </a:rPr>
              <a:t>4</a:t>
            </a:r>
            <a:endParaRPr sz="1600">
              <a:solidFill>
                <a:schemeClr val="accent6"/>
              </a:solidFill>
              <a:latin typeface="Ubuntu Mono"/>
              <a:cs typeface="Ubuntu Mono"/>
            </a:endParaRPr>
          </a:p>
        </p:txBody>
      </p:sp>
      <p:sp>
        <p:nvSpPr>
          <p:cNvPr id="1794929000" name="Shape 8"/>
          <p:cNvSpPr/>
          <p:nvPr/>
        </p:nvSpPr>
        <p:spPr bwMode="auto">
          <a:xfrm flipH="0" flipV="0">
            <a:off x="3899836" y="3073321"/>
            <a:ext cx="3544965" cy="2286000"/>
          </a:xfrm>
          <a:prstGeom prst="roundRect">
            <a:avLst>
              <a:gd name="adj" fmla="val 3200"/>
            </a:avLst>
          </a:prstGeom>
          <a:solidFill>
            <a:srgbClr val="241512"/>
          </a:solidFill>
          <a:ln w="12700">
            <a:solidFill>
              <a:srgbClr val="000000"/>
            </a:solidFill>
            <a:prstDash val="solid"/>
          </a:ln>
        </p:spPr>
      </p:sp>
      <p:sp>
        <p:nvSpPr>
          <p:cNvPr id="1288700216" name=""/>
          <p:cNvSpPr txBox="1"/>
          <p:nvPr/>
        </p:nvSpPr>
        <p:spPr bwMode="auto">
          <a:xfrm rot="0" flipH="0" flipV="0">
            <a:off x="3899836" y="3073321"/>
            <a:ext cx="3548205" cy="22863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600" b="0" i="0" u="none">
                <a:solidFill>
                  <a:srgbClr val="C9D1D9"/>
                </a:solidFill>
                <a:latin typeface="Ubuntu Mono"/>
                <a:ea typeface="Ubuntu Mono"/>
                <a:cs typeface="Ubuntu Mono"/>
              </a:rPr>
              <a:t>my_dict</a:t>
            </a:r>
            <a:r>
              <a:rPr sz="1600" b="0" i="0" u="none">
                <a:solidFill>
                  <a:srgbClr val="BBBEBF"/>
                </a:solidFill>
                <a:latin typeface="Ubuntu Mono"/>
                <a:ea typeface="Ubuntu Mono"/>
                <a:cs typeface="Ubuntu Mono"/>
              </a:rPr>
              <a:t>= {</a:t>
            </a:r>
            <a:r>
              <a:rPr sz="1600" b="0" i="0" u="none">
                <a:solidFill>
                  <a:srgbClr val="A5D6FF"/>
                </a:solidFill>
                <a:latin typeface="Ubuntu Mono"/>
                <a:ea typeface="Ubuntu Mono"/>
                <a:cs typeface="Ubuntu Mono"/>
              </a:rPr>
              <a:t>'a'</a:t>
            </a:r>
            <a:r>
              <a:rPr sz="1600" b="0" i="0" u="none">
                <a:solidFill>
                  <a:srgbClr val="BBBEBF"/>
                </a:solidFill>
                <a:latin typeface="Ubuntu Mono"/>
                <a:ea typeface="Ubuntu Mono"/>
                <a:cs typeface="Ubuntu Mono"/>
              </a:rPr>
              <a:t>:</a:t>
            </a:r>
            <a:r>
              <a:rPr sz="1600" b="0" i="0" u="none">
                <a:solidFill>
                  <a:srgbClr val="B5CEA8"/>
                </a:solidFill>
                <a:latin typeface="Ubuntu Mono"/>
                <a:ea typeface="Ubuntu Mono"/>
                <a:cs typeface="Ubuntu Mono"/>
              </a:rPr>
              <a:t>1</a:t>
            </a:r>
            <a:r>
              <a:rPr sz="1600" b="0" i="0" u="none">
                <a:solidFill>
                  <a:srgbClr val="BBBEBF"/>
                </a:solidFill>
                <a:latin typeface="Ubuntu Mono"/>
                <a:ea typeface="Ubuntu Mono"/>
                <a:cs typeface="Ubuntu Mono"/>
              </a:rPr>
              <a:t>,</a:t>
            </a:r>
            <a:r>
              <a:rPr sz="1600" b="0" i="0" u="none">
                <a:solidFill>
                  <a:srgbClr val="A5D6FF"/>
                </a:solidFill>
                <a:latin typeface="Ubuntu Mono"/>
                <a:ea typeface="Ubuntu Mono"/>
                <a:cs typeface="Ubuntu Mono"/>
              </a:rPr>
              <a:t>'b'</a:t>
            </a:r>
            <a:r>
              <a:rPr sz="1600" b="0" i="0" u="none">
                <a:solidFill>
                  <a:srgbClr val="BBBEBF"/>
                </a:solidFill>
                <a:latin typeface="Ubuntu Mono"/>
                <a:ea typeface="Ubuntu Mono"/>
                <a:cs typeface="Ubuntu Mono"/>
              </a:rPr>
              <a:t>:</a:t>
            </a:r>
            <a:r>
              <a:rPr sz="1600" b="0" i="0" u="none">
                <a:solidFill>
                  <a:srgbClr val="B5CEA8"/>
                </a:solidFill>
                <a:latin typeface="Ubuntu Mono"/>
                <a:ea typeface="Ubuntu Mono"/>
                <a:cs typeface="Ubuntu Mono"/>
              </a:rPr>
              <a:t>2</a:t>
            </a:r>
            <a:r>
              <a:rPr sz="1600" b="0" i="0" u="none">
                <a:solidFill>
                  <a:srgbClr val="BBBEBF"/>
                </a:solidFill>
                <a:latin typeface="Ubuntu Mono"/>
                <a:ea typeface="Ubuntu Mono"/>
                <a:cs typeface="Ubuntu Mono"/>
              </a:rPr>
              <a:t>,</a:t>
            </a:r>
            <a:r>
              <a:rPr sz="1600" b="0" i="0" u="none">
                <a:solidFill>
                  <a:srgbClr val="A5D6FF"/>
                </a:solidFill>
                <a:latin typeface="Ubuntu Mono"/>
                <a:ea typeface="Ubuntu Mono"/>
                <a:cs typeface="Ubuntu Mono"/>
              </a:rPr>
              <a:t>'c'</a:t>
            </a:r>
            <a:r>
              <a:rPr sz="1600" b="0" i="0" u="none">
                <a:solidFill>
                  <a:srgbClr val="BBBEBF"/>
                </a:solidFill>
                <a:latin typeface="Ubuntu Mono"/>
                <a:ea typeface="Ubuntu Mono"/>
                <a:cs typeface="Ubuntu Mono"/>
              </a:rPr>
              <a:t>:</a:t>
            </a:r>
            <a:r>
              <a:rPr sz="1600" b="0" i="0" u="none">
                <a:solidFill>
                  <a:srgbClr val="B5CEA8"/>
                </a:solidFill>
                <a:latin typeface="Ubuntu Mono"/>
                <a:ea typeface="Ubuntu Mono"/>
                <a:cs typeface="Ubuntu Mono"/>
              </a:rPr>
              <a:t>3</a:t>
            </a:r>
            <a:r>
              <a:rPr sz="1600" b="0" i="0" u="none">
                <a:solidFill>
                  <a:srgbClr val="BBBEBF"/>
                </a:solidFill>
                <a:latin typeface="Ubuntu Mono"/>
                <a:ea typeface="Ubuntu Mono"/>
                <a:cs typeface="Ubuntu Mono"/>
              </a:rPr>
              <a:t>}</a:t>
            </a:r>
            <a:br>
              <a:rPr sz="1600" b="0" i="0" u="none">
                <a:solidFill>
                  <a:srgbClr val="BBBEBF"/>
                </a:solidFill>
                <a:latin typeface="Ubuntu Mono"/>
                <a:ea typeface="Ubuntu Mono"/>
                <a:cs typeface="Ubuntu Mono"/>
              </a:rPr>
            </a:br>
            <a:endParaRPr sz="1600">
              <a:latin typeface="Ubuntu Mono"/>
              <a:cs typeface="Ubuntu Mono"/>
            </a:endParaRPr>
          </a:p>
          <a:p>
            <a:pPr>
              <a:defRPr/>
            </a:pPr>
            <a:r>
              <a:rPr sz="1600" b="0" i="0" u="none">
                <a:solidFill>
                  <a:srgbClr val="C586C0"/>
                </a:solidFill>
                <a:latin typeface="Ubuntu Mono"/>
                <a:ea typeface="Ubuntu Mono"/>
                <a:cs typeface="Ubuntu Mono"/>
              </a:rPr>
              <a:t>for</a:t>
            </a:r>
            <a:r>
              <a:rPr sz="1600" b="0" i="0" u="none">
                <a:solidFill>
                  <a:srgbClr val="BBBEBF"/>
                </a:solidFill>
                <a:latin typeface="Ubuntu Mono"/>
                <a:ea typeface="Ubuntu Mono"/>
                <a:cs typeface="Ubuntu Mono"/>
              </a:rPr>
              <a:t> </a:t>
            </a:r>
            <a:r>
              <a:rPr sz="1600" b="0" i="0" u="none">
                <a:solidFill>
                  <a:srgbClr val="C9D1D9"/>
                </a:solidFill>
                <a:latin typeface="Ubuntu Mono"/>
                <a:ea typeface="Ubuntu Mono"/>
                <a:cs typeface="Ubuntu Mono"/>
              </a:rPr>
              <a:t>k</a:t>
            </a:r>
            <a:r>
              <a:rPr sz="1600" b="0" i="0" u="none">
                <a:solidFill>
                  <a:srgbClr val="BBBEBF"/>
                </a:solidFill>
                <a:latin typeface="Ubuntu Mono"/>
                <a:ea typeface="Ubuntu Mono"/>
                <a:cs typeface="Ubuntu Mono"/>
              </a:rPr>
              <a:t> </a:t>
            </a:r>
            <a:r>
              <a:rPr sz="1600" b="0" i="0" u="none">
                <a:solidFill>
                  <a:srgbClr val="C586C0"/>
                </a:solidFill>
                <a:latin typeface="Ubuntu Mono"/>
                <a:ea typeface="Ubuntu Mono"/>
                <a:cs typeface="Ubuntu Mono"/>
              </a:rPr>
              <a:t>in</a:t>
            </a:r>
            <a:r>
              <a:rPr sz="1600" b="0" i="0" u="none">
                <a:solidFill>
                  <a:srgbClr val="BBBEBF"/>
                </a:solidFill>
                <a:latin typeface="Ubuntu Mono"/>
                <a:ea typeface="Ubuntu Mono"/>
                <a:cs typeface="Ubuntu Mono"/>
              </a:rPr>
              <a:t> </a:t>
            </a:r>
            <a:r>
              <a:rPr sz="1600" b="0" i="0" u="none">
                <a:solidFill>
                  <a:srgbClr val="C9D1D9"/>
                </a:solidFill>
                <a:latin typeface="Ubuntu Mono"/>
                <a:ea typeface="Ubuntu Mono"/>
                <a:cs typeface="Ubuntu Mono"/>
              </a:rPr>
              <a:t>my_dict</a:t>
            </a:r>
            <a:r>
              <a:rPr sz="1600" b="0" i="0" u="none">
                <a:solidFill>
                  <a:srgbClr val="BBBEBF"/>
                </a:solidFill>
                <a:latin typeface="Ubuntu Mono"/>
                <a:ea typeface="Ubuntu Mono"/>
                <a:cs typeface="Ubuntu Mono"/>
              </a:rPr>
              <a:t>:</a:t>
            </a:r>
            <a:endParaRPr sz="1600">
              <a:latin typeface="Ubuntu Mono"/>
              <a:cs typeface="Ubuntu Mono"/>
            </a:endParaRPr>
          </a:p>
          <a:p>
            <a:pPr>
              <a:defRPr/>
            </a:pPr>
            <a:r>
              <a:rPr sz="1600" b="0" i="0" u="none">
                <a:solidFill>
                  <a:srgbClr val="BBBEBF"/>
                </a:solidFill>
                <a:latin typeface="Ubuntu Mono"/>
                <a:ea typeface="Ubuntu Mono"/>
                <a:cs typeface="Ubuntu Mono"/>
              </a:rPr>
              <a:t>    </a:t>
            </a:r>
            <a:r>
              <a:rPr sz="1600" b="0" i="0" u="none">
                <a:solidFill>
                  <a:srgbClr val="D2A8FF"/>
                </a:solidFill>
                <a:latin typeface="Ubuntu Mono"/>
                <a:ea typeface="Ubuntu Mono"/>
                <a:cs typeface="Ubuntu Mono"/>
              </a:rPr>
              <a:t>print</a:t>
            </a:r>
            <a:r>
              <a:rPr sz="1600" b="0" i="0" u="none">
                <a:solidFill>
                  <a:srgbClr val="BBBEBF"/>
                </a:solidFill>
                <a:latin typeface="Ubuntu Mono"/>
                <a:ea typeface="Ubuntu Mono"/>
                <a:cs typeface="Ubuntu Mono"/>
              </a:rPr>
              <a:t>(</a:t>
            </a:r>
            <a:r>
              <a:rPr sz="1600" b="0" i="0" u="none">
                <a:solidFill>
                  <a:srgbClr val="C9D1D9"/>
                </a:solidFill>
                <a:latin typeface="Ubuntu Mono"/>
                <a:ea typeface="Ubuntu Mono"/>
                <a:cs typeface="Ubuntu Mono"/>
              </a:rPr>
              <a:t>k</a:t>
            </a:r>
            <a:r>
              <a:rPr sz="1600" b="0" i="0" u="none">
                <a:solidFill>
                  <a:srgbClr val="BBBEBF"/>
                </a:solidFill>
                <a:latin typeface="Ubuntu Mono"/>
                <a:ea typeface="Ubuntu Mono"/>
                <a:cs typeface="Ubuntu Mono"/>
              </a:rPr>
              <a:t>)</a:t>
            </a:r>
            <a:endParaRPr sz="1600" b="0" i="0" u="none">
              <a:solidFill>
                <a:srgbClr val="BBBEBF"/>
              </a:solidFill>
              <a:latin typeface="Ubuntu Mono"/>
              <a:ea typeface="Ubuntu Mono"/>
              <a:cs typeface="Ubuntu Mono"/>
            </a:endParaRPr>
          </a:p>
          <a:p>
            <a:pPr>
              <a:defRPr/>
            </a:pPr>
            <a:r>
              <a:rPr sz="1600">
                <a:solidFill>
                  <a:schemeClr val="accent6"/>
                </a:solidFill>
                <a:latin typeface="Ubuntu Mono"/>
                <a:ea typeface="Ubuntu Mono"/>
                <a:cs typeface="Ubuntu Mono"/>
              </a:rPr>
              <a:t># it returns : </a:t>
            </a:r>
            <a:endParaRPr sz="1600">
              <a:solidFill>
                <a:schemeClr val="accent6"/>
              </a:solidFill>
              <a:latin typeface="Ubuntu Mono"/>
              <a:cs typeface="Ubuntu Mono"/>
            </a:endParaRPr>
          </a:p>
          <a:p>
            <a:pPr>
              <a:defRPr/>
            </a:pPr>
            <a:r>
              <a:rPr sz="1600">
                <a:solidFill>
                  <a:schemeClr val="accent6"/>
                </a:solidFill>
                <a:latin typeface="Ubuntu Mono"/>
                <a:ea typeface="Ubuntu Mono"/>
                <a:cs typeface="Ubuntu Mono"/>
              </a:rPr>
              <a:t>a</a:t>
            </a:r>
            <a:endParaRPr sz="1600">
              <a:solidFill>
                <a:schemeClr val="accent6"/>
              </a:solidFill>
              <a:latin typeface="Ubuntu Mono"/>
              <a:cs typeface="Ubuntu Mono"/>
            </a:endParaRPr>
          </a:p>
          <a:p>
            <a:pPr>
              <a:defRPr/>
            </a:pPr>
            <a:r>
              <a:rPr sz="1600">
                <a:solidFill>
                  <a:schemeClr val="accent6"/>
                </a:solidFill>
                <a:latin typeface="Ubuntu Mono"/>
                <a:ea typeface="Ubuntu Mono"/>
                <a:cs typeface="Ubuntu Mono"/>
              </a:rPr>
              <a:t>b </a:t>
            </a:r>
            <a:endParaRPr sz="1600">
              <a:solidFill>
                <a:schemeClr val="accent6"/>
              </a:solidFill>
              <a:latin typeface="Ubuntu Mono"/>
              <a:cs typeface="Ubuntu Mono"/>
            </a:endParaRPr>
          </a:p>
          <a:p>
            <a:pPr>
              <a:defRPr/>
            </a:pPr>
            <a:r>
              <a:rPr sz="1600">
                <a:solidFill>
                  <a:schemeClr val="accent6"/>
                </a:solidFill>
                <a:latin typeface="Ubuntu Mono"/>
                <a:ea typeface="Ubuntu Mono"/>
                <a:cs typeface="Ubuntu Mono"/>
              </a:rPr>
              <a:t>c </a:t>
            </a:r>
            <a:endParaRPr sz="1600">
              <a:solidFill>
                <a:schemeClr val="accent6"/>
              </a:solidFill>
              <a:latin typeface="Ubuntu Mono"/>
              <a:ea typeface="Ubuntu Mono"/>
              <a:cs typeface="Ubuntu Mono"/>
            </a:endParaRPr>
          </a:p>
          <a:p>
            <a:pPr>
              <a:defRPr/>
            </a:pPr>
            <a:endParaRPr sz="1600">
              <a:solidFill>
                <a:schemeClr val="accent6"/>
              </a:solidFill>
              <a:latin typeface="Ubuntu Mono"/>
              <a:ea typeface="Ubuntu Mono"/>
              <a:cs typeface="Ubuntu Mono"/>
            </a:endParaRPr>
          </a:p>
        </p:txBody>
      </p:sp>
      <p:sp>
        <p:nvSpPr>
          <p:cNvPr id="1724584990" name="Shape 8"/>
          <p:cNvSpPr/>
          <p:nvPr/>
        </p:nvSpPr>
        <p:spPr bwMode="auto">
          <a:xfrm flipH="0" flipV="0">
            <a:off x="8030259" y="3072242"/>
            <a:ext cx="3544965" cy="2286000"/>
          </a:xfrm>
          <a:prstGeom prst="roundRect">
            <a:avLst>
              <a:gd name="adj" fmla="val 3200"/>
            </a:avLst>
          </a:prstGeom>
          <a:solidFill>
            <a:srgbClr val="241512"/>
          </a:solidFill>
          <a:ln w="12700">
            <a:solidFill>
              <a:srgbClr val="000000"/>
            </a:solidFill>
            <a:prstDash val="solid"/>
          </a:ln>
        </p:spPr>
      </p:sp>
      <p:sp>
        <p:nvSpPr>
          <p:cNvPr id="1144825567" name=""/>
          <p:cNvSpPr txBox="1"/>
          <p:nvPr/>
        </p:nvSpPr>
        <p:spPr bwMode="auto">
          <a:xfrm rot="0" flipH="0" flipV="0">
            <a:off x="8030259" y="3072242"/>
            <a:ext cx="3555405" cy="22863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600" b="0" i="0" u="none">
                <a:solidFill>
                  <a:srgbClr val="C9D1D9"/>
                </a:solidFill>
                <a:latin typeface="Ubuntu Mono"/>
                <a:ea typeface="Ubuntu Mono"/>
                <a:cs typeface="Ubuntu Mono"/>
              </a:rPr>
              <a:t>my_string</a:t>
            </a:r>
            <a:r>
              <a:rPr sz="1600" b="0" i="0" u="none">
                <a:solidFill>
                  <a:srgbClr val="D4D4D4"/>
                </a:solidFill>
                <a:latin typeface="Ubuntu Mono"/>
                <a:ea typeface="Ubuntu Mono"/>
                <a:cs typeface="Ubuntu Mono"/>
              </a:rPr>
              <a:t>=</a:t>
            </a:r>
            <a:r>
              <a:rPr sz="1600" b="0" i="0" u="none">
                <a:solidFill>
                  <a:srgbClr val="BBBEBF"/>
                </a:solidFill>
                <a:latin typeface="Ubuntu Mono"/>
                <a:ea typeface="Ubuntu Mono"/>
                <a:cs typeface="Ubuntu Mono"/>
              </a:rPr>
              <a:t> </a:t>
            </a:r>
            <a:r>
              <a:rPr sz="1600" b="0" i="0" u="none">
                <a:solidFill>
                  <a:srgbClr val="A5D6FF"/>
                </a:solidFill>
                <a:latin typeface="Ubuntu Mono"/>
                <a:ea typeface="Ubuntu Mono"/>
                <a:cs typeface="Ubuntu Mono"/>
              </a:rPr>
              <a:t>'AppsClub'</a:t>
            </a:r>
            <a:endParaRPr sz="1600">
              <a:latin typeface="Ubuntu Mono"/>
              <a:cs typeface="Ubuntu Mono"/>
            </a:endParaRPr>
          </a:p>
          <a:p>
            <a:pPr>
              <a:defRPr/>
            </a:pPr>
            <a:r>
              <a:rPr sz="1600" b="0" i="0" u="none">
                <a:solidFill>
                  <a:srgbClr val="C586C0"/>
                </a:solidFill>
                <a:latin typeface="Ubuntu Mono"/>
                <a:ea typeface="Ubuntu Mono"/>
                <a:cs typeface="Ubuntu Mono"/>
              </a:rPr>
              <a:t>for</a:t>
            </a:r>
            <a:r>
              <a:rPr sz="1600" b="0" i="0" u="none">
                <a:solidFill>
                  <a:srgbClr val="BBBEBF"/>
                </a:solidFill>
                <a:latin typeface="Ubuntu Mono"/>
                <a:ea typeface="Ubuntu Mono"/>
                <a:cs typeface="Ubuntu Mono"/>
              </a:rPr>
              <a:t> </a:t>
            </a:r>
            <a:r>
              <a:rPr sz="1600" b="0" i="0" u="none">
                <a:solidFill>
                  <a:srgbClr val="C9D1D9"/>
                </a:solidFill>
                <a:latin typeface="Ubuntu Mono"/>
                <a:ea typeface="Ubuntu Mono"/>
                <a:cs typeface="Ubuntu Mono"/>
              </a:rPr>
              <a:t>c</a:t>
            </a:r>
            <a:r>
              <a:rPr sz="1600" b="0" i="0" u="none">
                <a:solidFill>
                  <a:srgbClr val="BBBEBF"/>
                </a:solidFill>
                <a:latin typeface="Ubuntu Mono"/>
                <a:ea typeface="Ubuntu Mono"/>
                <a:cs typeface="Ubuntu Mono"/>
              </a:rPr>
              <a:t> </a:t>
            </a:r>
            <a:r>
              <a:rPr sz="1600" b="0" i="0" u="none">
                <a:solidFill>
                  <a:srgbClr val="C586C0"/>
                </a:solidFill>
                <a:latin typeface="Ubuntu Mono"/>
                <a:ea typeface="Ubuntu Mono"/>
                <a:cs typeface="Ubuntu Mono"/>
              </a:rPr>
              <a:t>in</a:t>
            </a:r>
            <a:r>
              <a:rPr sz="1600" b="0" i="0" u="none">
                <a:solidFill>
                  <a:srgbClr val="BBBEBF"/>
                </a:solidFill>
                <a:latin typeface="Ubuntu Mono"/>
                <a:ea typeface="Ubuntu Mono"/>
                <a:cs typeface="Ubuntu Mono"/>
              </a:rPr>
              <a:t> </a:t>
            </a:r>
            <a:r>
              <a:rPr sz="1600" b="0" i="0" u="none">
                <a:solidFill>
                  <a:srgbClr val="C9D1D9"/>
                </a:solidFill>
                <a:latin typeface="Ubuntu Mono"/>
                <a:ea typeface="Ubuntu Mono"/>
                <a:cs typeface="Ubuntu Mono"/>
              </a:rPr>
              <a:t>my_string</a:t>
            </a:r>
            <a:r>
              <a:rPr sz="1600" b="0" i="0" u="none">
                <a:solidFill>
                  <a:srgbClr val="BBBEBF"/>
                </a:solidFill>
                <a:latin typeface="Ubuntu Mono"/>
                <a:ea typeface="Ubuntu Mono"/>
                <a:cs typeface="Ubuntu Mono"/>
              </a:rPr>
              <a:t>:</a:t>
            </a:r>
            <a:endParaRPr sz="1600">
              <a:latin typeface="Ubuntu Mono"/>
              <a:cs typeface="Ubuntu Mono"/>
            </a:endParaRPr>
          </a:p>
          <a:p>
            <a:pPr>
              <a:defRPr/>
            </a:pPr>
            <a:r>
              <a:rPr sz="1600" b="0" i="0" u="none">
                <a:solidFill>
                  <a:srgbClr val="BBBEBF"/>
                </a:solidFill>
                <a:latin typeface="Ubuntu Mono"/>
                <a:ea typeface="Ubuntu Mono"/>
                <a:cs typeface="Ubuntu Mono"/>
              </a:rPr>
              <a:t>    </a:t>
            </a:r>
            <a:r>
              <a:rPr sz="1600" b="0" i="0" u="none">
                <a:solidFill>
                  <a:srgbClr val="D2A8FF"/>
                </a:solidFill>
                <a:latin typeface="Ubuntu Mono"/>
                <a:ea typeface="Ubuntu Mono"/>
                <a:cs typeface="Ubuntu Mono"/>
              </a:rPr>
              <a:t>print</a:t>
            </a:r>
            <a:r>
              <a:rPr sz="1600" b="0" i="0" u="none">
                <a:solidFill>
                  <a:srgbClr val="BBBEBF"/>
                </a:solidFill>
                <a:latin typeface="Ubuntu Mono"/>
                <a:ea typeface="Ubuntu Mono"/>
                <a:cs typeface="Ubuntu Mono"/>
              </a:rPr>
              <a:t>(</a:t>
            </a:r>
            <a:r>
              <a:rPr sz="1600" b="0" i="0" u="none">
                <a:solidFill>
                  <a:srgbClr val="C9D1D9"/>
                </a:solidFill>
                <a:latin typeface="Ubuntu Mono"/>
                <a:ea typeface="Ubuntu Mono"/>
                <a:cs typeface="Ubuntu Mono"/>
              </a:rPr>
              <a:t>c</a:t>
            </a:r>
            <a:r>
              <a:rPr sz="1600" b="0" i="0" u="none">
                <a:solidFill>
                  <a:srgbClr val="BBBEBF"/>
                </a:solidFill>
                <a:latin typeface="Ubuntu Mono"/>
                <a:ea typeface="Ubuntu Mono"/>
                <a:cs typeface="Ubuntu Mono"/>
              </a:rPr>
              <a:t>)</a:t>
            </a:r>
            <a:endParaRPr sz="1600" b="0" i="0" u="none">
              <a:solidFill>
                <a:srgbClr val="BBBEBF"/>
              </a:solidFill>
              <a:latin typeface="Ubuntu Mono"/>
              <a:cs typeface="Ubuntu Mono"/>
            </a:endParaRPr>
          </a:p>
          <a:p>
            <a:pPr>
              <a:defRPr/>
            </a:pPr>
            <a:r>
              <a:rPr sz="1600">
                <a:solidFill>
                  <a:schemeClr val="accent6"/>
                </a:solidFill>
                <a:latin typeface="Ubuntu Mono"/>
                <a:ea typeface="Ubuntu Mono"/>
                <a:cs typeface="Ubuntu Mono"/>
              </a:rPr>
              <a:t># it returns : </a:t>
            </a:r>
            <a:endParaRPr sz="1600">
              <a:solidFill>
                <a:schemeClr val="accent6"/>
              </a:solidFill>
              <a:latin typeface="Ubuntu Mono"/>
              <a:cs typeface="Ubuntu Mono"/>
            </a:endParaRPr>
          </a:p>
          <a:p>
            <a:pPr>
              <a:defRPr/>
            </a:pPr>
            <a:r>
              <a:rPr sz="1600">
                <a:solidFill>
                  <a:schemeClr val="accent6"/>
                </a:solidFill>
                <a:latin typeface="Ubuntu Mono"/>
                <a:ea typeface="Ubuntu Mono"/>
                <a:cs typeface="Ubuntu Mono"/>
              </a:rPr>
              <a:t>A</a:t>
            </a:r>
            <a:endParaRPr sz="1600">
              <a:solidFill>
                <a:schemeClr val="accent6"/>
              </a:solidFill>
              <a:latin typeface="Ubuntu Mono"/>
              <a:cs typeface="Ubuntu Mono"/>
            </a:endParaRPr>
          </a:p>
          <a:p>
            <a:pPr>
              <a:defRPr/>
            </a:pPr>
            <a:r>
              <a:rPr sz="1600">
                <a:solidFill>
                  <a:schemeClr val="accent6"/>
                </a:solidFill>
                <a:latin typeface="Ubuntu Mono"/>
                <a:ea typeface="Ubuntu Mono"/>
                <a:cs typeface="Ubuntu Mono"/>
              </a:rPr>
              <a:t>p </a:t>
            </a:r>
            <a:endParaRPr sz="1600">
              <a:solidFill>
                <a:schemeClr val="accent6"/>
              </a:solidFill>
              <a:latin typeface="Ubuntu Mono"/>
              <a:cs typeface="Ubuntu Mono"/>
            </a:endParaRPr>
          </a:p>
          <a:p>
            <a:pPr>
              <a:defRPr/>
            </a:pPr>
            <a:r>
              <a:rPr sz="1600">
                <a:solidFill>
                  <a:schemeClr val="accent6"/>
                </a:solidFill>
                <a:latin typeface="Ubuntu Mono"/>
                <a:ea typeface="Ubuntu Mono"/>
                <a:cs typeface="Ubuntu Mono"/>
              </a:rPr>
              <a:t>p</a:t>
            </a:r>
            <a:endParaRPr sz="1600">
              <a:solidFill>
                <a:schemeClr val="accent6"/>
              </a:solidFill>
              <a:latin typeface="Ubuntu Mono"/>
              <a:ea typeface="Ubuntu Mono"/>
              <a:cs typeface="Ubuntu Mono"/>
            </a:endParaRPr>
          </a:p>
          <a:p>
            <a:pPr>
              <a:defRPr/>
            </a:pPr>
            <a:r>
              <a:rPr sz="1600">
                <a:solidFill>
                  <a:schemeClr val="accent6"/>
                </a:solidFill>
                <a:latin typeface="Ubuntu Mono"/>
                <a:ea typeface="Ubuntu Mono"/>
                <a:cs typeface="Ubuntu Mono"/>
              </a:rPr>
              <a:t>s </a:t>
            </a:r>
            <a:endParaRPr sz="1600">
              <a:solidFill>
                <a:schemeClr val="accent6"/>
              </a:solidFill>
              <a:latin typeface="Ubuntu Mono"/>
              <a:ea typeface="Ubuntu Mono"/>
              <a:cs typeface="Ubuntu Mono"/>
            </a:endParaRPr>
          </a:p>
          <a:p>
            <a:pPr>
              <a:defRPr/>
            </a:pPr>
            <a:r>
              <a:rPr sz="1600">
                <a:solidFill>
                  <a:schemeClr val="accent6"/>
                </a:solidFill>
                <a:latin typeface="Ubuntu Mono"/>
                <a:ea typeface="Ubuntu Mono"/>
                <a:cs typeface="Ubuntu Mono"/>
              </a:rPr>
              <a:t>..</a:t>
            </a:r>
            <a:endParaRPr sz="1600">
              <a:solidFill>
                <a:schemeClr val="accent6"/>
              </a:solidFill>
              <a:latin typeface="Ubuntu Mono"/>
              <a:cs typeface="Ubuntu Mono"/>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6">
    <p:bg>
      <p:bgPr shadeToTitle="0">
        <a:solidFill>
          <a:srgbClr val="F7F7FB"/>
        </a:solidFill>
      </p:bgPr>
    </p:bg>
    <p:spTree>
      <p:nvGrpSpPr>
        <p:cNvPr id="1" name=""/>
        <p:cNvGrpSpPr/>
        <p:nvPr/>
      </p:nvGrpSpPr>
      <p:grpSpPr bwMode="auto">
        <a:xfrm>
          <a:off x="0" y="0"/>
          <a:ext cx="0" cy="0"/>
          <a:chOff x="0" y="0"/>
          <a:chExt cx="0" cy="0"/>
        </a:xfrm>
      </p:grpSpPr>
      <p:sp>
        <p:nvSpPr>
          <p:cNvPr id="965066759" name="Shape 0"/>
          <p:cNvSpPr/>
          <p:nvPr/>
        </p:nvSpPr>
        <p:spPr bwMode="auto">
          <a:xfrm>
            <a:off x="457200" y="384048"/>
            <a:ext cx="1417320" cy="329184"/>
          </a:xfrm>
          <a:prstGeom prst="roundRect">
            <a:avLst>
              <a:gd name="adj" fmla="val 50000"/>
            </a:avLst>
          </a:prstGeom>
          <a:solidFill>
            <a:srgbClr val="7D6CF7"/>
          </a:solidFill>
          <a:ln w="12700">
            <a:solidFill>
              <a:srgbClr val="000000"/>
            </a:solidFill>
            <a:prstDash val="solid"/>
          </a:ln>
        </p:spPr>
      </p:sp>
      <p:sp>
        <p:nvSpPr>
          <p:cNvPr id="816253557" name="Text 1"/>
          <p:cNvSpPr/>
          <p:nvPr/>
        </p:nvSpPr>
        <p:spPr bwMode="auto">
          <a:xfrm>
            <a:off x="457200" y="384048"/>
            <a:ext cx="1417320" cy="329184"/>
          </a:xfrm>
          <a:prstGeom prst="rect">
            <a:avLst/>
          </a:prstGeom>
          <a:noFill/>
          <a:ln/>
        </p:spPr>
        <p:txBody>
          <a:bodyPr wrap="square" lIns="0" tIns="0" rIns="0" bIns="0" rtlCol="0" anchor="ctr"/>
          <a:lstStyle/>
          <a:p>
            <a:pPr marL="0" indent="0" algn="ctr">
              <a:buNone/>
              <a:defRPr/>
            </a:pPr>
            <a:r>
              <a:rPr lang="en-US" sz="1100" b="1" spc="99">
                <a:solidFill>
                  <a:srgbClr val="FFFFFF"/>
                </a:solidFill>
                <a:latin typeface="Calibri"/>
                <a:ea typeface="Calibri"/>
                <a:cs typeface="Calibri"/>
              </a:rPr>
              <a:t>THEORY</a:t>
            </a:r>
            <a:endParaRPr lang="en-US" sz="1100"/>
          </a:p>
        </p:txBody>
      </p:sp>
      <p:sp>
        <p:nvSpPr>
          <p:cNvPr id="1770991997" name="Text 3"/>
          <p:cNvSpPr/>
          <p:nvPr/>
        </p:nvSpPr>
        <p:spPr bwMode="auto">
          <a:xfrm>
            <a:off x="457200" y="804672"/>
            <a:ext cx="11292840" cy="658368"/>
          </a:xfrm>
          <a:prstGeom prst="rect">
            <a:avLst/>
          </a:prstGeom>
          <a:noFill/>
          <a:ln/>
        </p:spPr>
        <p:txBody>
          <a:bodyPr wrap="square" lIns="0" tIns="0" rIns="0" bIns="0" rtlCol="0" anchor="t"/>
          <a:lstStyle/>
          <a:p>
            <a:pPr marL="0" indent="0" algn="l">
              <a:buNone/>
              <a:defRPr/>
            </a:pPr>
            <a:r>
              <a:rPr lang="en-US" sz="2700" b="1">
                <a:solidFill>
                  <a:srgbClr val="1A1A2E"/>
                </a:solidFill>
                <a:latin typeface="Cambria"/>
                <a:ea typeface="Cambria"/>
                <a:cs typeface="Cambria"/>
              </a:rPr>
              <a:t>The Iterator Protocol</a:t>
            </a:r>
            <a:endParaRPr lang="en-US" sz="2700"/>
          </a:p>
        </p:txBody>
      </p:sp>
      <p:sp>
        <p:nvSpPr>
          <p:cNvPr id="1977045665" name="Text 7"/>
          <p:cNvSpPr/>
          <p:nvPr/>
        </p:nvSpPr>
        <p:spPr bwMode="auto">
          <a:xfrm flipH="0" flipV="0">
            <a:off x="445591" y="2038983"/>
            <a:ext cx="10811405" cy="365760"/>
          </a:xfrm>
          <a:prstGeom prst="rect">
            <a:avLst/>
          </a:prstGeom>
          <a:noFill/>
          <a:ln/>
        </p:spPr>
        <p:txBody>
          <a:bodyPr wrap="square" lIns="0" tIns="0" rIns="0" bIns="0" rtlCol="0" anchor="ctr"/>
          <a:lstStyle/>
          <a:p>
            <a:pPr marL="0" indent="0">
              <a:buNone/>
              <a:defRPr/>
            </a:pPr>
            <a:r>
              <a:rPr lang="en-US" sz="1600" i="1">
                <a:solidFill>
                  <a:schemeClr val="bg1">
                    <a:lumMod val="50000"/>
                  </a:schemeClr>
                </a:solidFill>
                <a:latin typeface="Roboto"/>
                <a:ea typeface="Roboto"/>
                <a:cs typeface="Roboto"/>
              </a:rPr>
              <a:t>An object is an iterator if it implements these 2 methods : </a:t>
            </a:r>
            <a:endParaRPr sz="1600">
              <a:solidFill>
                <a:schemeClr val="bg1">
                  <a:lumMod val="50000"/>
                </a:schemeClr>
              </a:solidFill>
              <a:latin typeface="Roboto"/>
              <a:cs typeface="Roboto"/>
            </a:endParaRPr>
          </a:p>
        </p:txBody>
      </p:sp>
      <p:sp>
        <p:nvSpPr>
          <p:cNvPr id="2036955665" name="Text 8"/>
          <p:cNvSpPr/>
          <p:nvPr/>
        </p:nvSpPr>
        <p:spPr bwMode="auto">
          <a:xfrm flipH="0" flipV="0">
            <a:off x="457198" y="2496182"/>
            <a:ext cx="11292840" cy="786128"/>
          </a:xfrm>
          <a:prstGeom prst="rect">
            <a:avLst/>
          </a:prstGeom>
          <a:noFill/>
          <a:ln/>
        </p:spPr>
        <p:txBody>
          <a:bodyPr wrap="square" lIns="0" tIns="0" rIns="0" bIns="0" rtlCol="0" anchor="t"/>
          <a:lstStyle/>
          <a:p>
            <a:pPr marL="228600" indent="-228600">
              <a:lnSpc>
                <a:spcPct val="114999"/>
              </a:lnSpc>
              <a:spcAft>
                <a:spcPts val="999"/>
              </a:spcAft>
              <a:buSzPct val="100000"/>
              <a:buChar char="●"/>
              <a:defRPr/>
            </a:pPr>
            <a:r>
              <a:rPr lang="en-US" sz="1600">
                <a:solidFill>
                  <a:srgbClr val="1A1A2E"/>
                </a:solidFill>
                <a:latin typeface="Calibri"/>
                <a:ea typeface="Calibri"/>
                <a:cs typeface="Calibri"/>
              </a:rPr>
              <a:t>__iter__(self) → returns self</a:t>
            </a:r>
            <a:endParaRPr lang="en-US" sz="1600"/>
          </a:p>
          <a:p>
            <a:pPr marL="228600" indent="-228600">
              <a:lnSpc>
                <a:spcPct val="114999"/>
              </a:lnSpc>
              <a:spcAft>
                <a:spcPts val="999"/>
              </a:spcAft>
              <a:buSzPct val="100000"/>
              <a:buChar char="●"/>
              <a:defRPr/>
            </a:pPr>
            <a:r>
              <a:rPr lang="en-US" sz="1600">
                <a:solidFill>
                  <a:srgbClr val="1A1A2E"/>
                </a:solidFill>
                <a:latin typeface="Calibri"/>
                <a:ea typeface="Calibri"/>
                <a:cs typeface="Calibri"/>
              </a:rPr>
              <a:t>__next__(self) → returns the next value, or raises StopIteration when exhausted</a:t>
            </a:r>
            <a:endParaRPr lang="en-US" sz="1600">
              <a:solidFill>
                <a:srgbClr val="1A1A2E"/>
              </a:solidFill>
              <a:latin typeface="Calibri"/>
              <a:ea typeface="Calibri"/>
              <a:cs typeface="Calibri"/>
            </a:endParaRPr>
          </a:p>
          <a:p>
            <a:pPr marL="228600" indent="-228600">
              <a:lnSpc>
                <a:spcPct val="114999"/>
              </a:lnSpc>
              <a:spcAft>
                <a:spcPts val="998"/>
              </a:spcAft>
              <a:buSzPct val="100000"/>
              <a:buChar char="●"/>
              <a:defRPr/>
            </a:pPr>
            <a:endParaRPr lang="en-US" sz="1600"/>
          </a:p>
        </p:txBody>
      </p:sp>
      <p:sp>
        <p:nvSpPr>
          <p:cNvPr id="579175717" name=""/>
          <p:cNvSpPr txBox="1"/>
          <p:nvPr/>
        </p:nvSpPr>
        <p:spPr bwMode="auto">
          <a:xfrm rot="0" flipH="0" flipV="0">
            <a:off x="465979" y="3611880"/>
            <a:ext cx="10791735" cy="372213"/>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228600" indent="-228600" algn="l">
              <a:lnSpc>
                <a:spcPct val="114999"/>
              </a:lnSpc>
              <a:spcAft>
                <a:spcPts val="998"/>
              </a:spcAft>
              <a:buSzPct val="100000"/>
              <a:buChar char="●"/>
              <a:defRPr/>
            </a:pPr>
            <a:r>
              <a:rPr lang="en-US" sz="1600">
                <a:solidFill>
                  <a:srgbClr val="1A1A2E"/>
                </a:solidFill>
                <a:latin typeface="Calibri"/>
                <a:ea typeface="Calibri"/>
                <a:cs typeface="Calibri"/>
              </a:rPr>
              <a:t>Under the hood, for x in obj: calls iter(obj) to get an iterator, then repeatedly calls next() on it until StopIteration is raised .</a:t>
            </a:r>
            <a:endParaRPr lang="en-US" sz="1400"/>
          </a:p>
        </p:txBody>
      </p:sp>
      <p:sp>
        <p:nvSpPr>
          <p:cNvPr id="1817449444" name="Text 7"/>
          <p:cNvSpPr/>
          <p:nvPr/>
        </p:nvSpPr>
        <p:spPr bwMode="auto">
          <a:xfrm flipH="0" flipV="0">
            <a:off x="457200" y="3246120"/>
            <a:ext cx="909673" cy="365760"/>
          </a:xfrm>
          <a:prstGeom prst="rect">
            <a:avLst/>
          </a:prstGeom>
          <a:noFill/>
          <a:ln/>
        </p:spPr>
        <p:txBody>
          <a:bodyPr wrap="square" lIns="0" tIns="0" rIns="0" bIns="0" rtlCol="0" anchor="ctr"/>
          <a:lstStyle/>
          <a:p>
            <a:pPr marL="0" indent="0">
              <a:buNone/>
              <a:defRPr/>
            </a:pPr>
            <a:r>
              <a:rPr lang="en-US" sz="1600" i="1">
                <a:solidFill>
                  <a:srgbClr val="6B7280"/>
                </a:solidFill>
                <a:latin typeface="Roboto"/>
                <a:ea typeface="Roboto"/>
                <a:cs typeface="Roboto"/>
              </a:rPr>
              <a:t>Note : </a:t>
            </a:r>
            <a:r>
              <a:rPr lang="en-US" sz="1600" i="1">
                <a:solidFill>
                  <a:schemeClr val="bg1">
                    <a:lumMod val="50000"/>
                  </a:schemeClr>
                </a:solidFill>
                <a:latin typeface="Roboto"/>
                <a:ea typeface="Roboto"/>
                <a:cs typeface="Roboto"/>
              </a:rPr>
              <a:t>!!!!!</a:t>
            </a:r>
            <a:endParaRPr sz="1600">
              <a:latin typeface="Roboto"/>
              <a:cs typeface="Roboto"/>
            </a:endParaRPr>
          </a:p>
        </p:txBody>
      </p:sp>
      <p:sp>
        <p:nvSpPr>
          <p:cNvPr id="1313293962" name="Shape 8"/>
          <p:cNvSpPr/>
          <p:nvPr/>
        </p:nvSpPr>
        <p:spPr bwMode="auto">
          <a:xfrm flipH="0" flipV="0">
            <a:off x="457198" y="4105197"/>
            <a:ext cx="4626660" cy="1641549"/>
          </a:xfrm>
          <a:prstGeom prst="roundRect">
            <a:avLst>
              <a:gd name="adj" fmla="val 3200"/>
            </a:avLst>
          </a:prstGeom>
          <a:solidFill>
            <a:srgbClr val="241512"/>
          </a:solidFill>
          <a:ln w="12700">
            <a:solidFill>
              <a:srgbClr val="000000"/>
            </a:solidFill>
            <a:prstDash val="solid"/>
          </a:ln>
        </p:spPr>
      </p:sp>
      <p:sp>
        <p:nvSpPr>
          <p:cNvPr id="1374787669" name=""/>
          <p:cNvSpPr txBox="1"/>
          <p:nvPr/>
        </p:nvSpPr>
        <p:spPr bwMode="auto">
          <a:xfrm rot="0" flipH="0" flipV="0">
            <a:off x="457198" y="4105197"/>
            <a:ext cx="4628820" cy="1310998"/>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b="0" i="0" u="none">
                <a:solidFill>
                  <a:srgbClr val="8B949E"/>
                </a:solidFill>
                <a:latin typeface="Ubuntu Mono"/>
                <a:ea typeface="Ubuntu Mono"/>
                <a:cs typeface="Ubuntu Mono"/>
              </a:rPr>
              <a:t># iterable example </a:t>
            </a:r>
            <a:endParaRPr sz="2400">
              <a:latin typeface="Ubuntu Mono"/>
              <a:cs typeface="Ubuntu Mono"/>
            </a:endParaRPr>
          </a:p>
          <a:p>
            <a:pPr>
              <a:defRPr/>
            </a:pPr>
            <a:r>
              <a:rPr sz="1400" b="0" i="0" u="none">
                <a:solidFill>
                  <a:srgbClr val="C9D1D9"/>
                </a:solidFill>
                <a:latin typeface="Ubuntu Mono"/>
                <a:ea typeface="Ubuntu Mono"/>
                <a:cs typeface="Ubuntu Mono"/>
              </a:rPr>
              <a:t>my_list</a:t>
            </a:r>
            <a:r>
              <a:rPr sz="1400" b="0" i="0" u="none">
                <a:solidFill>
                  <a:srgbClr val="BBBEBF"/>
                </a:solidFill>
                <a:latin typeface="Ubuntu Mono"/>
                <a:ea typeface="Ubuntu Mono"/>
                <a:cs typeface="Ubuntu Mono"/>
              </a:rPr>
              <a:t> </a:t>
            </a:r>
            <a:r>
              <a:rPr sz="1400" b="0" i="0" u="none">
                <a:solidFill>
                  <a:srgbClr val="D4D4D4"/>
                </a:solidFill>
                <a:latin typeface="Ubuntu Mono"/>
                <a:ea typeface="Ubuntu Mono"/>
                <a:cs typeface="Ubuntu Mono"/>
              </a:rPr>
              <a:t>=</a:t>
            </a:r>
            <a:r>
              <a:rPr sz="1400" b="0" i="0" u="none">
                <a:solidFill>
                  <a:srgbClr val="BBBEBF"/>
                </a:solidFill>
                <a:latin typeface="Ubuntu Mono"/>
                <a:ea typeface="Ubuntu Mono"/>
                <a:cs typeface="Ubuntu Mono"/>
              </a:rPr>
              <a:t> [</a:t>
            </a:r>
            <a:r>
              <a:rPr sz="1400" b="0" i="0" u="none">
                <a:solidFill>
                  <a:srgbClr val="B5CEA8"/>
                </a:solidFill>
                <a:latin typeface="Ubuntu Mono"/>
                <a:ea typeface="Ubuntu Mono"/>
                <a:cs typeface="Ubuntu Mono"/>
              </a:rPr>
              <a:t>10</a:t>
            </a:r>
            <a:r>
              <a:rPr sz="1400" b="0" i="0" u="none">
                <a:solidFill>
                  <a:srgbClr val="BBBEBF"/>
                </a:solidFill>
                <a:latin typeface="Ubuntu Mono"/>
                <a:ea typeface="Ubuntu Mono"/>
                <a:cs typeface="Ubuntu Mono"/>
              </a:rPr>
              <a:t>, </a:t>
            </a:r>
            <a:r>
              <a:rPr sz="1400" b="0" i="0" u="none">
                <a:solidFill>
                  <a:srgbClr val="B5CEA8"/>
                </a:solidFill>
                <a:latin typeface="Ubuntu Mono"/>
                <a:ea typeface="Ubuntu Mono"/>
                <a:cs typeface="Ubuntu Mono"/>
              </a:rPr>
              <a:t>20</a:t>
            </a:r>
            <a:r>
              <a:rPr sz="1400" b="0" i="0" u="none">
                <a:solidFill>
                  <a:srgbClr val="BBBEBF"/>
                </a:solidFill>
                <a:latin typeface="Ubuntu Mono"/>
                <a:ea typeface="Ubuntu Mono"/>
                <a:cs typeface="Ubuntu Mono"/>
              </a:rPr>
              <a:t>, </a:t>
            </a:r>
            <a:r>
              <a:rPr sz="1400" b="0" i="0" u="none">
                <a:solidFill>
                  <a:srgbClr val="B5CEA8"/>
                </a:solidFill>
                <a:latin typeface="Ubuntu Mono"/>
                <a:ea typeface="Ubuntu Mono"/>
                <a:cs typeface="Ubuntu Mono"/>
              </a:rPr>
              <a:t>30</a:t>
            </a:r>
            <a:r>
              <a:rPr sz="1400" b="0" i="0" u="none">
                <a:solidFill>
                  <a:srgbClr val="BBBEBF"/>
                </a:solidFill>
                <a:latin typeface="Ubuntu Mono"/>
                <a:ea typeface="Ubuntu Mono"/>
                <a:cs typeface="Ubuntu Mono"/>
              </a:rPr>
              <a:t>]</a:t>
            </a:r>
            <a:br>
              <a:rPr sz="1400" b="0" i="0" u="none">
                <a:solidFill>
                  <a:srgbClr val="BBBEBF"/>
                </a:solidFill>
                <a:latin typeface="Ubuntu Mono"/>
                <a:ea typeface="Ubuntu Mono"/>
                <a:cs typeface="Ubuntu Mono"/>
              </a:rPr>
            </a:br>
            <a:endParaRPr sz="2400">
              <a:latin typeface="Ubuntu Mono"/>
              <a:cs typeface="Ubuntu Mono"/>
            </a:endParaRPr>
          </a:p>
          <a:p>
            <a:pPr>
              <a:defRPr/>
            </a:pPr>
            <a:r>
              <a:rPr sz="1400" b="0" i="0" u="none">
                <a:solidFill>
                  <a:srgbClr val="D2A8FF"/>
                </a:solidFill>
                <a:latin typeface="Ubuntu Mono"/>
                <a:ea typeface="Ubuntu Mono"/>
                <a:cs typeface="Ubuntu Mono"/>
              </a:rPr>
              <a:t>print</a:t>
            </a:r>
            <a:r>
              <a:rPr sz="1400" b="0" i="0" u="none">
                <a:solidFill>
                  <a:srgbClr val="BBBEBF"/>
                </a:solidFill>
                <a:latin typeface="Ubuntu Mono"/>
                <a:ea typeface="Ubuntu Mono"/>
                <a:cs typeface="Ubuntu Mono"/>
              </a:rPr>
              <a:t>(</a:t>
            </a:r>
            <a:r>
              <a:rPr sz="1400" b="0" i="0" u="none">
                <a:solidFill>
                  <a:srgbClr val="D2A8FF"/>
                </a:solidFill>
                <a:latin typeface="Ubuntu Mono"/>
                <a:ea typeface="Ubuntu Mono"/>
                <a:cs typeface="Ubuntu Mono"/>
              </a:rPr>
              <a:t>hasattr</a:t>
            </a:r>
            <a:r>
              <a:rPr sz="1400" b="0" i="0" u="none">
                <a:solidFill>
                  <a:srgbClr val="BBBEBF"/>
                </a:solidFill>
                <a:latin typeface="Ubuntu Mono"/>
                <a:ea typeface="Ubuntu Mono"/>
                <a:cs typeface="Ubuntu Mono"/>
              </a:rPr>
              <a:t>(</a:t>
            </a:r>
            <a:r>
              <a:rPr sz="1400" b="0" i="0" u="none">
                <a:solidFill>
                  <a:srgbClr val="C9D1D9"/>
                </a:solidFill>
                <a:latin typeface="Ubuntu Mono"/>
                <a:ea typeface="Ubuntu Mono"/>
                <a:cs typeface="Ubuntu Mono"/>
              </a:rPr>
              <a:t>my_list</a:t>
            </a:r>
            <a:r>
              <a:rPr sz="1400" b="0" i="0" u="none">
                <a:solidFill>
                  <a:srgbClr val="BBBEBF"/>
                </a:solidFill>
                <a:latin typeface="Ubuntu Mono"/>
                <a:ea typeface="Ubuntu Mono"/>
                <a:cs typeface="Ubuntu Mono"/>
              </a:rPr>
              <a:t>, </a:t>
            </a:r>
            <a:r>
              <a:rPr sz="1400" b="0" i="0" u="none">
                <a:solidFill>
                  <a:srgbClr val="A5D6FF"/>
                </a:solidFill>
                <a:latin typeface="Ubuntu Mono"/>
                <a:ea typeface="Ubuntu Mono"/>
                <a:cs typeface="Ubuntu Mono"/>
              </a:rPr>
              <a:t>"__iter__"</a:t>
            </a:r>
            <a:r>
              <a:rPr sz="1400" b="0" i="0" u="none">
                <a:solidFill>
                  <a:srgbClr val="BBBEBF"/>
                </a:solidFill>
                <a:latin typeface="Ubuntu Mono"/>
                <a:ea typeface="Ubuntu Mono"/>
                <a:cs typeface="Ubuntu Mono"/>
              </a:rPr>
              <a:t>))  </a:t>
            </a:r>
            <a:r>
              <a:rPr sz="1400" b="0" i="0" u="none">
                <a:solidFill>
                  <a:srgbClr val="8B949E"/>
                </a:solidFill>
                <a:latin typeface="Ubuntu Mono"/>
                <a:ea typeface="Ubuntu Mono"/>
                <a:cs typeface="Ubuntu Mono"/>
              </a:rPr>
              <a:t># True</a:t>
            </a:r>
            <a:endParaRPr sz="2400">
              <a:latin typeface="Ubuntu Mono"/>
              <a:cs typeface="Ubuntu Mono"/>
            </a:endParaRPr>
          </a:p>
          <a:p>
            <a:pPr>
              <a:defRPr/>
            </a:pPr>
            <a:r>
              <a:rPr sz="1400" b="0" i="0" u="none">
                <a:solidFill>
                  <a:srgbClr val="D2A8FF"/>
                </a:solidFill>
                <a:latin typeface="Ubuntu Mono"/>
                <a:ea typeface="Ubuntu Mono"/>
                <a:cs typeface="Ubuntu Mono"/>
              </a:rPr>
              <a:t>print</a:t>
            </a:r>
            <a:r>
              <a:rPr sz="1400" b="0" i="0" u="none">
                <a:solidFill>
                  <a:srgbClr val="BBBEBF"/>
                </a:solidFill>
                <a:latin typeface="Ubuntu Mono"/>
                <a:ea typeface="Ubuntu Mono"/>
                <a:cs typeface="Ubuntu Mono"/>
              </a:rPr>
              <a:t>(</a:t>
            </a:r>
            <a:r>
              <a:rPr sz="1400" b="0" i="0" u="none">
                <a:solidFill>
                  <a:srgbClr val="D2A8FF"/>
                </a:solidFill>
                <a:latin typeface="Ubuntu Mono"/>
                <a:ea typeface="Ubuntu Mono"/>
                <a:cs typeface="Ubuntu Mono"/>
              </a:rPr>
              <a:t>hasattr</a:t>
            </a:r>
            <a:r>
              <a:rPr sz="1400" b="0" i="0" u="none">
                <a:solidFill>
                  <a:srgbClr val="BBBEBF"/>
                </a:solidFill>
                <a:latin typeface="Ubuntu Mono"/>
                <a:ea typeface="Ubuntu Mono"/>
                <a:cs typeface="Ubuntu Mono"/>
              </a:rPr>
              <a:t>(</a:t>
            </a:r>
            <a:r>
              <a:rPr sz="1400" b="0" i="0" u="none">
                <a:solidFill>
                  <a:srgbClr val="C9D1D9"/>
                </a:solidFill>
                <a:latin typeface="Ubuntu Mono"/>
                <a:ea typeface="Ubuntu Mono"/>
                <a:cs typeface="Ubuntu Mono"/>
              </a:rPr>
              <a:t>my_list</a:t>
            </a:r>
            <a:r>
              <a:rPr sz="1400" b="0" i="0" u="none">
                <a:solidFill>
                  <a:srgbClr val="BBBEBF"/>
                </a:solidFill>
                <a:latin typeface="Ubuntu Mono"/>
                <a:ea typeface="Ubuntu Mono"/>
                <a:cs typeface="Ubuntu Mono"/>
              </a:rPr>
              <a:t>, </a:t>
            </a:r>
            <a:r>
              <a:rPr sz="1400" b="0" i="0" u="none">
                <a:solidFill>
                  <a:srgbClr val="A5D6FF"/>
                </a:solidFill>
                <a:latin typeface="Ubuntu Mono"/>
                <a:ea typeface="Ubuntu Mono"/>
                <a:cs typeface="Ubuntu Mono"/>
              </a:rPr>
              <a:t>"__next__"</a:t>
            </a:r>
            <a:r>
              <a:rPr sz="1400" b="0" i="0" u="none">
                <a:solidFill>
                  <a:srgbClr val="BBBEBF"/>
                </a:solidFill>
                <a:latin typeface="Ubuntu Mono"/>
                <a:ea typeface="Ubuntu Mono"/>
                <a:cs typeface="Ubuntu Mono"/>
              </a:rPr>
              <a:t>))  </a:t>
            </a:r>
            <a:r>
              <a:rPr sz="1400" b="0" i="0" u="none">
                <a:solidFill>
                  <a:srgbClr val="8B949E"/>
                </a:solidFill>
                <a:latin typeface="Ubuntu Mono"/>
                <a:ea typeface="Ubuntu Mono"/>
                <a:cs typeface="Ubuntu Mono"/>
              </a:rPr>
              <a:t># False</a:t>
            </a:r>
            <a:endParaRPr sz="2400">
              <a:latin typeface="Ubuntu Mono"/>
              <a:cs typeface="Ubuntu Mono"/>
            </a:endParaRPr>
          </a:p>
        </p:txBody>
      </p:sp>
      <p:sp>
        <p:nvSpPr>
          <p:cNvPr id="691617343" name="Shape 8"/>
          <p:cNvSpPr/>
          <p:nvPr/>
        </p:nvSpPr>
        <p:spPr bwMode="auto">
          <a:xfrm flipH="0" flipV="0">
            <a:off x="6103977" y="4092322"/>
            <a:ext cx="5646778" cy="1641548"/>
          </a:xfrm>
          <a:prstGeom prst="roundRect">
            <a:avLst>
              <a:gd name="adj" fmla="val 3200"/>
            </a:avLst>
          </a:prstGeom>
          <a:solidFill>
            <a:srgbClr val="241512"/>
          </a:solidFill>
          <a:ln w="12700">
            <a:solidFill>
              <a:srgbClr val="000000"/>
            </a:solidFill>
            <a:prstDash val="solid"/>
          </a:ln>
        </p:spPr>
      </p:sp>
      <p:sp>
        <p:nvSpPr>
          <p:cNvPr id="1757639199" name=""/>
          <p:cNvSpPr txBox="1"/>
          <p:nvPr/>
        </p:nvSpPr>
        <p:spPr bwMode="auto">
          <a:xfrm rot="0" flipH="0" flipV="0">
            <a:off x="6112759" y="4178912"/>
            <a:ext cx="5629211" cy="1371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b="0" i="0" u="none">
                <a:solidFill>
                  <a:srgbClr val="8B949E"/>
                </a:solidFill>
                <a:latin typeface="Ubuntu Mono"/>
                <a:ea typeface="Ubuntu Mono"/>
                <a:cs typeface="Ubuntu Mono"/>
              </a:rPr>
              <a:t># iterator example </a:t>
            </a:r>
            <a:endParaRPr sz="1400">
              <a:latin typeface="Ubuntu Mono"/>
              <a:cs typeface="Ubuntu Mono"/>
            </a:endParaRPr>
          </a:p>
          <a:p>
            <a:pPr>
              <a:defRPr/>
            </a:pPr>
            <a:r>
              <a:rPr sz="1400" b="0" i="0" u="none">
                <a:solidFill>
                  <a:srgbClr val="C9D1D9"/>
                </a:solidFill>
                <a:latin typeface="Ubuntu Mono"/>
                <a:ea typeface="Ubuntu Mono"/>
                <a:cs typeface="Ubuntu Mono"/>
              </a:rPr>
              <a:t>my_list</a:t>
            </a:r>
            <a:r>
              <a:rPr sz="1400" b="0" i="0" u="none">
                <a:solidFill>
                  <a:srgbClr val="BBBEBF"/>
                </a:solidFill>
                <a:latin typeface="Ubuntu Mono"/>
                <a:ea typeface="Ubuntu Mono"/>
                <a:cs typeface="Ubuntu Mono"/>
              </a:rPr>
              <a:t> </a:t>
            </a:r>
            <a:r>
              <a:rPr sz="1400" b="0" i="0" u="none">
                <a:solidFill>
                  <a:srgbClr val="D4D4D4"/>
                </a:solidFill>
                <a:latin typeface="Ubuntu Mono"/>
                <a:ea typeface="Ubuntu Mono"/>
                <a:cs typeface="Ubuntu Mono"/>
              </a:rPr>
              <a:t>=</a:t>
            </a:r>
            <a:r>
              <a:rPr sz="1400" b="0" i="0" u="none">
                <a:solidFill>
                  <a:srgbClr val="BBBEBF"/>
                </a:solidFill>
                <a:latin typeface="Ubuntu Mono"/>
                <a:ea typeface="Ubuntu Mono"/>
                <a:cs typeface="Ubuntu Mono"/>
              </a:rPr>
              <a:t> [</a:t>
            </a:r>
            <a:r>
              <a:rPr sz="1400" b="0" i="0" u="none">
                <a:solidFill>
                  <a:srgbClr val="B5CEA8"/>
                </a:solidFill>
                <a:latin typeface="Ubuntu Mono"/>
                <a:ea typeface="Ubuntu Mono"/>
                <a:cs typeface="Ubuntu Mono"/>
              </a:rPr>
              <a:t>10</a:t>
            </a:r>
            <a:r>
              <a:rPr sz="1400" b="0" i="0" u="none">
                <a:solidFill>
                  <a:srgbClr val="BBBEBF"/>
                </a:solidFill>
                <a:latin typeface="Ubuntu Mono"/>
                <a:ea typeface="Ubuntu Mono"/>
                <a:cs typeface="Ubuntu Mono"/>
              </a:rPr>
              <a:t>, </a:t>
            </a:r>
            <a:r>
              <a:rPr sz="1400" b="0" i="0" u="none">
                <a:solidFill>
                  <a:srgbClr val="B5CEA8"/>
                </a:solidFill>
                <a:latin typeface="Ubuntu Mono"/>
                <a:ea typeface="Ubuntu Mono"/>
                <a:cs typeface="Ubuntu Mono"/>
              </a:rPr>
              <a:t>20</a:t>
            </a:r>
            <a:r>
              <a:rPr sz="1400" b="0" i="0" u="none">
                <a:solidFill>
                  <a:srgbClr val="BBBEBF"/>
                </a:solidFill>
                <a:latin typeface="Ubuntu Mono"/>
                <a:ea typeface="Ubuntu Mono"/>
                <a:cs typeface="Ubuntu Mono"/>
              </a:rPr>
              <a:t>, </a:t>
            </a:r>
            <a:r>
              <a:rPr sz="1400" b="0" i="0" u="none">
                <a:solidFill>
                  <a:srgbClr val="B5CEA8"/>
                </a:solidFill>
                <a:latin typeface="Ubuntu Mono"/>
                <a:ea typeface="Ubuntu Mono"/>
                <a:cs typeface="Ubuntu Mono"/>
              </a:rPr>
              <a:t>30</a:t>
            </a:r>
            <a:r>
              <a:rPr sz="1400" b="0" i="0" u="none">
                <a:solidFill>
                  <a:srgbClr val="BBBEBF"/>
                </a:solidFill>
                <a:latin typeface="Ubuntu Mono"/>
                <a:ea typeface="Ubuntu Mono"/>
                <a:cs typeface="Ubuntu Mono"/>
              </a:rPr>
              <a:t>]</a:t>
            </a:r>
            <a:br>
              <a:rPr sz="1400" b="0" i="0" u="none">
                <a:solidFill>
                  <a:srgbClr val="BBBEBF"/>
                </a:solidFill>
                <a:latin typeface="Ubuntu Mono"/>
                <a:ea typeface="Ubuntu Mono"/>
                <a:cs typeface="Ubuntu Mono"/>
              </a:rPr>
            </a:br>
            <a:r>
              <a:rPr sz="1400" b="0" i="0" u="none">
                <a:solidFill>
                  <a:srgbClr val="C9D1D9"/>
                </a:solidFill>
                <a:latin typeface="Ubuntu Mono"/>
                <a:ea typeface="Ubuntu Mono"/>
                <a:cs typeface="Ubuntu Mono"/>
              </a:rPr>
              <a:t>my_iterator</a:t>
            </a:r>
            <a:r>
              <a:rPr sz="1400" b="0" i="0" u="none">
                <a:solidFill>
                  <a:srgbClr val="BBBEBF"/>
                </a:solidFill>
                <a:latin typeface="Ubuntu Mono"/>
                <a:ea typeface="Ubuntu Mono"/>
                <a:cs typeface="Ubuntu Mono"/>
              </a:rPr>
              <a:t> </a:t>
            </a:r>
            <a:r>
              <a:rPr sz="1400" b="0" i="0" u="none">
                <a:solidFill>
                  <a:srgbClr val="D4D4D4"/>
                </a:solidFill>
                <a:latin typeface="Ubuntu Mono"/>
                <a:ea typeface="Ubuntu Mono"/>
                <a:cs typeface="Ubuntu Mono"/>
              </a:rPr>
              <a:t>=</a:t>
            </a:r>
            <a:r>
              <a:rPr sz="1400" b="0" i="0" u="none">
                <a:solidFill>
                  <a:srgbClr val="BBBEBF"/>
                </a:solidFill>
                <a:latin typeface="Ubuntu Mono"/>
                <a:ea typeface="Ubuntu Mono"/>
                <a:cs typeface="Ubuntu Mono"/>
              </a:rPr>
              <a:t> </a:t>
            </a:r>
            <a:r>
              <a:rPr sz="1400" b="0" i="0" u="none">
                <a:solidFill>
                  <a:srgbClr val="D2A8FF"/>
                </a:solidFill>
                <a:latin typeface="Ubuntu Mono"/>
                <a:ea typeface="Ubuntu Mono"/>
                <a:cs typeface="Ubuntu Mono"/>
              </a:rPr>
              <a:t>iter</a:t>
            </a:r>
            <a:r>
              <a:rPr sz="1400" b="0" i="0" u="none">
                <a:solidFill>
                  <a:srgbClr val="BBBEBF"/>
                </a:solidFill>
                <a:latin typeface="Ubuntu Mono"/>
                <a:ea typeface="Ubuntu Mono"/>
                <a:cs typeface="Ubuntu Mono"/>
              </a:rPr>
              <a:t>(</a:t>
            </a:r>
            <a:r>
              <a:rPr sz="1400" b="0" i="0" u="none">
                <a:solidFill>
                  <a:srgbClr val="C9D1D9"/>
                </a:solidFill>
                <a:latin typeface="Ubuntu Mono"/>
                <a:ea typeface="Ubuntu Mono"/>
                <a:cs typeface="Ubuntu Mono"/>
              </a:rPr>
              <a:t>my_list</a:t>
            </a:r>
            <a:r>
              <a:rPr sz="1400" b="0" i="0" u="none">
                <a:solidFill>
                  <a:srgbClr val="BBBEBF"/>
                </a:solidFill>
                <a:latin typeface="Ubuntu Mono"/>
                <a:ea typeface="Ubuntu Mono"/>
                <a:cs typeface="Ubuntu Mono"/>
              </a:rPr>
              <a:t>)</a:t>
            </a:r>
            <a:endParaRPr sz="1400">
              <a:latin typeface="Ubuntu Mono"/>
              <a:ea typeface="Ubuntu Mono"/>
              <a:cs typeface="Ubuntu Mono"/>
            </a:endParaRPr>
          </a:p>
          <a:p>
            <a:pPr>
              <a:defRPr/>
            </a:pPr>
            <a:endParaRPr sz="1400">
              <a:latin typeface="Ubuntu Mono"/>
              <a:cs typeface="Ubuntu Mono"/>
            </a:endParaRPr>
          </a:p>
          <a:p>
            <a:pPr>
              <a:defRPr/>
            </a:pPr>
            <a:r>
              <a:rPr sz="1400" b="0" i="0" u="none">
                <a:solidFill>
                  <a:srgbClr val="D2A8FF"/>
                </a:solidFill>
                <a:latin typeface="Ubuntu Mono"/>
                <a:ea typeface="Ubuntu Mono"/>
                <a:cs typeface="Ubuntu Mono"/>
              </a:rPr>
              <a:t>print</a:t>
            </a:r>
            <a:r>
              <a:rPr sz="1400" b="0" i="0" u="none">
                <a:solidFill>
                  <a:srgbClr val="BBBEBF"/>
                </a:solidFill>
                <a:latin typeface="Ubuntu Mono"/>
                <a:ea typeface="Ubuntu Mono"/>
                <a:cs typeface="Ubuntu Mono"/>
              </a:rPr>
              <a:t>(</a:t>
            </a:r>
            <a:r>
              <a:rPr sz="1400" b="0" i="0" u="none">
                <a:solidFill>
                  <a:srgbClr val="D2A8FF"/>
                </a:solidFill>
                <a:latin typeface="Ubuntu Mono"/>
                <a:ea typeface="Ubuntu Mono"/>
                <a:cs typeface="Ubuntu Mono"/>
              </a:rPr>
              <a:t>hasattr</a:t>
            </a:r>
            <a:r>
              <a:rPr sz="1400" b="0" i="0" u="none">
                <a:solidFill>
                  <a:srgbClr val="BBBEBF"/>
                </a:solidFill>
                <a:latin typeface="Ubuntu Mono"/>
                <a:ea typeface="Ubuntu Mono"/>
                <a:cs typeface="Ubuntu Mono"/>
              </a:rPr>
              <a:t>(</a:t>
            </a:r>
            <a:r>
              <a:rPr lang="en-US" sz="1400" b="0" i="0" u="none" strike="noStrike" cap="none" spc="0">
                <a:solidFill>
                  <a:srgbClr val="C9D1D9"/>
                </a:solidFill>
                <a:latin typeface="Ubuntu Mono"/>
                <a:ea typeface="Ubuntu Mono"/>
                <a:cs typeface="Ubuntu Mono"/>
              </a:rPr>
              <a:t>my_iterator</a:t>
            </a:r>
            <a:r>
              <a:rPr sz="1400" b="0" i="0" u="none">
                <a:solidFill>
                  <a:srgbClr val="BBBEBF"/>
                </a:solidFill>
                <a:latin typeface="Ubuntu Mono"/>
                <a:ea typeface="Ubuntu Mono"/>
                <a:cs typeface="Ubuntu Mono"/>
              </a:rPr>
              <a:t>, </a:t>
            </a:r>
            <a:r>
              <a:rPr sz="1400" b="0" i="0" u="none">
                <a:solidFill>
                  <a:srgbClr val="A5D6FF"/>
                </a:solidFill>
                <a:latin typeface="Ubuntu Mono"/>
                <a:ea typeface="Ubuntu Mono"/>
                <a:cs typeface="Ubuntu Mono"/>
              </a:rPr>
              <a:t>"__iter__"</a:t>
            </a:r>
            <a:r>
              <a:rPr sz="1400" b="0" i="0" u="none">
                <a:solidFill>
                  <a:srgbClr val="BBBEBF"/>
                </a:solidFill>
                <a:latin typeface="Ubuntu Mono"/>
                <a:ea typeface="Ubuntu Mono"/>
                <a:cs typeface="Ubuntu Mono"/>
              </a:rPr>
              <a:t>))  </a:t>
            </a:r>
            <a:r>
              <a:rPr sz="1400" b="0" i="0" u="none">
                <a:solidFill>
                  <a:srgbClr val="8B949E"/>
                </a:solidFill>
                <a:latin typeface="Ubuntu Mono"/>
                <a:ea typeface="Ubuntu Mono"/>
                <a:cs typeface="Ubuntu Mono"/>
              </a:rPr>
              <a:t># True</a:t>
            </a:r>
            <a:endParaRPr sz="1400">
              <a:latin typeface="Ubuntu Mono"/>
              <a:cs typeface="Ubuntu Mono"/>
            </a:endParaRPr>
          </a:p>
          <a:p>
            <a:pPr>
              <a:defRPr/>
            </a:pPr>
            <a:r>
              <a:rPr sz="1400" b="0" i="0" u="none">
                <a:solidFill>
                  <a:srgbClr val="D2A8FF"/>
                </a:solidFill>
                <a:latin typeface="Ubuntu Mono"/>
                <a:ea typeface="Ubuntu Mono"/>
                <a:cs typeface="Ubuntu Mono"/>
              </a:rPr>
              <a:t>print</a:t>
            </a:r>
            <a:r>
              <a:rPr sz="1400" b="0" i="0" u="none">
                <a:solidFill>
                  <a:srgbClr val="BBBEBF"/>
                </a:solidFill>
                <a:latin typeface="Ubuntu Mono"/>
                <a:ea typeface="Ubuntu Mono"/>
                <a:cs typeface="Ubuntu Mono"/>
              </a:rPr>
              <a:t>(</a:t>
            </a:r>
            <a:r>
              <a:rPr sz="1400" b="0" i="0" u="none">
                <a:solidFill>
                  <a:srgbClr val="D2A8FF"/>
                </a:solidFill>
                <a:latin typeface="Ubuntu Mono"/>
                <a:ea typeface="Ubuntu Mono"/>
                <a:cs typeface="Ubuntu Mono"/>
              </a:rPr>
              <a:t>hasattr</a:t>
            </a:r>
            <a:r>
              <a:rPr sz="1400" b="0" i="0" u="none">
                <a:solidFill>
                  <a:srgbClr val="BBBEBF"/>
                </a:solidFill>
                <a:latin typeface="Ubuntu Mono"/>
                <a:ea typeface="Ubuntu Mono"/>
                <a:cs typeface="Ubuntu Mono"/>
              </a:rPr>
              <a:t>(</a:t>
            </a:r>
            <a:r>
              <a:rPr lang="en-US" sz="1400" b="0" i="0" u="none" strike="noStrike" cap="none" spc="0">
                <a:solidFill>
                  <a:srgbClr val="C9D1D9"/>
                </a:solidFill>
                <a:latin typeface="Ubuntu Mono"/>
                <a:ea typeface="Ubuntu Mono"/>
                <a:cs typeface="Ubuntu Mono"/>
              </a:rPr>
              <a:t>my_iterator</a:t>
            </a:r>
            <a:r>
              <a:rPr sz="1400" b="0" i="0" u="none">
                <a:solidFill>
                  <a:srgbClr val="BBBEBF"/>
                </a:solidFill>
                <a:latin typeface="Ubuntu Mono"/>
                <a:ea typeface="Ubuntu Mono"/>
                <a:cs typeface="Ubuntu Mono"/>
              </a:rPr>
              <a:t>, </a:t>
            </a:r>
            <a:r>
              <a:rPr sz="1400" b="0" i="0" u="none">
                <a:solidFill>
                  <a:srgbClr val="A5D6FF"/>
                </a:solidFill>
                <a:latin typeface="Ubuntu Mono"/>
                <a:ea typeface="Ubuntu Mono"/>
                <a:cs typeface="Ubuntu Mono"/>
              </a:rPr>
              <a:t>"__next__"</a:t>
            </a:r>
            <a:r>
              <a:rPr sz="1400" b="0" i="0" u="none">
                <a:solidFill>
                  <a:srgbClr val="BBBEBF"/>
                </a:solidFill>
                <a:latin typeface="Ubuntu Mono"/>
                <a:ea typeface="Ubuntu Mono"/>
                <a:cs typeface="Ubuntu Mono"/>
              </a:rPr>
              <a:t>))  </a:t>
            </a:r>
            <a:r>
              <a:rPr sz="1400" b="0" i="0" u="none">
                <a:solidFill>
                  <a:srgbClr val="8B949E"/>
                </a:solidFill>
                <a:latin typeface="Ubuntu Mono"/>
                <a:ea typeface="Ubuntu Mono"/>
                <a:cs typeface="Ubuntu Mono"/>
              </a:rPr>
              <a:t># True</a:t>
            </a:r>
            <a:endParaRPr sz="1400">
              <a:latin typeface="Ubuntu Mono"/>
              <a:cs typeface="Ubuntu Mono"/>
            </a:endParaRPr>
          </a:p>
        </p:txBody>
      </p:sp>
      <p:sp>
        <p:nvSpPr>
          <p:cNvPr id="1758721035" name="Text 7"/>
          <p:cNvSpPr/>
          <p:nvPr/>
        </p:nvSpPr>
        <p:spPr bwMode="auto">
          <a:xfrm flipH="0" flipV="0">
            <a:off x="457200" y="1463040"/>
            <a:ext cx="10811405" cy="365760"/>
          </a:xfrm>
          <a:prstGeom prst="rect">
            <a:avLst/>
          </a:prstGeom>
          <a:noFill/>
          <a:ln/>
        </p:spPr>
        <p:txBody>
          <a:bodyPr wrap="square" lIns="0" tIns="0" rIns="0" bIns="0" rtlCol="0" anchor="ctr"/>
          <a:lstStyle/>
          <a:p>
            <a:pPr>
              <a:defRPr/>
            </a:pPr>
            <a:r>
              <a:rPr sz="1600" b="0" i="0" u="none">
                <a:solidFill>
                  <a:srgbClr val="000000"/>
                </a:solidFill>
                <a:latin typeface="Roboto"/>
                <a:ea typeface="Roboto"/>
                <a:cs typeface="Roboto"/>
              </a:rPr>
              <a:t>An Iterator is a  stateful object that produces values one by one using </a:t>
            </a:r>
            <a:r>
              <a:rPr sz="1600" b="0" i="0" u="none">
                <a:solidFill>
                  <a:srgbClr val="000000"/>
                </a:solidFill>
                <a:latin typeface="Roboto"/>
                <a:ea typeface="Roboto"/>
                <a:cs typeface="Roboto"/>
              </a:rPr>
              <a:t>next()</a:t>
            </a:r>
            <a:endParaRPr sz="1600">
              <a:latin typeface="Roboto"/>
              <a:cs typeface="Roboto"/>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1329396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7478766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16173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57639199"/>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579175717"/>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18174494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7">
    <p:bg>
      <p:bgPr shadeToTitle="0">
        <a:solidFill>
          <a:srgbClr val="252538"/>
        </a:solidFill>
      </p:bgPr>
    </p:bg>
    <p:spTree>
      <p:nvGrpSpPr>
        <p:cNvPr id="1" name=""/>
        <p:cNvGrpSpPr/>
        <p:nvPr/>
      </p:nvGrpSpPr>
      <p:grpSpPr bwMode="auto">
        <a:xfrm>
          <a:off x="0" y="0"/>
          <a:ext cx="0" cy="0"/>
          <a:chOff x="0" y="0"/>
          <a:chExt cx="0" cy="0"/>
        </a:xfrm>
      </p:grpSpPr>
      <p:sp>
        <p:nvSpPr>
          <p:cNvPr id="1892538820" name="Shape 0"/>
          <p:cNvSpPr/>
          <p:nvPr/>
        </p:nvSpPr>
        <p:spPr bwMode="auto">
          <a:xfrm>
            <a:off x="457200" y="384048"/>
            <a:ext cx="1417320" cy="329184"/>
          </a:xfrm>
          <a:prstGeom prst="roundRect">
            <a:avLst>
              <a:gd name="adj" fmla="val 50000"/>
            </a:avLst>
          </a:prstGeom>
          <a:solidFill>
            <a:srgbClr val="7D6CF7"/>
          </a:solidFill>
          <a:ln w="12700">
            <a:solidFill>
              <a:srgbClr val="000000"/>
            </a:solidFill>
            <a:prstDash val="solid"/>
          </a:ln>
        </p:spPr>
        <p:txBody>
          <a:bodyPr anchor="ctr"/>
          <a:p>
            <a:pPr algn="ctr">
              <a:defRPr/>
            </a:pPr>
            <a:endParaRPr/>
          </a:p>
        </p:txBody>
      </p:sp>
      <p:sp>
        <p:nvSpPr>
          <p:cNvPr id="673869488" name="Text 1"/>
          <p:cNvSpPr/>
          <p:nvPr/>
        </p:nvSpPr>
        <p:spPr bwMode="auto">
          <a:xfrm>
            <a:off x="457200" y="384048"/>
            <a:ext cx="1417320" cy="329184"/>
          </a:xfrm>
          <a:prstGeom prst="rect">
            <a:avLst/>
          </a:prstGeom>
          <a:noFill/>
          <a:ln/>
        </p:spPr>
        <p:txBody>
          <a:bodyPr wrap="square" lIns="0" tIns="0" rIns="0" bIns="0" rtlCol="0" anchor="ctr"/>
          <a:lstStyle/>
          <a:p>
            <a:pPr marL="0" indent="0" algn="ctr">
              <a:buNone/>
              <a:defRPr/>
            </a:pPr>
            <a:r>
              <a:rPr lang="en-US" sz="1100" b="1" spc="99">
                <a:solidFill>
                  <a:srgbClr val="FFFFFF"/>
                </a:solidFill>
                <a:latin typeface="Calibri"/>
                <a:ea typeface="Calibri"/>
                <a:cs typeface="Calibri"/>
              </a:rPr>
              <a:t>CODE</a:t>
            </a:r>
            <a:endParaRPr lang="en-US" sz="1100"/>
          </a:p>
        </p:txBody>
      </p:sp>
      <p:sp>
        <p:nvSpPr>
          <p:cNvPr id="1171457078" name="Text 3"/>
          <p:cNvSpPr/>
          <p:nvPr/>
        </p:nvSpPr>
        <p:spPr bwMode="auto">
          <a:xfrm>
            <a:off x="457200" y="804672"/>
            <a:ext cx="11292840" cy="658368"/>
          </a:xfrm>
          <a:prstGeom prst="rect">
            <a:avLst/>
          </a:prstGeom>
          <a:noFill/>
          <a:ln/>
        </p:spPr>
        <p:txBody>
          <a:bodyPr wrap="square" lIns="0" tIns="0" rIns="0" bIns="0" rtlCol="0" anchor="t"/>
          <a:lstStyle/>
          <a:p>
            <a:pPr marL="0" indent="0" algn="l">
              <a:buNone/>
              <a:defRPr/>
            </a:pPr>
            <a:r>
              <a:rPr lang="en-US" sz="2700" b="1">
                <a:solidFill>
                  <a:srgbClr val="FFFFFF"/>
                </a:solidFill>
                <a:latin typeface="Cambria"/>
                <a:ea typeface="Cambria"/>
                <a:cs typeface="Cambria"/>
              </a:rPr>
              <a:t>Building a Custom Iterator</a:t>
            </a:r>
            <a:endParaRPr lang="en-US" sz="2700"/>
          </a:p>
        </p:txBody>
      </p:sp>
      <p:sp>
        <p:nvSpPr>
          <p:cNvPr id="1613057680" name="Shape 7"/>
          <p:cNvSpPr/>
          <p:nvPr/>
        </p:nvSpPr>
        <p:spPr bwMode="auto">
          <a:xfrm>
            <a:off x="457200" y="1600200"/>
            <a:ext cx="11292840" cy="4617720"/>
          </a:xfrm>
          <a:prstGeom prst="roundRect">
            <a:avLst>
              <a:gd name="adj" fmla="val 1584"/>
            </a:avLst>
          </a:prstGeom>
          <a:solidFill>
            <a:srgbClr val="1E1E2E"/>
          </a:solidFill>
          <a:ln w="12700">
            <a:solidFill>
              <a:srgbClr val="000000"/>
            </a:solidFill>
            <a:prstDash val="solid"/>
          </a:ln>
        </p:spPr>
      </p:sp>
      <p:sp>
        <p:nvSpPr>
          <p:cNvPr id="1953672433" name="Text 8"/>
          <p:cNvSpPr/>
          <p:nvPr/>
        </p:nvSpPr>
        <p:spPr bwMode="auto">
          <a:xfrm>
            <a:off x="658368" y="1728216"/>
            <a:ext cx="10890504" cy="4361688"/>
          </a:xfrm>
          <a:prstGeom prst="rect">
            <a:avLst/>
          </a:prstGeom>
          <a:noFill/>
          <a:ln/>
        </p:spPr>
        <p:txBody>
          <a:bodyPr wrap="square" lIns="0" tIns="0" rIns="0" bIns="0" rtlCol="0" anchor="t"/>
          <a:lstStyle/>
          <a:p>
            <a:pPr marL="0" indent="0">
              <a:lnSpc>
                <a:spcPct val="108000"/>
              </a:lnSpc>
              <a:buNone/>
              <a:defRPr/>
            </a:pPr>
            <a:r>
              <a:rPr lang="en-US" sz="1500">
                <a:solidFill>
                  <a:srgbClr val="C586C0"/>
                </a:solidFill>
                <a:latin typeface="Courier New"/>
                <a:ea typeface="Courier New"/>
                <a:cs typeface="Courier New"/>
              </a:rPr>
              <a:t>class</a:t>
            </a:r>
            <a:r>
              <a:rPr lang="en-US" sz="1500">
                <a:solidFill>
                  <a:srgbClr val="D4D4D4"/>
                </a:solidFill>
                <a:latin typeface="Courier New"/>
                <a:ea typeface="Courier New"/>
                <a:cs typeface="Courier New"/>
              </a:rPr>
              <a:t> Countdown:</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def</a:t>
            </a:r>
            <a:r>
              <a:rPr lang="en-US" sz="1500">
                <a:solidFill>
                  <a:srgbClr val="D4D4D4"/>
                </a:solidFill>
                <a:latin typeface="Courier New"/>
                <a:ea typeface="Courier New"/>
                <a:cs typeface="Courier New"/>
              </a:rPr>
              <a:t> __init__(</a:t>
            </a:r>
            <a:r>
              <a:rPr lang="en-US" sz="1500">
                <a:solidFill>
                  <a:srgbClr val="C586C0"/>
                </a:solidFill>
                <a:latin typeface="Courier New"/>
                <a:ea typeface="Courier New"/>
                <a:cs typeface="Courier New"/>
              </a:rPr>
              <a:t>self</a:t>
            </a:r>
            <a:r>
              <a:rPr lang="en-US" sz="1500">
                <a:solidFill>
                  <a:srgbClr val="D4D4D4"/>
                </a:solidFill>
                <a:latin typeface="Courier New"/>
                <a:ea typeface="Courier New"/>
                <a:cs typeface="Courier New"/>
              </a:rPr>
              <a:t>, start):</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self</a:t>
            </a:r>
            <a:r>
              <a:rPr lang="en-US" sz="1500">
                <a:solidFill>
                  <a:srgbClr val="D4D4D4"/>
                </a:solidFill>
                <a:latin typeface="Courier New"/>
                <a:ea typeface="Courier New"/>
                <a:cs typeface="Courier New"/>
              </a:rPr>
              <a:t>.current = start</a:t>
            </a:r>
            <a:endParaRPr lang="en-US" sz="1500"/>
          </a:p>
          <a:p>
            <a:pPr marL="0" indent="0">
              <a:lnSpc>
                <a:spcPct val="108000"/>
              </a:lnSpc>
              <a:buNone/>
              <a:defRPr/>
            </a:pPr>
            <a:r>
              <a:rPr lang="en-US" sz="1500">
                <a:solidFill>
                  <a:srgbClr val="D4D4D4"/>
                </a:solidFill>
                <a:latin typeface="Courier New"/>
                <a:ea typeface="Courier New"/>
                <a:cs typeface="Courier New"/>
              </a:rPr>
              <a:t> </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def</a:t>
            </a:r>
            <a:r>
              <a:rPr lang="en-US" sz="1500">
                <a:solidFill>
                  <a:srgbClr val="D4D4D4"/>
                </a:solidFill>
                <a:latin typeface="Courier New"/>
                <a:ea typeface="Courier New"/>
                <a:cs typeface="Courier New"/>
              </a:rPr>
              <a:t> __iter__(</a:t>
            </a:r>
            <a:r>
              <a:rPr lang="en-US" sz="1500">
                <a:solidFill>
                  <a:srgbClr val="C586C0"/>
                </a:solidFill>
                <a:latin typeface="Courier New"/>
                <a:ea typeface="Courier New"/>
                <a:cs typeface="Courier New"/>
              </a:rPr>
              <a:t>self</a:t>
            </a:r>
            <a:r>
              <a:rPr lang="en-US" sz="1500">
                <a:solidFill>
                  <a:srgbClr val="D4D4D4"/>
                </a:solidFill>
                <a:latin typeface="Courier New"/>
                <a:ea typeface="Courier New"/>
                <a:cs typeface="Courier New"/>
              </a:rPr>
              <a:t>):</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return</a:t>
            </a: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self</a:t>
            </a:r>
            <a:endParaRPr lang="en-US" sz="1500"/>
          </a:p>
          <a:p>
            <a:pPr marL="0" indent="0">
              <a:lnSpc>
                <a:spcPct val="108000"/>
              </a:lnSpc>
              <a:buNone/>
              <a:defRPr/>
            </a:pPr>
            <a:r>
              <a:rPr lang="en-US" sz="1500">
                <a:solidFill>
                  <a:srgbClr val="D4D4D4"/>
                </a:solidFill>
                <a:latin typeface="Courier New"/>
                <a:ea typeface="Courier New"/>
                <a:cs typeface="Courier New"/>
              </a:rPr>
              <a:t> </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def</a:t>
            </a:r>
            <a:r>
              <a:rPr lang="en-US" sz="1500">
                <a:solidFill>
                  <a:srgbClr val="D4D4D4"/>
                </a:solidFill>
                <a:latin typeface="Courier New"/>
                <a:ea typeface="Courier New"/>
                <a:cs typeface="Courier New"/>
              </a:rPr>
              <a:t> __next__(</a:t>
            </a:r>
            <a:r>
              <a:rPr lang="en-US" sz="1500">
                <a:solidFill>
                  <a:srgbClr val="C586C0"/>
                </a:solidFill>
                <a:latin typeface="Courier New"/>
                <a:ea typeface="Courier New"/>
                <a:cs typeface="Courier New"/>
              </a:rPr>
              <a:t>self</a:t>
            </a:r>
            <a:r>
              <a:rPr lang="en-US" sz="1500">
                <a:solidFill>
                  <a:srgbClr val="D4D4D4"/>
                </a:solidFill>
                <a:latin typeface="Courier New"/>
                <a:ea typeface="Courier New"/>
                <a:cs typeface="Courier New"/>
              </a:rPr>
              <a:t>):</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if</a:t>
            </a: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self</a:t>
            </a:r>
            <a:r>
              <a:rPr lang="en-US" sz="1500">
                <a:solidFill>
                  <a:srgbClr val="D4D4D4"/>
                </a:solidFill>
                <a:latin typeface="Courier New"/>
                <a:ea typeface="Courier New"/>
                <a:cs typeface="Courier New"/>
              </a:rPr>
              <a:t>.current &lt;= </a:t>
            </a:r>
            <a:r>
              <a:rPr lang="en-US" sz="1500">
                <a:solidFill>
                  <a:srgbClr val="B5CEA8"/>
                </a:solidFill>
                <a:latin typeface="Courier New"/>
                <a:ea typeface="Courier New"/>
                <a:cs typeface="Courier New"/>
              </a:rPr>
              <a:t>0</a:t>
            </a:r>
            <a:r>
              <a:rPr lang="en-US" sz="1500">
                <a:solidFill>
                  <a:srgbClr val="D4D4D4"/>
                </a:solidFill>
                <a:latin typeface="Courier New"/>
                <a:ea typeface="Courier New"/>
                <a:cs typeface="Courier New"/>
              </a:rPr>
              <a:t>:</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raise</a:t>
            </a:r>
            <a:r>
              <a:rPr lang="en-US" sz="1500">
                <a:solidFill>
                  <a:srgbClr val="D4D4D4"/>
                </a:solidFill>
                <a:latin typeface="Courier New"/>
                <a:ea typeface="Courier New"/>
                <a:cs typeface="Courier New"/>
              </a:rPr>
              <a:t> StopIteration</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self</a:t>
            </a:r>
            <a:r>
              <a:rPr lang="en-US" sz="1500">
                <a:solidFill>
                  <a:srgbClr val="D4D4D4"/>
                </a:solidFill>
                <a:latin typeface="Courier New"/>
                <a:ea typeface="Courier New"/>
                <a:cs typeface="Courier New"/>
              </a:rPr>
              <a:t>.current -= </a:t>
            </a:r>
            <a:r>
              <a:rPr lang="en-US" sz="1500">
                <a:solidFill>
                  <a:srgbClr val="B5CEA8"/>
                </a:solidFill>
                <a:latin typeface="Courier New"/>
                <a:ea typeface="Courier New"/>
                <a:cs typeface="Courier New"/>
              </a:rPr>
              <a:t>1</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return</a:t>
            </a: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self</a:t>
            </a:r>
            <a:r>
              <a:rPr lang="en-US" sz="1500">
                <a:solidFill>
                  <a:srgbClr val="D4D4D4"/>
                </a:solidFill>
                <a:latin typeface="Courier New"/>
                <a:ea typeface="Courier New"/>
                <a:cs typeface="Courier New"/>
              </a:rPr>
              <a:t>.current + </a:t>
            </a:r>
            <a:r>
              <a:rPr lang="en-US" sz="1500">
                <a:solidFill>
                  <a:srgbClr val="B5CEA8"/>
                </a:solidFill>
                <a:latin typeface="Courier New"/>
                <a:ea typeface="Courier New"/>
                <a:cs typeface="Courier New"/>
              </a:rPr>
              <a:t>1</a:t>
            </a:r>
            <a:endParaRPr lang="en-US" sz="1500"/>
          </a:p>
          <a:p>
            <a:pPr marL="0" indent="0">
              <a:lnSpc>
                <a:spcPct val="108000"/>
              </a:lnSpc>
              <a:buNone/>
              <a:defRPr/>
            </a:pPr>
            <a:r>
              <a:rPr lang="en-US" sz="1500">
                <a:solidFill>
                  <a:srgbClr val="D4D4D4"/>
                </a:solidFill>
                <a:latin typeface="Courier New"/>
                <a:ea typeface="Courier New"/>
                <a:cs typeface="Courier New"/>
              </a:rPr>
              <a:t> </a:t>
            </a:r>
            <a:endParaRPr lang="en-US" sz="1500"/>
          </a:p>
          <a:p>
            <a:pPr marL="0" indent="0">
              <a:lnSpc>
                <a:spcPct val="108000"/>
              </a:lnSpc>
              <a:buNone/>
              <a:defRPr/>
            </a:pPr>
            <a:r>
              <a:rPr lang="en-US" sz="1500">
                <a:solidFill>
                  <a:srgbClr val="C586C0"/>
                </a:solidFill>
                <a:latin typeface="Courier New"/>
                <a:ea typeface="Courier New"/>
                <a:cs typeface="Courier New"/>
              </a:rPr>
              <a:t>for</a:t>
            </a:r>
            <a:r>
              <a:rPr lang="en-US" sz="1500">
                <a:solidFill>
                  <a:srgbClr val="D4D4D4"/>
                </a:solidFill>
                <a:latin typeface="Courier New"/>
                <a:ea typeface="Courier New"/>
                <a:cs typeface="Courier New"/>
              </a:rPr>
              <a:t> n </a:t>
            </a:r>
            <a:r>
              <a:rPr lang="en-US" sz="1500">
                <a:solidFill>
                  <a:srgbClr val="C586C0"/>
                </a:solidFill>
                <a:latin typeface="Courier New"/>
                <a:ea typeface="Courier New"/>
                <a:cs typeface="Courier New"/>
              </a:rPr>
              <a:t>in</a:t>
            </a:r>
            <a:r>
              <a:rPr lang="en-US" sz="1500">
                <a:solidFill>
                  <a:srgbClr val="D4D4D4"/>
                </a:solidFill>
                <a:latin typeface="Courier New"/>
                <a:ea typeface="Courier New"/>
                <a:cs typeface="Courier New"/>
              </a:rPr>
              <a:t> Countdown(</a:t>
            </a:r>
            <a:r>
              <a:rPr lang="en-US" sz="1500">
                <a:solidFill>
                  <a:srgbClr val="B5CEA8"/>
                </a:solidFill>
                <a:latin typeface="Courier New"/>
                <a:ea typeface="Courier New"/>
                <a:cs typeface="Courier New"/>
              </a:rPr>
              <a:t>3</a:t>
            </a:r>
            <a:r>
              <a:rPr lang="en-US" sz="1500">
                <a:solidFill>
                  <a:srgbClr val="D4D4D4"/>
                </a:solidFill>
                <a:latin typeface="Courier New"/>
                <a:ea typeface="Courier New"/>
                <a:cs typeface="Courier New"/>
              </a:rPr>
              <a:t>):</a:t>
            </a:r>
            <a:endParaRPr lang="en-US" sz="1500"/>
          </a:p>
          <a:p>
            <a:pPr marL="0" indent="0">
              <a:lnSpc>
                <a:spcPct val="108000"/>
              </a:lnSpc>
              <a:buNone/>
              <a:defRPr/>
            </a:pPr>
            <a:r>
              <a:rPr lang="en-US" sz="1500">
                <a:solidFill>
                  <a:srgbClr val="D4D4D4"/>
                </a:solidFill>
                <a:latin typeface="Courier New"/>
                <a:ea typeface="Courier New"/>
                <a:cs typeface="Courier New"/>
              </a:rPr>
              <a:t>    print(n)   </a:t>
            </a:r>
            <a:r>
              <a:rPr lang="en-US" sz="1500" i="1">
                <a:solidFill>
                  <a:srgbClr val="6A9955"/>
                </a:solidFill>
                <a:latin typeface="Courier New"/>
                <a:ea typeface="Courier New"/>
                <a:cs typeface="Courier New"/>
              </a:rPr>
              <a:t># 3, 2, 1</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8">
    <p:bg>
      <p:bgPr shadeToTitle="0">
        <a:solidFill>
          <a:schemeClr val="bg1"/>
        </a:solidFill>
      </p:bgPr>
    </p:bg>
    <p:spTree>
      <p:nvGrpSpPr>
        <p:cNvPr id="1" name=""/>
        <p:cNvGrpSpPr/>
        <p:nvPr/>
      </p:nvGrpSpPr>
      <p:grpSpPr bwMode="auto">
        <a:xfrm>
          <a:off x="0" y="0"/>
          <a:ext cx="0" cy="0"/>
          <a:chOff x="0" y="0"/>
          <a:chExt cx="0" cy="0"/>
        </a:xfrm>
      </p:grpSpPr>
      <p:sp>
        <p:nvSpPr>
          <p:cNvPr id="336285093" name="Text 3"/>
          <p:cNvSpPr/>
          <p:nvPr/>
        </p:nvSpPr>
        <p:spPr bwMode="auto">
          <a:xfrm>
            <a:off x="457200" y="804672"/>
            <a:ext cx="11292840" cy="658368"/>
          </a:xfrm>
          <a:prstGeom prst="rect">
            <a:avLst/>
          </a:prstGeom>
          <a:noFill/>
          <a:ln/>
        </p:spPr>
        <p:txBody>
          <a:bodyPr wrap="square" lIns="0" tIns="0" rIns="0" bIns="0" rtlCol="0" anchor="t"/>
          <a:lstStyle/>
          <a:p>
            <a:pPr marL="0" indent="0" algn="l">
              <a:buNone/>
              <a:defRPr/>
            </a:pPr>
            <a:r>
              <a:rPr lang="en-US" sz="2700" b="1">
                <a:solidFill>
                  <a:srgbClr val="1A1A2E"/>
                </a:solidFill>
                <a:latin typeface="Cambria"/>
                <a:ea typeface="Cambria"/>
                <a:cs typeface="Cambria"/>
              </a:rPr>
              <a:t>Iterators Are Exhausted After One Pass</a:t>
            </a:r>
            <a:endParaRPr lang="en-US" sz="2700"/>
          </a:p>
        </p:txBody>
      </p:sp>
      <p:sp>
        <p:nvSpPr>
          <p:cNvPr id="1140290535" name="Text 7"/>
          <p:cNvSpPr/>
          <p:nvPr/>
        </p:nvSpPr>
        <p:spPr bwMode="auto">
          <a:xfrm>
            <a:off x="522142" y="1481328"/>
            <a:ext cx="11292840" cy="292608"/>
          </a:xfrm>
          <a:prstGeom prst="rect">
            <a:avLst/>
          </a:prstGeom>
          <a:noFill/>
          <a:ln/>
        </p:spPr>
        <p:txBody>
          <a:bodyPr wrap="square" lIns="0" tIns="0" rIns="0" bIns="0" rtlCol="0" anchor="ctr"/>
          <a:lstStyle/>
          <a:p>
            <a:pPr marL="0" indent="0">
              <a:buNone/>
              <a:defRPr/>
            </a:pPr>
            <a:r>
              <a:rPr lang="en-US" sz="1200" b="1" spc="99">
                <a:solidFill>
                  <a:srgbClr val="FF0000"/>
                </a:solidFill>
                <a:latin typeface="Calibri"/>
                <a:ea typeface="Calibri"/>
                <a:cs typeface="Calibri"/>
              </a:rPr>
              <a:t>⚠ Pay attention</a:t>
            </a:r>
            <a:endParaRPr sz="1200">
              <a:solidFill>
                <a:srgbClr val="FF0000"/>
              </a:solidFill>
            </a:endParaRPr>
          </a:p>
        </p:txBody>
      </p:sp>
      <p:sp>
        <p:nvSpPr>
          <p:cNvPr id="315809149" name="Shape 8"/>
          <p:cNvSpPr/>
          <p:nvPr/>
        </p:nvSpPr>
        <p:spPr bwMode="auto">
          <a:xfrm flipH="0" flipV="0">
            <a:off x="457197" y="1920240"/>
            <a:ext cx="11292840" cy="1601595"/>
          </a:xfrm>
          <a:prstGeom prst="roundRect">
            <a:avLst>
              <a:gd name="adj" fmla="val 3200"/>
            </a:avLst>
          </a:prstGeom>
          <a:solidFill>
            <a:srgbClr val="241512"/>
          </a:solidFill>
          <a:ln w="12700">
            <a:solidFill>
              <a:srgbClr val="000000"/>
            </a:solidFill>
            <a:prstDash val="solid"/>
          </a:ln>
        </p:spPr>
      </p:sp>
      <p:sp>
        <p:nvSpPr>
          <p:cNvPr id="1540976160" name="Text 9"/>
          <p:cNvSpPr/>
          <p:nvPr/>
        </p:nvSpPr>
        <p:spPr bwMode="auto">
          <a:xfrm>
            <a:off x="658368" y="2066544"/>
            <a:ext cx="10890504" cy="2029968"/>
          </a:xfrm>
          <a:prstGeom prst="rect">
            <a:avLst/>
          </a:prstGeom>
          <a:noFill/>
          <a:ln/>
        </p:spPr>
        <p:txBody>
          <a:bodyPr wrap="square" lIns="0" tIns="0" rIns="0" bIns="0" rtlCol="0" anchor="t"/>
          <a:lstStyle/>
          <a:p>
            <a:pPr marL="0" indent="0">
              <a:lnSpc>
                <a:spcPct val="108000"/>
              </a:lnSpc>
              <a:buNone/>
              <a:defRPr/>
            </a:pPr>
            <a:r>
              <a:rPr lang="en-US" sz="1500">
                <a:solidFill>
                  <a:srgbClr val="D4D4D4"/>
                </a:solidFill>
                <a:latin typeface="Courier New"/>
                <a:ea typeface="Courier New"/>
                <a:cs typeface="Courier New"/>
              </a:rPr>
              <a:t>numbers = iter([</a:t>
            </a:r>
            <a:r>
              <a:rPr lang="en-US" sz="1500">
                <a:solidFill>
                  <a:srgbClr val="B5CEA8"/>
                </a:solidFill>
                <a:latin typeface="Courier New"/>
                <a:ea typeface="Courier New"/>
                <a:cs typeface="Courier New"/>
              </a:rPr>
              <a:t>1</a:t>
            </a:r>
            <a:r>
              <a:rPr lang="en-US" sz="1500">
                <a:solidFill>
                  <a:srgbClr val="D4D4D4"/>
                </a:solidFill>
                <a:latin typeface="Courier New"/>
                <a:ea typeface="Courier New"/>
                <a:cs typeface="Courier New"/>
              </a:rPr>
              <a:t>, </a:t>
            </a:r>
            <a:r>
              <a:rPr lang="en-US" sz="1500">
                <a:solidFill>
                  <a:srgbClr val="B5CEA8"/>
                </a:solidFill>
                <a:latin typeface="Courier New"/>
                <a:ea typeface="Courier New"/>
                <a:cs typeface="Courier New"/>
              </a:rPr>
              <a:t>2</a:t>
            </a:r>
            <a:r>
              <a:rPr lang="en-US" sz="1500">
                <a:solidFill>
                  <a:srgbClr val="D4D4D4"/>
                </a:solidFill>
                <a:latin typeface="Courier New"/>
                <a:ea typeface="Courier New"/>
                <a:cs typeface="Courier New"/>
              </a:rPr>
              <a:t>, </a:t>
            </a:r>
            <a:r>
              <a:rPr lang="en-US" sz="1500">
                <a:solidFill>
                  <a:srgbClr val="B5CEA8"/>
                </a:solidFill>
                <a:latin typeface="Courier New"/>
                <a:ea typeface="Courier New"/>
                <a:cs typeface="Courier New"/>
              </a:rPr>
              <a:t>3</a:t>
            </a:r>
            <a:r>
              <a:rPr lang="en-US" sz="1500">
                <a:solidFill>
                  <a:srgbClr val="D4D4D4"/>
                </a:solidFill>
                <a:latin typeface="Courier New"/>
                <a:ea typeface="Courier New"/>
                <a:cs typeface="Courier New"/>
              </a:rPr>
              <a:t>])</a:t>
            </a:r>
            <a:endParaRPr lang="en-US" sz="1500"/>
          </a:p>
          <a:p>
            <a:pPr marL="0" indent="0">
              <a:lnSpc>
                <a:spcPct val="108000"/>
              </a:lnSpc>
              <a:buNone/>
              <a:defRPr/>
            </a:pPr>
            <a:r>
              <a:rPr lang="en-US" sz="1500">
                <a:solidFill>
                  <a:srgbClr val="D4D4D4"/>
                </a:solidFill>
                <a:latin typeface="Courier New"/>
                <a:ea typeface="Courier New"/>
                <a:cs typeface="Courier New"/>
              </a:rPr>
              <a:t>print(list(numbers))   </a:t>
            </a:r>
            <a:r>
              <a:rPr lang="en-US" sz="1500" i="1">
                <a:solidFill>
                  <a:srgbClr val="6A9955"/>
                </a:solidFill>
                <a:latin typeface="Courier New"/>
                <a:ea typeface="Courier New"/>
                <a:cs typeface="Courier New"/>
              </a:rPr>
              <a:t># [1, 2, 3]</a:t>
            </a:r>
            <a:endParaRPr lang="en-US" sz="1500"/>
          </a:p>
          <a:p>
            <a:pPr marL="0" indent="0">
              <a:lnSpc>
                <a:spcPct val="108000"/>
              </a:lnSpc>
              <a:buNone/>
              <a:defRPr/>
            </a:pPr>
            <a:r>
              <a:rPr lang="en-US" sz="1500">
                <a:solidFill>
                  <a:srgbClr val="D4D4D4"/>
                </a:solidFill>
                <a:latin typeface="Courier New"/>
                <a:ea typeface="Courier New"/>
                <a:cs typeface="Courier New"/>
              </a:rPr>
              <a:t>print(list(numbers))   </a:t>
            </a:r>
            <a:r>
              <a:rPr lang="en-US" sz="1500" i="1">
                <a:solidFill>
                  <a:srgbClr val="6A9955"/>
                </a:solidFill>
                <a:latin typeface="Courier New"/>
                <a:ea typeface="Courier New"/>
                <a:cs typeface="Courier New"/>
              </a:rPr>
              <a:t># []  &lt;- already exhausted!</a:t>
            </a:r>
            <a:endParaRPr lang="en-US" sz="1500"/>
          </a:p>
        </p:txBody>
      </p:sp>
      <p:sp>
        <p:nvSpPr>
          <p:cNvPr id="1459407203" name="Text 10"/>
          <p:cNvSpPr/>
          <p:nvPr/>
        </p:nvSpPr>
        <p:spPr bwMode="auto">
          <a:xfrm flipH="0" flipV="0">
            <a:off x="457200" y="3820032"/>
            <a:ext cx="11292840" cy="529715"/>
          </a:xfrm>
          <a:prstGeom prst="rect">
            <a:avLst/>
          </a:prstGeom>
          <a:noFill/>
          <a:ln/>
        </p:spPr>
        <p:txBody>
          <a:bodyPr wrap="square" lIns="0" tIns="0" rIns="0" bIns="0" rtlCol="0" anchor="t"/>
          <a:lstStyle/>
          <a:p>
            <a:pPr marL="228600" indent="-228600">
              <a:lnSpc>
                <a:spcPct val="110000"/>
              </a:lnSpc>
              <a:spcAft>
                <a:spcPts val="999"/>
              </a:spcAft>
              <a:buSzPct val="100000"/>
              <a:buChar char="●"/>
              <a:defRPr/>
            </a:pPr>
            <a:r>
              <a:rPr lang="en-US" sz="1400">
                <a:solidFill>
                  <a:srgbClr val="5C3A2E"/>
                </a:solidFill>
                <a:latin typeface="Calibri"/>
                <a:ea typeface="Calibri"/>
                <a:cs typeface="Calibri"/>
              </a:rPr>
              <a:t>Unlike lists, an iterator has no "reset". Once consumed, it's empty.</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9">
    <p:bg>
      <p:bgPr shadeToTitle="0">
        <a:solidFill>
          <a:srgbClr val="F7F7FB"/>
        </a:solidFill>
      </p:bgPr>
    </p:bg>
    <p:spTree>
      <p:nvGrpSpPr>
        <p:cNvPr id="1" name=""/>
        <p:cNvGrpSpPr/>
        <p:nvPr/>
      </p:nvGrpSpPr>
      <p:grpSpPr bwMode="auto">
        <a:xfrm>
          <a:off x="0" y="0"/>
          <a:ext cx="0" cy="0"/>
          <a:chOff x="0" y="0"/>
          <a:chExt cx="0" cy="0"/>
        </a:xfrm>
      </p:grpSpPr>
      <p:sp>
        <p:nvSpPr>
          <p:cNvPr id="279015107" name="Shape 0"/>
          <p:cNvSpPr/>
          <p:nvPr/>
        </p:nvSpPr>
        <p:spPr bwMode="auto">
          <a:xfrm>
            <a:off x="457200" y="384048"/>
            <a:ext cx="1417320" cy="329184"/>
          </a:xfrm>
          <a:prstGeom prst="roundRect">
            <a:avLst>
              <a:gd name="adj" fmla="val 50000"/>
            </a:avLst>
          </a:prstGeom>
          <a:solidFill>
            <a:srgbClr val="7D6CF7"/>
          </a:solidFill>
          <a:ln w="12700">
            <a:solidFill>
              <a:srgbClr val="000000"/>
            </a:solidFill>
            <a:prstDash val="solid"/>
          </a:ln>
        </p:spPr>
      </p:sp>
      <p:sp>
        <p:nvSpPr>
          <p:cNvPr id="300861519" name="Text 1"/>
          <p:cNvSpPr/>
          <p:nvPr/>
        </p:nvSpPr>
        <p:spPr bwMode="auto">
          <a:xfrm>
            <a:off x="457200" y="384048"/>
            <a:ext cx="1417320" cy="329184"/>
          </a:xfrm>
          <a:prstGeom prst="rect">
            <a:avLst/>
          </a:prstGeom>
          <a:noFill/>
          <a:ln/>
        </p:spPr>
        <p:txBody>
          <a:bodyPr wrap="square" lIns="0" tIns="0" rIns="0" bIns="0" rtlCol="0" anchor="ctr"/>
          <a:lstStyle/>
          <a:p>
            <a:pPr marL="0" indent="0" algn="ctr">
              <a:buNone/>
              <a:defRPr/>
            </a:pPr>
            <a:r>
              <a:rPr lang="en-US" sz="1100" b="1" spc="99">
                <a:solidFill>
                  <a:srgbClr val="FFFFFF"/>
                </a:solidFill>
                <a:latin typeface="Calibri"/>
                <a:ea typeface="Calibri"/>
                <a:cs typeface="Calibri"/>
              </a:rPr>
              <a:t>THEORY</a:t>
            </a:r>
            <a:endParaRPr lang="en-US" sz="1100"/>
          </a:p>
        </p:txBody>
      </p:sp>
      <p:sp>
        <p:nvSpPr>
          <p:cNvPr id="1171405148" name="Text 3"/>
          <p:cNvSpPr/>
          <p:nvPr/>
        </p:nvSpPr>
        <p:spPr bwMode="auto">
          <a:xfrm>
            <a:off x="457200" y="804672"/>
            <a:ext cx="11292840" cy="658368"/>
          </a:xfrm>
          <a:prstGeom prst="rect">
            <a:avLst/>
          </a:prstGeom>
          <a:noFill/>
          <a:ln/>
        </p:spPr>
        <p:txBody>
          <a:bodyPr wrap="square" lIns="0" tIns="0" rIns="0" bIns="0" rtlCol="0" anchor="t"/>
          <a:lstStyle/>
          <a:p>
            <a:pPr marL="0" indent="0" algn="l">
              <a:buNone/>
              <a:defRPr/>
            </a:pPr>
            <a:r>
              <a:rPr lang="en-US" sz="2700" b="1">
                <a:solidFill>
                  <a:srgbClr val="1A1A2E"/>
                </a:solidFill>
                <a:latin typeface="Cambria"/>
                <a:ea typeface="Cambria"/>
                <a:cs typeface="Cambria"/>
              </a:rPr>
              <a:t>Generators — Functions That Pause</a:t>
            </a:r>
            <a:endParaRPr lang="en-US" sz="2700"/>
          </a:p>
        </p:txBody>
      </p:sp>
      <p:sp>
        <p:nvSpPr>
          <p:cNvPr id="1265427499" name="Text 7"/>
          <p:cNvSpPr/>
          <p:nvPr/>
        </p:nvSpPr>
        <p:spPr bwMode="auto">
          <a:xfrm flipH="0" flipV="0">
            <a:off x="457198" y="1645920"/>
            <a:ext cx="11292840" cy="1783080"/>
          </a:xfrm>
          <a:prstGeom prst="rect">
            <a:avLst/>
          </a:prstGeom>
          <a:noFill/>
          <a:ln/>
        </p:spPr>
        <p:txBody>
          <a:bodyPr wrap="square" lIns="0" tIns="0" rIns="0" bIns="0" rtlCol="0" anchor="t"/>
          <a:lstStyle/>
          <a:p>
            <a:pPr marL="228600" indent="-228600">
              <a:lnSpc>
                <a:spcPct val="114999"/>
              </a:lnSpc>
              <a:spcAft>
                <a:spcPts val="998"/>
              </a:spcAft>
              <a:buSzPct val="100000"/>
              <a:buChar char="●"/>
              <a:defRPr/>
            </a:pPr>
            <a:r>
              <a:rPr sz="1600" b="0" i="0" u="none">
                <a:solidFill>
                  <a:srgbClr val="000000"/>
                </a:solidFill>
                <a:latin typeface="Roboto"/>
                <a:ea typeface="Roboto"/>
                <a:cs typeface="Roboto"/>
              </a:rPr>
              <a:t>Generators are </a:t>
            </a:r>
            <a:r>
              <a:rPr sz="1600" b="0" i="0" u="none">
                <a:solidFill>
                  <a:srgbClr val="000000"/>
                </a:solidFill>
                <a:latin typeface="Roboto"/>
                <a:ea typeface="Roboto"/>
                <a:cs typeface="Roboto"/>
              </a:rPr>
              <a:t>the easiest and most common way to create Iterators in Python</a:t>
            </a:r>
            <a:r>
              <a:rPr sz="1600" b="0" i="0" u="none">
                <a:solidFill>
                  <a:srgbClr val="000000"/>
                </a:solidFill>
                <a:latin typeface="Roboto"/>
                <a:ea typeface="Roboto"/>
                <a:cs typeface="Roboto"/>
              </a:rPr>
              <a:t>.</a:t>
            </a:r>
            <a:endParaRPr sz="1600" b="0">
              <a:latin typeface="Roboto"/>
              <a:cs typeface="Roboto"/>
            </a:endParaRPr>
          </a:p>
          <a:p>
            <a:pPr marL="228600" indent="-228600">
              <a:lnSpc>
                <a:spcPct val="114999"/>
              </a:lnSpc>
              <a:spcAft>
                <a:spcPts val="999"/>
              </a:spcAft>
              <a:buSzPct val="100000"/>
              <a:buChar char="●"/>
              <a:defRPr/>
            </a:pPr>
            <a:r>
              <a:rPr lang="en-US" sz="1600">
                <a:solidFill>
                  <a:srgbClr val="1A1A2E"/>
                </a:solidFill>
                <a:latin typeface="Roboto"/>
                <a:ea typeface="Roboto"/>
                <a:cs typeface="Roboto"/>
              </a:rPr>
              <a:t>A generator function uses yield instead of return.</a:t>
            </a:r>
            <a:endParaRPr sz="1600">
              <a:solidFill>
                <a:srgbClr val="1A1A2E"/>
              </a:solidFill>
              <a:latin typeface="Roboto"/>
              <a:cs typeface="Roboto"/>
            </a:endParaRPr>
          </a:p>
          <a:p>
            <a:pPr marL="228600" indent="-228600">
              <a:lnSpc>
                <a:spcPct val="114999"/>
              </a:lnSpc>
              <a:spcAft>
                <a:spcPts val="999"/>
              </a:spcAft>
              <a:buSzPct val="100000"/>
              <a:buChar char="●"/>
              <a:defRPr/>
            </a:pPr>
            <a:r>
              <a:rPr lang="en-US" sz="1600">
                <a:solidFill>
                  <a:srgbClr val="1A1A2E"/>
                </a:solidFill>
                <a:latin typeface="Roboto"/>
                <a:ea typeface="Roboto"/>
                <a:cs typeface="Roboto"/>
              </a:rPr>
              <a:t>Calling it doesn't run the function body — it returns a generator object.</a:t>
            </a:r>
            <a:endParaRPr sz="1600">
              <a:latin typeface="Roboto"/>
              <a:cs typeface="Roboto"/>
            </a:endParaRPr>
          </a:p>
          <a:p>
            <a:pPr marL="228600" indent="-228600">
              <a:lnSpc>
                <a:spcPct val="114999"/>
              </a:lnSpc>
              <a:spcAft>
                <a:spcPts val="999"/>
              </a:spcAft>
              <a:buSzPct val="100000"/>
              <a:buChar char="●"/>
              <a:defRPr/>
            </a:pPr>
            <a:r>
              <a:rPr lang="en-US" sz="1600">
                <a:solidFill>
                  <a:srgbClr val="1A1A2E"/>
                </a:solidFill>
                <a:latin typeface="Roboto"/>
                <a:ea typeface="Roboto"/>
                <a:cs typeface="Roboto"/>
              </a:rPr>
              <a:t>Each call to next() runs the function until the next yield, then pauses, keeping all local state.</a:t>
            </a:r>
            <a:endParaRPr sz="1600">
              <a:latin typeface="Roboto"/>
              <a:cs typeface="Roboto"/>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0">
    <p:bg>
      <p:bgPr shadeToTitle="0">
        <a:solidFill>
          <a:srgbClr val="252538"/>
        </a:solidFill>
      </p:bgPr>
    </p:bg>
    <p:spTree>
      <p:nvGrpSpPr>
        <p:cNvPr id="1" name=""/>
        <p:cNvGrpSpPr/>
        <p:nvPr/>
      </p:nvGrpSpPr>
      <p:grpSpPr bwMode="auto">
        <a:xfrm>
          <a:off x="0" y="0"/>
          <a:ext cx="0" cy="0"/>
          <a:chOff x="0" y="0"/>
          <a:chExt cx="0" cy="0"/>
        </a:xfrm>
      </p:grpSpPr>
      <p:sp>
        <p:nvSpPr>
          <p:cNvPr id="467000372" name="Shape 0"/>
          <p:cNvSpPr/>
          <p:nvPr/>
        </p:nvSpPr>
        <p:spPr bwMode="auto">
          <a:xfrm>
            <a:off x="457200" y="384048"/>
            <a:ext cx="1417320" cy="329184"/>
          </a:xfrm>
          <a:prstGeom prst="roundRect">
            <a:avLst>
              <a:gd name="adj" fmla="val 50000"/>
            </a:avLst>
          </a:prstGeom>
          <a:solidFill>
            <a:srgbClr val="7D6CF7"/>
          </a:solidFill>
          <a:ln w="12700">
            <a:solidFill>
              <a:srgbClr val="000000"/>
            </a:solidFill>
            <a:prstDash val="solid"/>
          </a:ln>
        </p:spPr>
      </p:sp>
      <p:sp>
        <p:nvSpPr>
          <p:cNvPr id="220424330" name="Text 1"/>
          <p:cNvSpPr/>
          <p:nvPr/>
        </p:nvSpPr>
        <p:spPr bwMode="auto">
          <a:xfrm>
            <a:off x="457200" y="384048"/>
            <a:ext cx="1417320" cy="329184"/>
          </a:xfrm>
          <a:prstGeom prst="rect">
            <a:avLst/>
          </a:prstGeom>
          <a:noFill/>
          <a:ln/>
        </p:spPr>
        <p:txBody>
          <a:bodyPr wrap="square" lIns="0" tIns="0" rIns="0" bIns="0" rtlCol="0" anchor="ctr"/>
          <a:lstStyle/>
          <a:p>
            <a:pPr marL="0" indent="0" algn="ctr">
              <a:buNone/>
              <a:defRPr/>
            </a:pPr>
            <a:r>
              <a:rPr lang="en-US" sz="1100" b="1" spc="99">
                <a:solidFill>
                  <a:srgbClr val="FFFFFF"/>
                </a:solidFill>
                <a:latin typeface="Calibri"/>
                <a:ea typeface="Calibri"/>
                <a:cs typeface="Calibri"/>
              </a:rPr>
              <a:t>CODE</a:t>
            </a:r>
            <a:endParaRPr lang="en-US" sz="1100"/>
          </a:p>
        </p:txBody>
      </p:sp>
      <p:sp>
        <p:nvSpPr>
          <p:cNvPr id="661709106" name="Text 3"/>
          <p:cNvSpPr/>
          <p:nvPr/>
        </p:nvSpPr>
        <p:spPr bwMode="auto">
          <a:xfrm>
            <a:off x="457200" y="804672"/>
            <a:ext cx="11292840" cy="658368"/>
          </a:xfrm>
          <a:prstGeom prst="rect">
            <a:avLst/>
          </a:prstGeom>
          <a:noFill/>
          <a:ln/>
        </p:spPr>
        <p:txBody>
          <a:bodyPr wrap="square" lIns="0" tIns="0" rIns="0" bIns="0" rtlCol="0" anchor="t"/>
          <a:lstStyle/>
          <a:p>
            <a:pPr marL="0" indent="0" algn="l">
              <a:buNone/>
              <a:defRPr/>
            </a:pPr>
            <a:r>
              <a:rPr lang="en-US" sz="2700" b="1">
                <a:solidFill>
                  <a:srgbClr val="FFFFFF"/>
                </a:solidFill>
                <a:latin typeface="Cambria"/>
                <a:ea typeface="Cambria"/>
                <a:cs typeface="Cambria"/>
              </a:rPr>
              <a:t>Your First Generator</a:t>
            </a:r>
            <a:endParaRPr lang="en-US" sz="2700"/>
          </a:p>
        </p:txBody>
      </p:sp>
      <p:sp>
        <p:nvSpPr>
          <p:cNvPr id="904623724" name="Shape 7"/>
          <p:cNvSpPr/>
          <p:nvPr/>
        </p:nvSpPr>
        <p:spPr bwMode="auto">
          <a:xfrm>
            <a:off x="457200" y="1600200"/>
            <a:ext cx="11292840" cy="4617720"/>
          </a:xfrm>
          <a:prstGeom prst="roundRect">
            <a:avLst>
              <a:gd name="adj" fmla="val 1584"/>
            </a:avLst>
          </a:prstGeom>
          <a:solidFill>
            <a:srgbClr val="1E1E2E"/>
          </a:solidFill>
          <a:ln w="12700">
            <a:solidFill>
              <a:srgbClr val="000000"/>
            </a:solidFill>
            <a:prstDash val="solid"/>
          </a:ln>
        </p:spPr>
      </p:sp>
      <p:sp>
        <p:nvSpPr>
          <p:cNvPr id="1020439669" name="Text 8"/>
          <p:cNvSpPr/>
          <p:nvPr/>
        </p:nvSpPr>
        <p:spPr bwMode="auto">
          <a:xfrm>
            <a:off x="658368" y="1728216"/>
            <a:ext cx="10890504" cy="4361688"/>
          </a:xfrm>
          <a:prstGeom prst="rect">
            <a:avLst/>
          </a:prstGeom>
          <a:noFill/>
          <a:ln/>
        </p:spPr>
        <p:txBody>
          <a:bodyPr wrap="square" lIns="0" tIns="0" rIns="0" bIns="0" rtlCol="0" anchor="t"/>
          <a:lstStyle/>
          <a:p>
            <a:pPr marL="0" indent="0">
              <a:lnSpc>
                <a:spcPct val="108000"/>
              </a:lnSpc>
              <a:buNone/>
              <a:defRPr/>
            </a:pPr>
            <a:r>
              <a:rPr lang="en-US" sz="1500">
                <a:solidFill>
                  <a:srgbClr val="C586C0"/>
                </a:solidFill>
                <a:latin typeface="Courier New"/>
                <a:ea typeface="Courier New"/>
                <a:cs typeface="Courier New"/>
              </a:rPr>
              <a:t>def</a:t>
            </a:r>
            <a:r>
              <a:rPr lang="en-US" sz="1500">
                <a:solidFill>
                  <a:srgbClr val="D4D4D4"/>
                </a:solidFill>
                <a:latin typeface="Courier New"/>
                <a:ea typeface="Courier New"/>
                <a:cs typeface="Courier New"/>
              </a:rPr>
              <a:t> countdown(n):</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while</a:t>
            </a:r>
            <a:r>
              <a:rPr lang="en-US" sz="1500">
                <a:solidFill>
                  <a:srgbClr val="D4D4D4"/>
                </a:solidFill>
                <a:latin typeface="Courier New"/>
                <a:ea typeface="Courier New"/>
                <a:cs typeface="Courier New"/>
              </a:rPr>
              <a:t> n &gt; </a:t>
            </a:r>
            <a:r>
              <a:rPr lang="en-US" sz="1500">
                <a:solidFill>
                  <a:srgbClr val="B5CEA8"/>
                </a:solidFill>
                <a:latin typeface="Courier New"/>
                <a:ea typeface="Courier New"/>
                <a:cs typeface="Courier New"/>
              </a:rPr>
              <a:t>0</a:t>
            </a:r>
            <a:r>
              <a:rPr lang="en-US" sz="1500">
                <a:solidFill>
                  <a:srgbClr val="D4D4D4"/>
                </a:solidFill>
                <a:latin typeface="Courier New"/>
                <a:ea typeface="Courier New"/>
                <a:cs typeface="Courier New"/>
              </a:rPr>
              <a:t>:</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yield</a:t>
            </a:r>
            <a:r>
              <a:rPr lang="en-US" sz="1500">
                <a:solidFill>
                  <a:srgbClr val="D4D4D4"/>
                </a:solidFill>
                <a:latin typeface="Courier New"/>
                <a:ea typeface="Courier New"/>
                <a:cs typeface="Courier New"/>
              </a:rPr>
              <a:t> n</a:t>
            </a:r>
            <a:endParaRPr lang="en-US" sz="1500"/>
          </a:p>
          <a:p>
            <a:pPr marL="0" indent="0">
              <a:lnSpc>
                <a:spcPct val="108000"/>
              </a:lnSpc>
              <a:buNone/>
              <a:defRPr/>
            </a:pPr>
            <a:r>
              <a:rPr lang="en-US" sz="1500">
                <a:solidFill>
                  <a:srgbClr val="D4D4D4"/>
                </a:solidFill>
                <a:latin typeface="Courier New"/>
                <a:ea typeface="Courier New"/>
                <a:cs typeface="Courier New"/>
              </a:rPr>
              <a:t>        n -= </a:t>
            </a:r>
            <a:r>
              <a:rPr lang="en-US" sz="1500">
                <a:solidFill>
                  <a:srgbClr val="B5CEA8"/>
                </a:solidFill>
                <a:latin typeface="Courier New"/>
                <a:ea typeface="Courier New"/>
                <a:cs typeface="Courier New"/>
              </a:rPr>
              <a:t>1</a:t>
            </a:r>
            <a:endParaRPr lang="en-US" sz="1500"/>
          </a:p>
          <a:p>
            <a:pPr marL="0" indent="0">
              <a:lnSpc>
                <a:spcPct val="108000"/>
              </a:lnSpc>
              <a:buNone/>
              <a:defRPr/>
            </a:pPr>
            <a:r>
              <a:rPr lang="en-US" sz="1500">
                <a:solidFill>
                  <a:srgbClr val="D4D4D4"/>
                </a:solidFill>
                <a:latin typeface="Courier New"/>
                <a:ea typeface="Courier New"/>
                <a:cs typeface="Courier New"/>
              </a:rPr>
              <a:t> </a:t>
            </a:r>
            <a:endParaRPr lang="en-US" sz="1500"/>
          </a:p>
          <a:p>
            <a:pPr marL="0" indent="0">
              <a:lnSpc>
                <a:spcPct val="108000"/>
              </a:lnSpc>
              <a:buNone/>
              <a:defRPr/>
            </a:pPr>
            <a:r>
              <a:rPr lang="en-US" sz="1500">
                <a:solidFill>
                  <a:srgbClr val="D4D4D4"/>
                </a:solidFill>
                <a:latin typeface="Courier New"/>
                <a:ea typeface="Courier New"/>
                <a:cs typeface="Courier New"/>
              </a:rPr>
              <a:t>gen = countdown(</a:t>
            </a:r>
            <a:r>
              <a:rPr lang="en-US" sz="1500">
                <a:solidFill>
                  <a:srgbClr val="B5CEA8"/>
                </a:solidFill>
                <a:latin typeface="Courier New"/>
                <a:ea typeface="Courier New"/>
                <a:cs typeface="Courier New"/>
              </a:rPr>
              <a:t>3</a:t>
            </a:r>
            <a:r>
              <a:rPr lang="en-US" sz="1500">
                <a:solidFill>
                  <a:srgbClr val="D4D4D4"/>
                </a:solidFill>
                <a:latin typeface="Courier New"/>
                <a:ea typeface="Courier New"/>
                <a:cs typeface="Courier New"/>
              </a:rPr>
              <a:t>)</a:t>
            </a:r>
            <a:endParaRPr lang="en-US" sz="1500"/>
          </a:p>
          <a:p>
            <a:pPr marL="0" indent="0">
              <a:lnSpc>
                <a:spcPct val="108000"/>
              </a:lnSpc>
              <a:buNone/>
              <a:defRPr/>
            </a:pPr>
            <a:r>
              <a:rPr lang="en-US" sz="1500">
                <a:solidFill>
                  <a:srgbClr val="D4D4D4"/>
                </a:solidFill>
                <a:latin typeface="Courier New"/>
                <a:ea typeface="Courier New"/>
                <a:cs typeface="Courier New"/>
              </a:rPr>
              <a:t>print(next(gen))   </a:t>
            </a:r>
            <a:r>
              <a:rPr lang="en-US" sz="1500" i="1">
                <a:solidFill>
                  <a:srgbClr val="6A9955"/>
                </a:solidFill>
                <a:latin typeface="Courier New"/>
                <a:ea typeface="Courier New"/>
                <a:cs typeface="Courier New"/>
              </a:rPr>
              <a:t># 3</a:t>
            </a:r>
            <a:endParaRPr lang="en-US" sz="1500"/>
          </a:p>
          <a:p>
            <a:pPr marL="0" indent="0">
              <a:lnSpc>
                <a:spcPct val="108000"/>
              </a:lnSpc>
              <a:buNone/>
              <a:defRPr/>
            </a:pPr>
            <a:r>
              <a:rPr lang="en-US" sz="1500">
                <a:solidFill>
                  <a:srgbClr val="D4D4D4"/>
                </a:solidFill>
                <a:latin typeface="Courier New"/>
                <a:ea typeface="Courier New"/>
                <a:cs typeface="Courier New"/>
              </a:rPr>
              <a:t>print(next(gen))   </a:t>
            </a:r>
            <a:r>
              <a:rPr lang="en-US" sz="1500" i="1">
                <a:solidFill>
                  <a:srgbClr val="6A9955"/>
                </a:solidFill>
                <a:latin typeface="Courier New"/>
                <a:ea typeface="Courier New"/>
                <a:cs typeface="Courier New"/>
              </a:rPr>
              <a:t># 2</a:t>
            </a:r>
            <a:endParaRPr lang="en-US" sz="1500"/>
          </a:p>
          <a:p>
            <a:pPr marL="0" indent="0">
              <a:lnSpc>
                <a:spcPct val="108000"/>
              </a:lnSpc>
              <a:buNone/>
              <a:defRPr/>
            </a:pPr>
            <a:r>
              <a:rPr lang="en-US" sz="1500">
                <a:solidFill>
                  <a:srgbClr val="D4D4D4"/>
                </a:solidFill>
                <a:latin typeface="Courier New"/>
                <a:ea typeface="Courier New"/>
                <a:cs typeface="Courier New"/>
              </a:rPr>
              <a:t>print(next(gen))   </a:t>
            </a:r>
            <a:r>
              <a:rPr lang="en-US" sz="1500" i="1">
                <a:solidFill>
                  <a:srgbClr val="6A9955"/>
                </a:solidFill>
                <a:latin typeface="Courier New"/>
                <a:ea typeface="Courier New"/>
                <a:cs typeface="Courier New"/>
              </a:rPr>
              <a:t># 1</a:t>
            </a:r>
            <a:endParaRPr lang="en-US" sz="1500"/>
          </a:p>
          <a:p>
            <a:pPr marL="0" indent="0">
              <a:lnSpc>
                <a:spcPct val="108000"/>
              </a:lnSpc>
              <a:buNone/>
              <a:defRPr/>
            </a:pPr>
            <a:r>
              <a:rPr lang="en-US" sz="1500">
                <a:solidFill>
                  <a:srgbClr val="D4D4D4"/>
                </a:solidFill>
                <a:latin typeface="Courier New"/>
                <a:ea typeface="Courier New"/>
                <a:cs typeface="Courier New"/>
              </a:rPr>
              <a:t>print(next(gen))   </a:t>
            </a:r>
            <a:r>
              <a:rPr lang="en-US" sz="1500" i="1">
                <a:solidFill>
                  <a:srgbClr val="6A9955"/>
                </a:solidFill>
                <a:latin typeface="Courier New"/>
                <a:ea typeface="Courier New"/>
                <a:cs typeface="Courier New"/>
              </a:rPr>
              <a:t># StopIteration</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1">
    <p:bg>
      <p:bgPr shadeToTitle="0">
        <a:solidFill>
          <a:srgbClr val="F7F7FB"/>
        </a:solidFill>
      </p:bgPr>
    </p:bg>
    <p:spTree>
      <p:nvGrpSpPr>
        <p:cNvPr id="1" name=""/>
        <p:cNvGrpSpPr/>
        <p:nvPr/>
      </p:nvGrpSpPr>
      <p:grpSpPr bwMode="auto">
        <a:xfrm>
          <a:off x="0" y="0"/>
          <a:ext cx="0" cy="0"/>
          <a:chOff x="0" y="0"/>
          <a:chExt cx="0" cy="0"/>
        </a:xfrm>
      </p:grpSpPr>
      <p:sp>
        <p:nvSpPr>
          <p:cNvPr id="724679295" name="Shape 0"/>
          <p:cNvSpPr/>
          <p:nvPr/>
        </p:nvSpPr>
        <p:spPr bwMode="auto">
          <a:xfrm>
            <a:off x="457200" y="384048"/>
            <a:ext cx="1417320" cy="329184"/>
          </a:xfrm>
          <a:prstGeom prst="roundRect">
            <a:avLst>
              <a:gd name="adj" fmla="val 50000"/>
            </a:avLst>
          </a:prstGeom>
          <a:solidFill>
            <a:srgbClr val="7D6CF7"/>
          </a:solidFill>
          <a:ln w="12700">
            <a:solidFill>
              <a:srgbClr val="000000"/>
            </a:solidFill>
            <a:prstDash val="solid"/>
          </a:ln>
        </p:spPr>
      </p:sp>
      <p:sp>
        <p:nvSpPr>
          <p:cNvPr id="863484810" name="Text 1"/>
          <p:cNvSpPr/>
          <p:nvPr/>
        </p:nvSpPr>
        <p:spPr bwMode="auto">
          <a:xfrm>
            <a:off x="457200" y="384048"/>
            <a:ext cx="1417320" cy="329184"/>
          </a:xfrm>
          <a:prstGeom prst="rect">
            <a:avLst/>
          </a:prstGeom>
          <a:noFill/>
          <a:ln/>
        </p:spPr>
        <p:txBody>
          <a:bodyPr wrap="square" lIns="0" tIns="0" rIns="0" bIns="0" rtlCol="0" anchor="ctr"/>
          <a:lstStyle/>
          <a:p>
            <a:pPr marL="0" indent="0" algn="ctr">
              <a:buNone/>
              <a:defRPr/>
            </a:pPr>
            <a:r>
              <a:rPr lang="en-US" sz="1100" b="1" spc="99">
                <a:solidFill>
                  <a:srgbClr val="FFFFFF"/>
                </a:solidFill>
                <a:latin typeface="Calibri"/>
                <a:ea typeface="Calibri"/>
                <a:cs typeface="Calibri"/>
              </a:rPr>
              <a:t>THEORY</a:t>
            </a:r>
            <a:endParaRPr lang="en-US" sz="1100"/>
          </a:p>
        </p:txBody>
      </p:sp>
      <p:sp>
        <p:nvSpPr>
          <p:cNvPr id="1048612625" name="Text 3"/>
          <p:cNvSpPr/>
          <p:nvPr/>
        </p:nvSpPr>
        <p:spPr bwMode="auto">
          <a:xfrm>
            <a:off x="438910" y="804672"/>
            <a:ext cx="11292840" cy="658368"/>
          </a:xfrm>
          <a:prstGeom prst="rect">
            <a:avLst/>
          </a:prstGeom>
          <a:noFill/>
          <a:ln/>
        </p:spPr>
        <p:txBody>
          <a:bodyPr wrap="square" lIns="0" tIns="0" rIns="0" bIns="0" rtlCol="0" anchor="t"/>
          <a:lstStyle/>
          <a:p>
            <a:pPr marL="0" indent="0" algn="l">
              <a:buNone/>
              <a:defRPr/>
            </a:pPr>
            <a:r>
              <a:rPr lang="en-US" sz="2700" b="1">
                <a:solidFill>
                  <a:srgbClr val="1A1A2E"/>
                </a:solidFill>
                <a:latin typeface="Cambria"/>
                <a:ea typeface="Cambria"/>
                <a:cs typeface="Cambria"/>
              </a:rPr>
              <a:t>Lazy Evaluation: Lists vs. Generators</a:t>
            </a:r>
            <a:endParaRPr lang="en-US" sz="2700"/>
          </a:p>
        </p:txBody>
      </p:sp>
      <p:graphicFrame>
        <p:nvGraphicFramePr>
          <p:cNvPr id="477725421" name="Table 0"/>
          <p:cNvGraphicFramePr>
            <a:graphicFrameLocks xmlns:a="http://schemas.openxmlformats.org/drawingml/2006/main"/>
          </p:cNvGraphicFramePr>
          <p:nvPr/>
        </p:nvGraphicFramePr>
        <p:xfrm rot="0">
          <a:off x="457200" y="1645920"/>
          <a:ext cx="11292840" cy="914400"/>
        </p:xfrm>
        <a:graphic>
          <a:graphicData uri="http://schemas.openxmlformats.org/drawingml/2006/table">
            <a:tbl>
              <a:tblPr firstRow="0" firstCol="0" lastRow="0" lastCol="0" bandRow="0" bandCol="0"/>
              <a:tblGrid>
                <a:gridCol w="2484424"/>
                <a:gridCol w="4404207"/>
                <a:gridCol w="4404207"/>
              </a:tblGrid>
              <a:tr h="630000">
                <a:tc>
                  <a:txBody>
                    <a:bodyPr/>
                    <a:p>
                      <a:pPr marL="0" indent="0" algn="l">
                        <a:buNone/>
                        <a:defRPr/>
                      </a:pPr>
                      <a:endParaRPr lang="en-US" sz="1400">
                        <a:latin typeface="Calibri"/>
                        <a:ea typeface="Calibri"/>
                        <a:cs typeface="Calibri"/>
                      </a:endParaRPr>
                    </a:p>
                  </a:txBody>
                  <a:tcPr marL="91440" marR="91440" marT="45720" marB="45720" anchor="ctr">
                    <a:lnL w="12699" algn="ctr">
                      <a:solidFill>
                        <a:srgbClr val="E5E7EB"/>
                      </a:solidFill>
                    </a:lnL>
                    <a:lnR w="12699" algn="ctr">
                      <a:solidFill>
                        <a:srgbClr val="E5E7EB"/>
                      </a:solidFill>
                    </a:lnR>
                    <a:lnT w="12699" algn="ctr">
                      <a:solidFill>
                        <a:srgbClr val="E5E7EB"/>
                      </a:solidFill>
                    </a:lnT>
                    <a:lnB w="12699" algn="ctr">
                      <a:solidFill>
                        <a:srgbClr val="E5E7EB"/>
                      </a:solidFill>
                    </a:lnB>
                    <a:solidFill>
                      <a:srgbClr val="7D6CF7"/>
                    </a:solidFill>
                  </a:tcPr>
                </a:tc>
                <a:tc>
                  <a:txBody>
                    <a:bodyPr/>
                    <a:p>
                      <a:pPr marL="0" indent="0" algn="ctr">
                        <a:buNone/>
                        <a:defRPr/>
                      </a:pPr>
                      <a:r>
                        <a:rPr lang="en-US" sz="1400" b="1">
                          <a:solidFill>
                            <a:srgbClr val="FFFFFF"/>
                          </a:solidFill>
                          <a:latin typeface="Calibri"/>
                          <a:ea typeface="Calibri"/>
                          <a:cs typeface="Calibri"/>
                        </a:rPr>
                        <a:t>List</a:t>
                      </a:r>
                      <a:endParaRPr lang="en-US" sz="1400">
                        <a:latin typeface="Calibri"/>
                        <a:ea typeface="Calibri"/>
                        <a:cs typeface="Calibri"/>
                      </a:endParaRPr>
                    </a:p>
                  </a:txBody>
                  <a:tcPr marL="91440" marR="91440" marT="45720" marB="45720" anchor="ctr">
                    <a:lnL w="12699" algn="ctr">
                      <a:solidFill>
                        <a:srgbClr val="E5E7EB"/>
                      </a:solidFill>
                    </a:lnL>
                    <a:lnR w="12699" algn="ctr">
                      <a:solidFill>
                        <a:srgbClr val="E5E7EB"/>
                      </a:solidFill>
                    </a:lnR>
                    <a:lnT w="12699" algn="ctr">
                      <a:solidFill>
                        <a:srgbClr val="E5E7EB"/>
                      </a:solidFill>
                    </a:lnT>
                    <a:lnB w="12699" algn="ctr">
                      <a:solidFill>
                        <a:srgbClr val="E5E7EB"/>
                      </a:solidFill>
                    </a:lnB>
                    <a:solidFill>
                      <a:srgbClr val="7D6CF7"/>
                    </a:solidFill>
                  </a:tcPr>
                </a:tc>
                <a:tc>
                  <a:txBody>
                    <a:bodyPr/>
                    <a:p>
                      <a:pPr marL="0" indent="0" algn="ctr">
                        <a:buNone/>
                        <a:defRPr/>
                      </a:pPr>
                      <a:r>
                        <a:rPr lang="en-US" sz="1400" b="1">
                          <a:solidFill>
                            <a:srgbClr val="FFFFFF"/>
                          </a:solidFill>
                          <a:latin typeface="Calibri"/>
                          <a:ea typeface="Calibri"/>
                          <a:cs typeface="Calibri"/>
                        </a:rPr>
                        <a:t>Generator</a:t>
                      </a:r>
                      <a:endParaRPr lang="en-US" sz="1400">
                        <a:latin typeface="Calibri"/>
                        <a:ea typeface="Calibri"/>
                        <a:cs typeface="Calibri"/>
                      </a:endParaRPr>
                    </a:p>
                  </a:txBody>
                  <a:tcPr marL="91440" marR="91440" marT="45720" marB="45720" anchor="ctr">
                    <a:lnL w="12699" algn="ctr">
                      <a:solidFill>
                        <a:srgbClr val="E5E7EB"/>
                      </a:solidFill>
                    </a:lnL>
                    <a:lnR w="12699" algn="ctr">
                      <a:solidFill>
                        <a:srgbClr val="E5E7EB"/>
                      </a:solidFill>
                    </a:lnR>
                    <a:lnT w="12699" algn="ctr">
                      <a:solidFill>
                        <a:srgbClr val="E5E7EB"/>
                      </a:solidFill>
                    </a:lnT>
                    <a:lnB w="12699" algn="ctr">
                      <a:solidFill>
                        <a:srgbClr val="E5E7EB"/>
                      </a:solidFill>
                    </a:lnB>
                    <a:solidFill>
                      <a:srgbClr val="7D6CF7"/>
                    </a:solidFill>
                  </a:tcPr>
                </a:tc>
              </a:tr>
              <a:tr h="566928">
                <a:tc>
                  <a:txBody>
                    <a:bodyPr/>
                    <a:p>
                      <a:pPr marL="0" indent="0" algn="l">
                        <a:buNone/>
                        <a:defRPr/>
                      </a:pPr>
                      <a:r>
                        <a:rPr lang="en-US" sz="1350" b="1">
                          <a:solidFill>
                            <a:srgbClr val="1A1A2E"/>
                          </a:solidFill>
                          <a:latin typeface="Calibri"/>
                          <a:ea typeface="Calibri"/>
                          <a:cs typeface="Calibri"/>
                        </a:rPr>
                        <a:t>Memory</a:t>
                      </a:r>
                      <a:endParaRPr lang="en-US" sz="1350">
                        <a:latin typeface="Calibri"/>
                        <a:ea typeface="Calibri"/>
                        <a:cs typeface="Calibri"/>
                      </a:endParaRPr>
                    </a:p>
                  </a:txBody>
                  <a:tcPr marL="91440" marR="91440" marT="45720" marB="45720" anchor="ctr">
                    <a:lnL w="12699" algn="ctr">
                      <a:solidFill>
                        <a:srgbClr val="E5E7EB"/>
                      </a:solidFill>
                    </a:lnL>
                    <a:lnR w="12699" algn="ctr">
                      <a:solidFill>
                        <a:srgbClr val="E5E7EB"/>
                      </a:solidFill>
                    </a:lnR>
                    <a:lnT w="12699" algn="ctr">
                      <a:solidFill>
                        <a:srgbClr val="E5E7EB"/>
                      </a:solidFill>
                    </a:lnT>
                    <a:lnB w="12699" algn="ctr">
                      <a:solidFill>
                        <a:srgbClr val="E5E7EB"/>
                      </a:solidFill>
                    </a:lnB>
                    <a:solidFill>
                      <a:srgbClr val="FFFFFF"/>
                    </a:solidFill>
                  </a:tcPr>
                </a:tc>
                <a:tc>
                  <a:txBody>
                    <a:bodyPr/>
                    <a:p>
                      <a:pPr marL="0" indent="0" algn="ctr">
                        <a:buNone/>
                        <a:defRPr/>
                      </a:pPr>
                      <a:r>
                        <a:rPr lang="en-US" sz="1350">
                          <a:solidFill>
                            <a:srgbClr val="374151"/>
                          </a:solidFill>
                          <a:latin typeface="Courier New"/>
                          <a:ea typeface="Courier New"/>
                          <a:cs typeface="Courier New"/>
                        </a:rPr>
                        <a:t>Stores all items at once</a:t>
                      </a:r>
                      <a:endParaRPr lang="en-US" sz="1350">
                        <a:latin typeface="Courier New"/>
                        <a:ea typeface="Courier New"/>
                        <a:cs typeface="Courier New"/>
                      </a:endParaRPr>
                    </a:p>
                  </a:txBody>
                  <a:tcPr marL="91440" marR="91440" marT="45720" marB="45720" anchor="ctr">
                    <a:lnL w="12699" algn="ctr">
                      <a:solidFill>
                        <a:srgbClr val="E5E7EB"/>
                      </a:solidFill>
                    </a:lnL>
                    <a:lnR w="12699" algn="ctr">
                      <a:solidFill>
                        <a:srgbClr val="E5E7EB"/>
                      </a:solidFill>
                    </a:lnR>
                    <a:lnT w="12699" algn="ctr">
                      <a:solidFill>
                        <a:srgbClr val="E5E7EB"/>
                      </a:solidFill>
                    </a:lnT>
                    <a:lnB w="12699" algn="ctr">
                      <a:solidFill>
                        <a:srgbClr val="E5E7EB"/>
                      </a:solidFill>
                    </a:lnB>
                    <a:solidFill>
                      <a:srgbClr val="FFFFFF"/>
                    </a:solidFill>
                  </a:tcPr>
                </a:tc>
                <a:tc>
                  <a:txBody>
                    <a:bodyPr/>
                    <a:p>
                      <a:pPr marL="0" indent="0" algn="ctr">
                        <a:buNone/>
                        <a:defRPr/>
                      </a:pPr>
                      <a:r>
                        <a:rPr lang="en-US" sz="1350">
                          <a:solidFill>
                            <a:srgbClr val="374151"/>
                          </a:solidFill>
                          <a:latin typeface="Courier New"/>
                          <a:ea typeface="Courier New"/>
                          <a:cs typeface="Courier New"/>
                        </a:rPr>
                        <a:t>Stores only current state</a:t>
                      </a:r>
                      <a:endParaRPr lang="en-US" sz="1350">
                        <a:latin typeface="Courier New"/>
                        <a:ea typeface="Courier New"/>
                        <a:cs typeface="Courier New"/>
                      </a:endParaRPr>
                    </a:p>
                  </a:txBody>
                  <a:tcPr marL="91440" marR="91440" marT="45720" marB="45720" anchor="ctr">
                    <a:lnL w="12699" algn="ctr">
                      <a:solidFill>
                        <a:srgbClr val="E5E7EB"/>
                      </a:solidFill>
                    </a:lnL>
                    <a:lnR w="12699" algn="ctr">
                      <a:solidFill>
                        <a:srgbClr val="E5E7EB"/>
                      </a:solidFill>
                    </a:lnR>
                    <a:lnT w="12699" algn="ctr">
                      <a:solidFill>
                        <a:srgbClr val="E5E7EB"/>
                      </a:solidFill>
                    </a:lnT>
                    <a:lnB w="12699" algn="ctr">
                      <a:solidFill>
                        <a:srgbClr val="E5E7EB"/>
                      </a:solidFill>
                    </a:lnB>
                    <a:solidFill>
                      <a:srgbClr val="FFFFFF"/>
                    </a:solidFill>
                  </a:tcPr>
                </a:tc>
              </a:tr>
              <a:tr h="566928">
                <a:tc>
                  <a:txBody>
                    <a:bodyPr/>
                    <a:p>
                      <a:pPr marL="0" indent="0" algn="l">
                        <a:buNone/>
                        <a:defRPr/>
                      </a:pPr>
                      <a:r>
                        <a:rPr lang="en-US" sz="1350" b="1">
                          <a:solidFill>
                            <a:srgbClr val="1A1A2E"/>
                          </a:solidFill>
                          <a:latin typeface="Calibri"/>
                          <a:ea typeface="Calibri"/>
                          <a:cs typeface="Calibri"/>
                        </a:rPr>
                        <a:t>Speed to first item</a:t>
                      </a:r>
                      <a:endParaRPr lang="en-US" sz="1350">
                        <a:latin typeface="Calibri"/>
                        <a:ea typeface="Calibri"/>
                        <a:cs typeface="Calibri"/>
                      </a:endParaRPr>
                    </a:p>
                  </a:txBody>
                  <a:tcPr marL="91440" marR="91440" marT="45720" marB="45720" anchor="ctr">
                    <a:lnL w="12699" algn="ctr">
                      <a:solidFill>
                        <a:srgbClr val="E5E7EB"/>
                      </a:solidFill>
                    </a:lnL>
                    <a:lnR w="12699" algn="ctr">
                      <a:solidFill>
                        <a:srgbClr val="E5E7EB"/>
                      </a:solidFill>
                    </a:lnR>
                    <a:lnT w="12699" algn="ctr">
                      <a:solidFill>
                        <a:srgbClr val="E5E7EB"/>
                      </a:solidFill>
                    </a:lnT>
                    <a:lnB w="12699" algn="ctr">
                      <a:solidFill>
                        <a:srgbClr val="E5E7EB"/>
                      </a:solidFill>
                    </a:lnB>
                    <a:solidFill>
                      <a:srgbClr val="F0F1F7"/>
                    </a:solidFill>
                  </a:tcPr>
                </a:tc>
                <a:tc>
                  <a:txBody>
                    <a:bodyPr/>
                    <a:p>
                      <a:pPr marL="0" indent="0" algn="ctr">
                        <a:buNone/>
                        <a:defRPr/>
                      </a:pPr>
                      <a:r>
                        <a:rPr lang="en-US" sz="1350">
                          <a:solidFill>
                            <a:srgbClr val="374151"/>
                          </a:solidFill>
                          <a:latin typeface="Courier New"/>
                          <a:ea typeface="Courier New"/>
                          <a:cs typeface="Courier New"/>
                        </a:rPr>
                        <a:t>Must build the whole list</a:t>
                      </a:r>
                      <a:endParaRPr lang="en-US" sz="1350">
                        <a:latin typeface="Courier New"/>
                        <a:ea typeface="Courier New"/>
                        <a:cs typeface="Courier New"/>
                      </a:endParaRPr>
                    </a:p>
                  </a:txBody>
                  <a:tcPr marL="91440" marR="91440" marT="45720" marB="45720" anchor="ctr">
                    <a:lnL w="12699" algn="ctr">
                      <a:solidFill>
                        <a:srgbClr val="E5E7EB"/>
                      </a:solidFill>
                    </a:lnL>
                    <a:lnR w="12699" algn="ctr">
                      <a:solidFill>
                        <a:srgbClr val="E5E7EB"/>
                      </a:solidFill>
                    </a:lnR>
                    <a:lnT w="12699" algn="ctr">
                      <a:solidFill>
                        <a:srgbClr val="E5E7EB"/>
                      </a:solidFill>
                    </a:lnT>
                    <a:lnB w="12699" algn="ctr">
                      <a:solidFill>
                        <a:srgbClr val="E5E7EB"/>
                      </a:solidFill>
                    </a:lnB>
                    <a:solidFill>
                      <a:srgbClr val="F0F1F7"/>
                    </a:solidFill>
                  </a:tcPr>
                </a:tc>
                <a:tc>
                  <a:txBody>
                    <a:bodyPr/>
                    <a:p>
                      <a:pPr marL="0" indent="0" algn="ctr">
                        <a:buNone/>
                        <a:defRPr/>
                      </a:pPr>
                      <a:r>
                        <a:rPr lang="en-US" sz="1350">
                          <a:solidFill>
                            <a:srgbClr val="374151"/>
                          </a:solidFill>
                          <a:latin typeface="Courier New"/>
                          <a:ea typeface="Courier New"/>
                          <a:cs typeface="Courier New"/>
                        </a:rPr>
                        <a:t>Instant</a:t>
                      </a:r>
                      <a:endParaRPr lang="en-US" sz="1350">
                        <a:latin typeface="Courier New"/>
                        <a:ea typeface="Courier New"/>
                        <a:cs typeface="Courier New"/>
                      </a:endParaRPr>
                    </a:p>
                  </a:txBody>
                  <a:tcPr marL="91440" marR="91440" marT="45720" marB="45720" anchor="ctr">
                    <a:lnL w="12699" algn="ctr">
                      <a:solidFill>
                        <a:srgbClr val="E5E7EB"/>
                      </a:solidFill>
                    </a:lnL>
                    <a:lnR w="12699" algn="ctr">
                      <a:solidFill>
                        <a:srgbClr val="E5E7EB"/>
                      </a:solidFill>
                    </a:lnR>
                    <a:lnT w="12699" algn="ctr">
                      <a:solidFill>
                        <a:srgbClr val="E5E7EB"/>
                      </a:solidFill>
                    </a:lnT>
                    <a:lnB w="12699" algn="ctr">
                      <a:solidFill>
                        <a:srgbClr val="E5E7EB"/>
                      </a:solidFill>
                    </a:lnB>
                    <a:solidFill>
                      <a:srgbClr val="F0F1F7"/>
                    </a:solidFill>
                  </a:tcPr>
                </a:tc>
              </a:tr>
              <a:tr h="566928">
                <a:tc>
                  <a:txBody>
                    <a:bodyPr/>
                    <a:p>
                      <a:pPr marL="0" indent="0" algn="l">
                        <a:buNone/>
                        <a:defRPr/>
                      </a:pPr>
                      <a:r>
                        <a:rPr lang="en-US" sz="1350" b="1">
                          <a:solidFill>
                            <a:srgbClr val="1A1A2E"/>
                          </a:solidFill>
                          <a:latin typeface="Calibri"/>
                          <a:ea typeface="Calibri"/>
                          <a:cs typeface="Calibri"/>
                        </a:rPr>
                        <a:t>Reusable</a:t>
                      </a:r>
                      <a:endParaRPr lang="en-US" sz="1350">
                        <a:latin typeface="Calibri"/>
                        <a:ea typeface="Calibri"/>
                        <a:cs typeface="Calibri"/>
                      </a:endParaRPr>
                    </a:p>
                  </a:txBody>
                  <a:tcPr marL="91440" marR="91440" marT="45720" marB="45720" anchor="ctr">
                    <a:lnL w="12699" algn="ctr">
                      <a:solidFill>
                        <a:srgbClr val="E5E7EB"/>
                      </a:solidFill>
                    </a:lnL>
                    <a:lnR w="12699" algn="ctr">
                      <a:solidFill>
                        <a:srgbClr val="E5E7EB"/>
                      </a:solidFill>
                    </a:lnR>
                    <a:lnT w="12699" algn="ctr">
                      <a:solidFill>
                        <a:srgbClr val="E5E7EB"/>
                      </a:solidFill>
                    </a:lnT>
                    <a:lnB w="12699" algn="ctr">
                      <a:solidFill>
                        <a:srgbClr val="E5E7EB"/>
                      </a:solidFill>
                    </a:lnB>
                    <a:solidFill>
                      <a:srgbClr val="FFFFFF"/>
                    </a:solidFill>
                  </a:tcPr>
                </a:tc>
                <a:tc>
                  <a:txBody>
                    <a:bodyPr/>
                    <a:p>
                      <a:pPr marL="0" indent="0" algn="ctr">
                        <a:buNone/>
                        <a:defRPr/>
                      </a:pPr>
                      <a:r>
                        <a:rPr lang="en-US" sz="1350">
                          <a:solidFill>
                            <a:srgbClr val="374151"/>
                          </a:solidFill>
                          <a:latin typeface="Courier New"/>
                          <a:ea typeface="Courier New"/>
                          <a:cs typeface="Courier New"/>
                        </a:rPr>
                        <a:t>Yes</a:t>
                      </a:r>
                      <a:endParaRPr lang="en-US" sz="1350">
                        <a:latin typeface="Courier New"/>
                        <a:ea typeface="Courier New"/>
                        <a:cs typeface="Courier New"/>
                      </a:endParaRPr>
                    </a:p>
                  </a:txBody>
                  <a:tcPr marL="91440" marR="91440" marT="45720" marB="45720" anchor="ctr">
                    <a:lnL w="12699" algn="ctr">
                      <a:solidFill>
                        <a:srgbClr val="E5E7EB"/>
                      </a:solidFill>
                    </a:lnL>
                    <a:lnR w="12699" algn="ctr">
                      <a:solidFill>
                        <a:srgbClr val="E5E7EB"/>
                      </a:solidFill>
                    </a:lnR>
                    <a:lnT w="12699" algn="ctr">
                      <a:solidFill>
                        <a:srgbClr val="E5E7EB"/>
                      </a:solidFill>
                    </a:lnT>
                    <a:lnB w="12699" algn="ctr">
                      <a:solidFill>
                        <a:srgbClr val="E5E7EB"/>
                      </a:solidFill>
                    </a:lnB>
                    <a:solidFill>
                      <a:srgbClr val="FFFFFF"/>
                    </a:solidFill>
                  </a:tcPr>
                </a:tc>
                <a:tc>
                  <a:txBody>
                    <a:bodyPr/>
                    <a:p>
                      <a:pPr marL="0" indent="0" algn="ctr">
                        <a:buNone/>
                        <a:defRPr/>
                      </a:pPr>
                      <a:r>
                        <a:rPr lang="en-US" sz="1350">
                          <a:solidFill>
                            <a:srgbClr val="374151"/>
                          </a:solidFill>
                          <a:latin typeface="Courier New"/>
                          <a:ea typeface="Courier New"/>
                          <a:cs typeface="Courier New"/>
                        </a:rPr>
                        <a:t>No (single-pass)</a:t>
                      </a:r>
                      <a:endParaRPr lang="en-US" sz="1350">
                        <a:latin typeface="Courier New"/>
                        <a:ea typeface="Courier New"/>
                        <a:cs typeface="Courier New"/>
                      </a:endParaRPr>
                    </a:p>
                  </a:txBody>
                  <a:tcPr marL="91440" marR="91440" marT="45720" marB="45720" anchor="ctr">
                    <a:lnL w="12699" algn="ctr">
                      <a:solidFill>
                        <a:srgbClr val="E5E7EB"/>
                      </a:solidFill>
                    </a:lnL>
                    <a:lnR w="12699" algn="ctr">
                      <a:solidFill>
                        <a:srgbClr val="E5E7EB"/>
                      </a:solidFill>
                    </a:lnR>
                    <a:lnT w="12699" algn="ctr">
                      <a:solidFill>
                        <a:srgbClr val="E5E7EB"/>
                      </a:solidFill>
                    </a:lnT>
                    <a:lnB w="12699" algn="ctr">
                      <a:solidFill>
                        <a:srgbClr val="E5E7EB"/>
                      </a:solidFill>
                    </a:lnB>
                    <a:solidFill>
                      <a:srgbClr val="FFFFFF"/>
                    </a:solidFill>
                  </a:tcPr>
                </a:tc>
              </a:tr>
              <a:tr h="566928">
                <a:tc>
                  <a:txBody>
                    <a:bodyPr/>
                    <a:p>
                      <a:pPr marL="0" indent="0" algn="l">
                        <a:buNone/>
                        <a:defRPr/>
                      </a:pPr>
                      <a:r>
                        <a:rPr lang="en-US" sz="1350" b="1">
                          <a:solidFill>
                            <a:srgbClr val="1A1A2E"/>
                          </a:solidFill>
                          <a:latin typeface="Calibri"/>
                          <a:ea typeface="Calibri"/>
                          <a:cs typeface="Calibri"/>
                        </a:rPr>
                        <a:t>Syntax</a:t>
                      </a:r>
                      <a:endParaRPr lang="en-US" sz="1350">
                        <a:latin typeface="Calibri"/>
                        <a:ea typeface="Calibri"/>
                        <a:cs typeface="Calibri"/>
                      </a:endParaRPr>
                    </a:p>
                  </a:txBody>
                  <a:tcPr marL="91440" marR="91440" marT="45720" marB="45720" anchor="ctr">
                    <a:lnL w="12699" algn="ctr">
                      <a:solidFill>
                        <a:srgbClr val="E5E7EB"/>
                      </a:solidFill>
                    </a:lnL>
                    <a:lnR w="12699" algn="ctr">
                      <a:solidFill>
                        <a:srgbClr val="E5E7EB"/>
                      </a:solidFill>
                    </a:lnR>
                    <a:lnT w="12699" algn="ctr">
                      <a:solidFill>
                        <a:srgbClr val="E5E7EB"/>
                      </a:solidFill>
                    </a:lnT>
                    <a:lnB w="12699" algn="ctr">
                      <a:solidFill>
                        <a:srgbClr val="E5E7EB"/>
                      </a:solidFill>
                    </a:lnB>
                    <a:solidFill>
                      <a:srgbClr val="F0F1F7"/>
                    </a:solidFill>
                  </a:tcPr>
                </a:tc>
                <a:tc>
                  <a:txBody>
                    <a:bodyPr/>
                    <a:p>
                      <a:pPr marL="0" indent="0" algn="ctr">
                        <a:buNone/>
                        <a:defRPr/>
                      </a:pPr>
                      <a:r>
                        <a:rPr lang="en-US" sz="1350">
                          <a:solidFill>
                            <a:srgbClr val="374151"/>
                          </a:solidFill>
                          <a:latin typeface="Courier New"/>
                          <a:ea typeface="Courier New"/>
                          <a:cs typeface="Courier New"/>
                        </a:rPr>
                        <a:t>[x**2 for x in range(n)]</a:t>
                      </a:r>
                      <a:endParaRPr lang="en-US" sz="1350">
                        <a:latin typeface="Courier New"/>
                        <a:ea typeface="Courier New"/>
                        <a:cs typeface="Courier New"/>
                      </a:endParaRPr>
                    </a:p>
                  </a:txBody>
                  <a:tcPr marL="91440" marR="91440" marT="45720" marB="45720" anchor="ctr">
                    <a:lnL w="12699" algn="ctr">
                      <a:solidFill>
                        <a:srgbClr val="E5E7EB"/>
                      </a:solidFill>
                    </a:lnL>
                    <a:lnR w="12699" algn="ctr">
                      <a:solidFill>
                        <a:srgbClr val="E5E7EB"/>
                      </a:solidFill>
                    </a:lnR>
                    <a:lnT w="12699" algn="ctr">
                      <a:solidFill>
                        <a:srgbClr val="E5E7EB"/>
                      </a:solidFill>
                    </a:lnT>
                    <a:lnB w="12699" algn="ctr">
                      <a:solidFill>
                        <a:srgbClr val="E5E7EB"/>
                      </a:solidFill>
                    </a:lnB>
                    <a:solidFill>
                      <a:srgbClr val="F0F1F7"/>
                    </a:solidFill>
                  </a:tcPr>
                </a:tc>
                <a:tc>
                  <a:txBody>
                    <a:bodyPr/>
                    <a:p>
                      <a:pPr marL="0" indent="0" algn="ctr">
                        <a:buNone/>
                        <a:defRPr/>
                      </a:pPr>
                      <a:r>
                        <a:rPr lang="en-US" sz="1350">
                          <a:solidFill>
                            <a:srgbClr val="374151"/>
                          </a:solidFill>
                          <a:latin typeface="Courier New"/>
                          <a:ea typeface="Courier New"/>
                          <a:cs typeface="Courier New"/>
                        </a:rPr>
                        <a:t>(x**2 for x in range(n)) </a:t>
                      </a:r>
                      <a:endParaRPr lang="en-US" sz="1350">
                        <a:solidFill>
                          <a:srgbClr val="374151"/>
                        </a:solidFill>
                        <a:latin typeface="Courier New"/>
                        <a:ea typeface="Courier New"/>
                        <a:cs typeface="Courier New"/>
                      </a:endParaRPr>
                    </a:p>
                    <a:p>
                      <a:pPr marL="0" indent="0" algn="ctr">
                        <a:buNone/>
                        <a:defRPr/>
                      </a:pPr>
                      <a:r>
                        <a:rPr lang="en-US" sz="1350">
                          <a:solidFill>
                            <a:srgbClr val="374151"/>
                          </a:solidFill>
                          <a:latin typeface="Courier New"/>
                          <a:ea typeface="Courier New"/>
                          <a:cs typeface="Courier New"/>
                        </a:rPr>
                        <a:t>Or function with yield</a:t>
                      </a:r>
                      <a:endParaRPr lang="en-US" sz="1350">
                        <a:latin typeface="Courier New"/>
                        <a:ea typeface="Courier New"/>
                        <a:cs typeface="Courier New"/>
                      </a:endParaRPr>
                    </a:p>
                  </a:txBody>
                  <a:tcPr marL="91440" marR="91440" marT="45720" marB="45720" anchor="ctr">
                    <a:lnL w="12699" algn="ctr">
                      <a:solidFill>
                        <a:srgbClr val="E5E7EB"/>
                      </a:solidFill>
                    </a:lnL>
                    <a:lnR w="12699" algn="ctr">
                      <a:solidFill>
                        <a:srgbClr val="E5E7EB"/>
                      </a:solidFill>
                    </a:lnR>
                    <a:lnT w="12699" algn="ctr">
                      <a:solidFill>
                        <a:srgbClr val="E5E7EB"/>
                      </a:solidFill>
                    </a:lnT>
                    <a:lnB w="12699" algn="ctr">
                      <a:solidFill>
                        <a:srgbClr val="E5E7EB"/>
                      </a:solidFill>
                    </a:lnB>
                    <a:solidFill>
                      <a:srgbClr val="F0F1F7"/>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2">
    <p:bg>
      <p:bgPr shadeToTitle="0">
        <a:solidFill>
          <a:srgbClr val="252538"/>
        </a:solidFill>
      </p:bgPr>
    </p:bg>
    <p:spTree>
      <p:nvGrpSpPr>
        <p:cNvPr id="1" name=""/>
        <p:cNvGrpSpPr/>
        <p:nvPr/>
      </p:nvGrpSpPr>
      <p:grpSpPr bwMode="auto">
        <a:xfrm>
          <a:off x="0" y="0"/>
          <a:ext cx="0" cy="0"/>
          <a:chOff x="0" y="0"/>
          <a:chExt cx="0" cy="0"/>
        </a:xfrm>
      </p:grpSpPr>
      <p:sp>
        <p:nvSpPr>
          <p:cNvPr id="462435469" name="Shape 0"/>
          <p:cNvSpPr/>
          <p:nvPr/>
        </p:nvSpPr>
        <p:spPr bwMode="auto">
          <a:xfrm>
            <a:off x="457200" y="384048"/>
            <a:ext cx="1417320" cy="329184"/>
          </a:xfrm>
          <a:prstGeom prst="roundRect">
            <a:avLst>
              <a:gd name="adj" fmla="val 50000"/>
            </a:avLst>
          </a:prstGeom>
          <a:solidFill>
            <a:srgbClr val="7D6CF7"/>
          </a:solidFill>
          <a:ln w="12700">
            <a:solidFill>
              <a:srgbClr val="000000"/>
            </a:solidFill>
            <a:prstDash val="solid"/>
          </a:ln>
        </p:spPr>
      </p:sp>
      <p:sp>
        <p:nvSpPr>
          <p:cNvPr id="1756495669" name="Text 1"/>
          <p:cNvSpPr/>
          <p:nvPr/>
        </p:nvSpPr>
        <p:spPr bwMode="auto">
          <a:xfrm>
            <a:off x="457198" y="384048"/>
            <a:ext cx="1417320" cy="329184"/>
          </a:xfrm>
          <a:prstGeom prst="rect">
            <a:avLst/>
          </a:prstGeom>
          <a:noFill/>
          <a:ln/>
        </p:spPr>
        <p:txBody>
          <a:bodyPr wrap="square" lIns="0" tIns="0" rIns="0" bIns="0" rtlCol="0" anchor="ctr"/>
          <a:lstStyle/>
          <a:p>
            <a:pPr marL="0" indent="0" algn="ctr">
              <a:buNone/>
              <a:defRPr/>
            </a:pPr>
            <a:r>
              <a:rPr lang="en-US" sz="1100" b="1" spc="99">
                <a:solidFill>
                  <a:srgbClr val="FFFFFF"/>
                </a:solidFill>
                <a:latin typeface="Calibri"/>
                <a:ea typeface="Calibri"/>
                <a:cs typeface="Calibri"/>
              </a:rPr>
              <a:t>CODE</a:t>
            </a:r>
            <a:endParaRPr lang="en-US" sz="1100"/>
          </a:p>
        </p:txBody>
      </p:sp>
      <p:sp>
        <p:nvSpPr>
          <p:cNvPr id="1854866253" name="Text 3"/>
          <p:cNvSpPr/>
          <p:nvPr/>
        </p:nvSpPr>
        <p:spPr bwMode="auto">
          <a:xfrm>
            <a:off x="457200" y="804672"/>
            <a:ext cx="11292840" cy="658368"/>
          </a:xfrm>
          <a:prstGeom prst="rect">
            <a:avLst/>
          </a:prstGeom>
          <a:noFill/>
          <a:ln/>
        </p:spPr>
        <p:txBody>
          <a:bodyPr wrap="square" lIns="0" tIns="0" rIns="0" bIns="0" rtlCol="0" anchor="t"/>
          <a:lstStyle/>
          <a:p>
            <a:pPr marL="0" indent="0" algn="l">
              <a:buNone/>
              <a:defRPr/>
            </a:pPr>
            <a:r>
              <a:rPr lang="en-US" sz="2700" b="1">
                <a:solidFill>
                  <a:srgbClr val="FFFFFF"/>
                </a:solidFill>
                <a:latin typeface="Cambria"/>
                <a:ea typeface="Cambria"/>
                <a:cs typeface="Cambria"/>
              </a:rPr>
              <a:t>Measuring the Memory Difference</a:t>
            </a:r>
            <a:endParaRPr lang="en-US" sz="2700"/>
          </a:p>
        </p:txBody>
      </p:sp>
      <p:sp>
        <p:nvSpPr>
          <p:cNvPr id="379291533" name="Shape 7"/>
          <p:cNvSpPr/>
          <p:nvPr/>
        </p:nvSpPr>
        <p:spPr bwMode="auto">
          <a:xfrm>
            <a:off x="457200" y="1600200"/>
            <a:ext cx="11292840" cy="4617720"/>
          </a:xfrm>
          <a:prstGeom prst="roundRect">
            <a:avLst>
              <a:gd name="adj" fmla="val 1584"/>
            </a:avLst>
          </a:prstGeom>
          <a:solidFill>
            <a:srgbClr val="1E1E2E"/>
          </a:solidFill>
          <a:ln w="12700">
            <a:solidFill>
              <a:srgbClr val="000000"/>
            </a:solidFill>
            <a:prstDash val="solid"/>
          </a:ln>
        </p:spPr>
      </p:sp>
      <p:sp>
        <p:nvSpPr>
          <p:cNvPr id="120669045" name="Text 8"/>
          <p:cNvSpPr/>
          <p:nvPr/>
        </p:nvSpPr>
        <p:spPr bwMode="auto">
          <a:xfrm>
            <a:off x="658368" y="1728216"/>
            <a:ext cx="10890504" cy="4361688"/>
          </a:xfrm>
          <a:prstGeom prst="rect">
            <a:avLst/>
          </a:prstGeom>
          <a:noFill/>
          <a:ln/>
        </p:spPr>
        <p:txBody>
          <a:bodyPr wrap="square" lIns="0" tIns="0" rIns="0" bIns="0" rtlCol="0" anchor="t"/>
          <a:lstStyle/>
          <a:p>
            <a:pPr marL="0" indent="0">
              <a:lnSpc>
                <a:spcPct val="108000"/>
              </a:lnSpc>
              <a:buNone/>
              <a:defRPr/>
            </a:pPr>
            <a:r>
              <a:rPr lang="en-US" sz="1500">
                <a:solidFill>
                  <a:srgbClr val="C586C0"/>
                </a:solidFill>
                <a:latin typeface="Courier New"/>
                <a:ea typeface="Courier New"/>
                <a:cs typeface="Courier New"/>
              </a:rPr>
              <a:t>import</a:t>
            </a:r>
            <a:r>
              <a:rPr lang="en-US" sz="1500">
                <a:solidFill>
                  <a:srgbClr val="D4D4D4"/>
                </a:solidFill>
                <a:latin typeface="Courier New"/>
                <a:ea typeface="Courier New"/>
                <a:cs typeface="Courier New"/>
              </a:rPr>
              <a:t> sys</a:t>
            </a:r>
            <a:endParaRPr lang="en-US" sz="1500"/>
          </a:p>
          <a:p>
            <a:pPr marL="0" indent="0">
              <a:lnSpc>
                <a:spcPct val="108000"/>
              </a:lnSpc>
              <a:buNone/>
              <a:defRPr/>
            </a:pPr>
            <a:r>
              <a:rPr lang="en-US" sz="1500">
                <a:solidFill>
                  <a:srgbClr val="D4D4D4"/>
                </a:solidFill>
                <a:latin typeface="Courier New"/>
                <a:ea typeface="Courier New"/>
                <a:cs typeface="Courier New"/>
              </a:rPr>
              <a:t> </a:t>
            </a:r>
            <a:endParaRPr lang="en-US" sz="1500"/>
          </a:p>
          <a:p>
            <a:pPr marL="0" indent="0">
              <a:lnSpc>
                <a:spcPct val="108000"/>
              </a:lnSpc>
              <a:buNone/>
              <a:defRPr/>
            </a:pPr>
            <a:r>
              <a:rPr lang="en-US" sz="1500">
                <a:solidFill>
                  <a:srgbClr val="D4D4D4"/>
                </a:solidFill>
                <a:latin typeface="Courier New"/>
                <a:ea typeface="Courier New"/>
                <a:cs typeface="Courier New"/>
              </a:rPr>
              <a:t>list_comp = [x </a:t>
            </a:r>
            <a:r>
              <a:rPr lang="en-US" sz="1500">
                <a:solidFill>
                  <a:srgbClr val="C586C0"/>
                </a:solidFill>
                <a:latin typeface="Courier New"/>
                <a:ea typeface="Courier New"/>
                <a:cs typeface="Courier New"/>
              </a:rPr>
              <a:t>for</a:t>
            </a:r>
            <a:r>
              <a:rPr lang="en-US" sz="1500">
                <a:solidFill>
                  <a:srgbClr val="D4D4D4"/>
                </a:solidFill>
                <a:latin typeface="Courier New"/>
                <a:ea typeface="Courier New"/>
                <a:cs typeface="Courier New"/>
              </a:rPr>
              <a:t> x </a:t>
            </a:r>
            <a:r>
              <a:rPr lang="en-US" sz="1500">
                <a:solidFill>
                  <a:srgbClr val="C586C0"/>
                </a:solidFill>
                <a:latin typeface="Courier New"/>
                <a:ea typeface="Courier New"/>
                <a:cs typeface="Courier New"/>
              </a:rPr>
              <a:t>in</a:t>
            </a:r>
            <a:r>
              <a:rPr lang="en-US" sz="1500">
                <a:solidFill>
                  <a:srgbClr val="D4D4D4"/>
                </a:solidFill>
                <a:latin typeface="Courier New"/>
                <a:ea typeface="Courier New"/>
                <a:cs typeface="Courier New"/>
              </a:rPr>
              <a:t> range(</a:t>
            </a:r>
            <a:r>
              <a:rPr lang="en-US" sz="1500">
                <a:solidFill>
                  <a:srgbClr val="B5CEA8"/>
                </a:solidFill>
                <a:latin typeface="Courier New"/>
                <a:ea typeface="Courier New"/>
                <a:cs typeface="Courier New"/>
              </a:rPr>
              <a:t>1_000_000</a:t>
            </a:r>
            <a:r>
              <a:rPr lang="en-US" sz="1500">
                <a:solidFill>
                  <a:srgbClr val="D4D4D4"/>
                </a:solidFill>
                <a:latin typeface="Courier New"/>
                <a:ea typeface="Courier New"/>
                <a:cs typeface="Courier New"/>
              </a:rPr>
              <a:t>)]</a:t>
            </a:r>
            <a:endParaRPr lang="en-US" sz="1500"/>
          </a:p>
          <a:p>
            <a:pPr marL="0" indent="0">
              <a:lnSpc>
                <a:spcPct val="108000"/>
              </a:lnSpc>
              <a:buNone/>
              <a:defRPr/>
            </a:pPr>
            <a:r>
              <a:rPr lang="en-US" sz="1500">
                <a:solidFill>
                  <a:srgbClr val="D4D4D4"/>
                </a:solidFill>
                <a:latin typeface="Courier New"/>
                <a:ea typeface="Courier New"/>
                <a:cs typeface="Courier New"/>
              </a:rPr>
              <a:t>gen_exp = (x </a:t>
            </a:r>
            <a:r>
              <a:rPr lang="en-US" sz="1500">
                <a:solidFill>
                  <a:srgbClr val="C586C0"/>
                </a:solidFill>
                <a:latin typeface="Courier New"/>
                <a:ea typeface="Courier New"/>
                <a:cs typeface="Courier New"/>
              </a:rPr>
              <a:t>for</a:t>
            </a:r>
            <a:r>
              <a:rPr lang="en-US" sz="1500">
                <a:solidFill>
                  <a:srgbClr val="D4D4D4"/>
                </a:solidFill>
                <a:latin typeface="Courier New"/>
                <a:ea typeface="Courier New"/>
                <a:cs typeface="Courier New"/>
              </a:rPr>
              <a:t> x </a:t>
            </a:r>
            <a:r>
              <a:rPr lang="en-US" sz="1500">
                <a:solidFill>
                  <a:srgbClr val="C586C0"/>
                </a:solidFill>
                <a:latin typeface="Courier New"/>
                <a:ea typeface="Courier New"/>
                <a:cs typeface="Courier New"/>
              </a:rPr>
              <a:t>in</a:t>
            </a:r>
            <a:r>
              <a:rPr lang="en-US" sz="1500">
                <a:solidFill>
                  <a:srgbClr val="D4D4D4"/>
                </a:solidFill>
                <a:latin typeface="Courier New"/>
                <a:ea typeface="Courier New"/>
                <a:cs typeface="Courier New"/>
              </a:rPr>
              <a:t> range(</a:t>
            </a:r>
            <a:r>
              <a:rPr lang="en-US" sz="1500">
                <a:solidFill>
                  <a:srgbClr val="B5CEA8"/>
                </a:solidFill>
                <a:latin typeface="Courier New"/>
                <a:ea typeface="Courier New"/>
                <a:cs typeface="Courier New"/>
              </a:rPr>
              <a:t>1_000_000</a:t>
            </a:r>
            <a:r>
              <a:rPr lang="en-US" sz="1500">
                <a:solidFill>
                  <a:srgbClr val="D4D4D4"/>
                </a:solidFill>
                <a:latin typeface="Courier New"/>
                <a:ea typeface="Courier New"/>
                <a:cs typeface="Courier New"/>
              </a:rPr>
              <a:t>))</a:t>
            </a:r>
            <a:endParaRPr lang="en-US" sz="1500"/>
          </a:p>
          <a:p>
            <a:pPr marL="0" indent="0">
              <a:lnSpc>
                <a:spcPct val="108000"/>
              </a:lnSpc>
              <a:buNone/>
              <a:defRPr/>
            </a:pPr>
            <a:r>
              <a:rPr lang="en-US" sz="1500">
                <a:solidFill>
                  <a:srgbClr val="D4D4D4"/>
                </a:solidFill>
                <a:latin typeface="Courier New"/>
                <a:ea typeface="Courier New"/>
                <a:cs typeface="Courier New"/>
              </a:rPr>
              <a:t> </a:t>
            </a:r>
            <a:endParaRPr lang="en-US" sz="1500"/>
          </a:p>
          <a:p>
            <a:pPr marL="0" indent="0">
              <a:lnSpc>
                <a:spcPct val="108000"/>
              </a:lnSpc>
              <a:buNone/>
              <a:defRPr/>
            </a:pPr>
            <a:r>
              <a:rPr lang="en-US" sz="1500">
                <a:solidFill>
                  <a:srgbClr val="D4D4D4"/>
                </a:solidFill>
                <a:latin typeface="Courier New"/>
                <a:ea typeface="Courier New"/>
                <a:cs typeface="Courier New"/>
              </a:rPr>
              <a:t>print(sys.getsizeof(list_comp))  </a:t>
            </a:r>
            <a:r>
              <a:rPr lang="en-US" sz="1500" i="1">
                <a:solidFill>
                  <a:srgbClr val="6A9955"/>
                </a:solidFill>
                <a:latin typeface="Courier New"/>
                <a:ea typeface="Courier New"/>
                <a:cs typeface="Courier New"/>
              </a:rPr>
              <a:t># ~8,000,000+ bytes</a:t>
            </a:r>
            <a:endParaRPr lang="en-US" sz="1500"/>
          </a:p>
          <a:p>
            <a:pPr marL="0" indent="0">
              <a:lnSpc>
                <a:spcPct val="108000"/>
              </a:lnSpc>
              <a:buNone/>
              <a:defRPr/>
            </a:pPr>
            <a:r>
              <a:rPr lang="en-US" sz="1500">
                <a:solidFill>
                  <a:srgbClr val="D4D4D4"/>
                </a:solidFill>
                <a:latin typeface="Courier New"/>
                <a:ea typeface="Courier New"/>
                <a:cs typeface="Courier New"/>
              </a:rPr>
              <a:t>print(sys.getsizeof(gen_exp))    </a:t>
            </a:r>
            <a:r>
              <a:rPr lang="en-US" sz="1500" i="1">
                <a:solidFill>
                  <a:srgbClr val="6A9955"/>
                </a:solidFill>
                <a:latin typeface="Courier New"/>
                <a:ea typeface="Courier New"/>
                <a:cs typeface="Courier New"/>
              </a:rPr>
              <a:t># ~200 bytes, regardless of range size!</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3">
    <p:bg>
      <p:bgPr shadeToTitle="0">
        <a:solidFill>
          <a:srgbClr val="252538"/>
        </a:solidFill>
      </p:bgPr>
    </p:bg>
    <p:spTree>
      <p:nvGrpSpPr>
        <p:cNvPr id="1" name=""/>
        <p:cNvGrpSpPr/>
        <p:nvPr/>
      </p:nvGrpSpPr>
      <p:grpSpPr bwMode="auto">
        <a:xfrm>
          <a:off x="0" y="0"/>
          <a:ext cx="0" cy="0"/>
          <a:chOff x="0" y="0"/>
          <a:chExt cx="0" cy="0"/>
        </a:xfrm>
      </p:grpSpPr>
      <p:sp>
        <p:nvSpPr>
          <p:cNvPr id="542805470" name="Shape 0"/>
          <p:cNvSpPr/>
          <p:nvPr/>
        </p:nvSpPr>
        <p:spPr bwMode="auto">
          <a:xfrm>
            <a:off x="457200" y="384048"/>
            <a:ext cx="1417320" cy="329184"/>
          </a:xfrm>
          <a:prstGeom prst="roundRect">
            <a:avLst>
              <a:gd name="adj" fmla="val 50000"/>
            </a:avLst>
          </a:prstGeom>
          <a:solidFill>
            <a:srgbClr val="7D6CF7"/>
          </a:solidFill>
          <a:ln w="12700">
            <a:solidFill>
              <a:srgbClr val="000000"/>
            </a:solidFill>
            <a:prstDash val="solid"/>
          </a:ln>
        </p:spPr>
      </p:sp>
      <p:sp>
        <p:nvSpPr>
          <p:cNvPr id="1048098928" name="Text 1"/>
          <p:cNvSpPr/>
          <p:nvPr/>
        </p:nvSpPr>
        <p:spPr bwMode="auto">
          <a:xfrm>
            <a:off x="457200" y="384048"/>
            <a:ext cx="1417320" cy="329184"/>
          </a:xfrm>
          <a:prstGeom prst="rect">
            <a:avLst/>
          </a:prstGeom>
          <a:noFill/>
          <a:ln/>
        </p:spPr>
        <p:txBody>
          <a:bodyPr wrap="square" lIns="0" tIns="0" rIns="0" bIns="0" rtlCol="0" anchor="ctr"/>
          <a:lstStyle/>
          <a:p>
            <a:pPr marL="0" indent="0" algn="ctr">
              <a:buNone/>
              <a:defRPr/>
            </a:pPr>
            <a:r>
              <a:rPr lang="en-US" sz="1100" b="1" spc="99">
                <a:solidFill>
                  <a:srgbClr val="FFFFFF"/>
                </a:solidFill>
                <a:latin typeface="Calibri"/>
                <a:ea typeface="Calibri"/>
                <a:cs typeface="Calibri"/>
              </a:rPr>
              <a:t>CODE</a:t>
            </a:r>
            <a:endParaRPr lang="en-US" sz="1100"/>
          </a:p>
        </p:txBody>
      </p:sp>
      <p:sp>
        <p:nvSpPr>
          <p:cNvPr id="367085657" name="Text 3"/>
          <p:cNvSpPr/>
          <p:nvPr/>
        </p:nvSpPr>
        <p:spPr bwMode="auto">
          <a:xfrm flipH="0" flipV="0">
            <a:off x="457200" y="804671"/>
            <a:ext cx="5920562" cy="588985"/>
          </a:xfrm>
          <a:prstGeom prst="rect">
            <a:avLst/>
          </a:prstGeom>
          <a:noFill/>
          <a:ln/>
        </p:spPr>
        <p:txBody>
          <a:bodyPr wrap="square" lIns="0" tIns="0" rIns="0" bIns="0" rtlCol="0" anchor="t"/>
          <a:lstStyle/>
          <a:p>
            <a:pPr marL="0" indent="0" algn="l">
              <a:buNone/>
              <a:defRPr/>
            </a:pPr>
            <a:r>
              <a:rPr lang="en-US" sz="2700" b="1">
                <a:solidFill>
                  <a:srgbClr val="FFFFFF"/>
                </a:solidFill>
                <a:latin typeface="Cambria"/>
                <a:ea typeface="Cambria"/>
                <a:cs typeface="Cambria"/>
              </a:rPr>
              <a:t>Processing a Large File Line-by-Line</a:t>
            </a:r>
            <a:endParaRPr lang="en-US" sz="2700"/>
          </a:p>
        </p:txBody>
      </p:sp>
      <p:sp>
        <p:nvSpPr>
          <p:cNvPr id="1568024312" name="Shape 7"/>
          <p:cNvSpPr/>
          <p:nvPr/>
        </p:nvSpPr>
        <p:spPr bwMode="auto">
          <a:xfrm>
            <a:off x="507331" y="1600200"/>
            <a:ext cx="11292840" cy="4617720"/>
          </a:xfrm>
          <a:prstGeom prst="roundRect">
            <a:avLst>
              <a:gd name="adj" fmla="val 1584"/>
            </a:avLst>
          </a:prstGeom>
          <a:solidFill>
            <a:srgbClr val="1E1E2E"/>
          </a:solidFill>
          <a:ln w="12700">
            <a:solidFill>
              <a:srgbClr val="000000"/>
            </a:solidFill>
            <a:prstDash val="solid"/>
          </a:ln>
        </p:spPr>
      </p:sp>
      <p:sp>
        <p:nvSpPr>
          <p:cNvPr id="181604320" name="Text 8"/>
          <p:cNvSpPr/>
          <p:nvPr/>
        </p:nvSpPr>
        <p:spPr bwMode="auto">
          <a:xfrm>
            <a:off x="658368" y="1728216"/>
            <a:ext cx="10890504" cy="4361688"/>
          </a:xfrm>
          <a:prstGeom prst="rect">
            <a:avLst/>
          </a:prstGeom>
          <a:noFill/>
          <a:ln/>
        </p:spPr>
        <p:txBody>
          <a:bodyPr wrap="square" lIns="0" tIns="0" rIns="0" bIns="0" rtlCol="0" anchor="t"/>
          <a:lstStyle/>
          <a:p>
            <a:pPr marL="0" indent="0">
              <a:lnSpc>
                <a:spcPct val="108000"/>
              </a:lnSpc>
              <a:buNone/>
              <a:defRPr/>
            </a:pPr>
            <a:r>
              <a:rPr lang="en-US" sz="1500">
                <a:solidFill>
                  <a:srgbClr val="C586C0"/>
                </a:solidFill>
                <a:latin typeface="Courier New"/>
                <a:ea typeface="Courier New"/>
                <a:cs typeface="Courier New"/>
              </a:rPr>
              <a:t>def</a:t>
            </a:r>
            <a:r>
              <a:rPr lang="en-US" sz="1500">
                <a:solidFill>
                  <a:srgbClr val="D4D4D4"/>
                </a:solidFill>
                <a:latin typeface="Courier New"/>
                <a:ea typeface="Courier New"/>
                <a:cs typeface="Courier New"/>
              </a:rPr>
              <a:t> read_large_file(path):</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with</a:t>
            </a:r>
            <a:r>
              <a:rPr lang="en-US" sz="1500">
                <a:solidFill>
                  <a:srgbClr val="D4D4D4"/>
                </a:solidFill>
                <a:latin typeface="Courier New"/>
                <a:ea typeface="Courier New"/>
                <a:cs typeface="Courier New"/>
              </a:rPr>
              <a:t> open(path, </a:t>
            </a:r>
            <a:r>
              <a:rPr lang="en-US" sz="1500">
                <a:solidFill>
                  <a:srgbClr val="CE9178"/>
                </a:solidFill>
                <a:latin typeface="Courier New"/>
                <a:ea typeface="Courier New"/>
                <a:cs typeface="Courier New"/>
              </a:rPr>
              <a:t>"r"</a:t>
            </a: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as</a:t>
            </a:r>
            <a:r>
              <a:rPr lang="en-US" sz="1500">
                <a:solidFill>
                  <a:srgbClr val="D4D4D4"/>
                </a:solidFill>
                <a:latin typeface="Courier New"/>
                <a:ea typeface="Courier New"/>
                <a:cs typeface="Courier New"/>
              </a:rPr>
              <a:t> f:</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for</a:t>
            </a:r>
            <a:r>
              <a:rPr lang="en-US" sz="1500">
                <a:solidFill>
                  <a:srgbClr val="D4D4D4"/>
                </a:solidFill>
                <a:latin typeface="Courier New"/>
                <a:ea typeface="Courier New"/>
                <a:cs typeface="Courier New"/>
              </a:rPr>
              <a:t> line </a:t>
            </a:r>
            <a:r>
              <a:rPr lang="en-US" sz="1500">
                <a:solidFill>
                  <a:srgbClr val="C586C0"/>
                </a:solidFill>
                <a:latin typeface="Courier New"/>
                <a:ea typeface="Courier New"/>
                <a:cs typeface="Courier New"/>
              </a:rPr>
              <a:t>in</a:t>
            </a:r>
            <a:r>
              <a:rPr lang="en-US" sz="1500">
                <a:solidFill>
                  <a:srgbClr val="D4D4D4"/>
                </a:solidFill>
                <a:latin typeface="Courier New"/>
                <a:ea typeface="Courier New"/>
                <a:cs typeface="Courier New"/>
              </a:rPr>
              <a:t> f:            </a:t>
            </a:r>
            <a:r>
              <a:rPr lang="en-US" sz="1500" i="1">
                <a:solidFill>
                  <a:srgbClr val="6A9955"/>
                </a:solidFill>
                <a:latin typeface="Courier New"/>
                <a:ea typeface="Courier New"/>
                <a:cs typeface="Courier New"/>
              </a:rPr>
              <a:t># file objects are already iterators!</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yield</a:t>
            </a:r>
            <a:r>
              <a:rPr lang="en-US" sz="1500">
                <a:solidFill>
                  <a:srgbClr val="D4D4D4"/>
                </a:solidFill>
                <a:latin typeface="Courier New"/>
                <a:ea typeface="Courier New"/>
                <a:cs typeface="Courier New"/>
              </a:rPr>
              <a:t> line.strip()</a:t>
            </a:r>
            <a:endParaRPr lang="en-US" sz="1500"/>
          </a:p>
          <a:p>
            <a:pPr marL="0" indent="0">
              <a:lnSpc>
                <a:spcPct val="108000"/>
              </a:lnSpc>
              <a:buNone/>
              <a:defRPr/>
            </a:pPr>
            <a:r>
              <a:rPr lang="en-US" sz="1500">
                <a:solidFill>
                  <a:srgbClr val="D4D4D4"/>
                </a:solidFill>
                <a:latin typeface="Courier New"/>
                <a:ea typeface="Courier New"/>
                <a:cs typeface="Courier New"/>
              </a:rPr>
              <a:t> </a:t>
            </a:r>
            <a:endParaRPr lang="en-US" sz="1500"/>
          </a:p>
          <a:p>
            <a:pPr marL="0" indent="0">
              <a:lnSpc>
                <a:spcPct val="108000"/>
              </a:lnSpc>
              <a:buNone/>
              <a:defRPr/>
            </a:pPr>
            <a:r>
              <a:rPr lang="en-US" sz="1500">
                <a:solidFill>
                  <a:srgbClr val="C586C0"/>
                </a:solidFill>
                <a:latin typeface="Courier New"/>
                <a:ea typeface="Courier New"/>
                <a:cs typeface="Courier New"/>
              </a:rPr>
              <a:t>def</a:t>
            </a:r>
            <a:r>
              <a:rPr lang="en-US" sz="1500">
                <a:solidFill>
                  <a:srgbClr val="D4D4D4"/>
                </a:solidFill>
                <a:latin typeface="Courier New"/>
                <a:ea typeface="Courier New"/>
                <a:cs typeface="Courier New"/>
              </a:rPr>
              <a:t> count_errors(path):</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return</a:t>
            </a:r>
            <a:r>
              <a:rPr lang="en-US" sz="1500">
                <a:solidFill>
                  <a:srgbClr val="D4D4D4"/>
                </a:solidFill>
                <a:latin typeface="Courier New"/>
                <a:ea typeface="Courier New"/>
                <a:cs typeface="Courier New"/>
              </a:rPr>
              <a:t> sum(</a:t>
            </a:r>
            <a:r>
              <a:rPr lang="en-US" sz="1500">
                <a:solidFill>
                  <a:srgbClr val="B5CEA8"/>
                </a:solidFill>
                <a:latin typeface="Courier New"/>
                <a:ea typeface="Courier New"/>
                <a:cs typeface="Courier New"/>
              </a:rPr>
              <a:t>1</a:t>
            </a: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for</a:t>
            </a:r>
            <a:r>
              <a:rPr lang="en-US" sz="1500">
                <a:solidFill>
                  <a:srgbClr val="D4D4D4"/>
                </a:solidFill>
                <a:latin typeface="Courier New"/>
                <a:ea typeface="Courier New"/>
                <a:cs typeface="Courier New"/>
              </a:rPr>
              <a:t> line </a:t>
            </a:r>
            <a:r>
              <a:rPr lang="en-US" sz="1500">
                <a:solidFill>
                  <a:srgbClr val="C586C0"/>
                </a:solidFill>
                <a:latin typeface="Courier New"/>
                <a:ea typeface="Courier New"/>
                <a:cs typeface="Courier New"/>
              </a:rPr>
              <a:t>in</a:t>
            </a:r>
            <a:r>
              <a:rPr lang="en-US" sz="1500">
                <a:solidFill>
                  <a:srgbClr val="D4D4D4"/>
                </a:solidFill>
                <a:latin typeface="Courier New"/>
                <a:ea typeface="Courier New"/>
                <a:cs typeface="Courier New"/>
              </a:rPr>
              <a:t> read_large_file(path) </a:t>
            </a:r>
            <a:r>
              <a:rPr lang="en-US" sz="1500">
                <a:solidFill>
                  <a:srgbClr val="C586C0"/>
                </a:solidFill>
                <a:latin typeface="Courier New"/>
                <a:ea typeface="Courier New"/>
                <a:cs typeface="Courier New"/>
              </a:rPr>
              <a:t>if</a:t>
            </a:r>
            <a:r>
              <a:rPr lang="en-US" sz="1500">
                <a:solidFill>
                  <a:srgbClr val="D4D4D4"/>
                </a:solidFill>
                <a:latin typeface="Courier New"/>
                <a:ea typeface="Courier New"/>
                <a:cs typeface="Courier New"/>
              </a:rPr>
              <a:t> </a:t>
            </a:r>
            <a:r>
              <a:rPr lang="en-US" sz="1500">
                <a:solidFill>
                  <a:srgbClr val="CE9178"/>
                </a:solidFill>
                <a:latin typeface="Courier New"/>
                <a:ea typeface="Courier New"/>
                <a:cs typeface="Courier New"/>
              </a:rPr>
              <a:t>"ERROR"</a:t>
            </a: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in</a:t>
            </a:r>
            <a:r>
              <a:rPr lang="en-US" sz="1500">
                <a:solidFill>
                  <a:srgbClr val="D4D4D4"/>
                </a:solidFill>
                <a:latin typeface="Courier New"/>
                <a:ea typeface="Courier New"/>
                <a:cs typeface="Courier New"/>
              </a:rPr>
              <a:t> line)</a:t>
            </a:r>
            <a:endParaRPr lang="en-US" sz="1500"/>
          </a:p>
          <a:p>
            <a:pPr marL="0" indent="0">
              <a:lnSpc>
                <a:spcPct val="108000"/>
              </a:lnSpc>
              <a:buNone/>
              <a:defRPr/>
            </a:pPr>
            <a:r>
              <a:rPr lang="en-US" sz="1500">
                <a:solidFill>
                  <a:srgbClr val="D4D4D4"/>
                </a:solidFill>
                <a:latin typeface="Courier New"/>
                <a:ea typeface="Courier New"/>
                <a:cs typeface="Courier New"/>
              </a:rPr>
              <a:t> </a:t>
            </a:r>
            <a:endParaRPr lang="en-US" sz="1500"/>
          </a:p>
          <a:p>
            <a:pPr marL="0" indent="0">
              <a:lnSpc>
                <a:spcPct val="108000"/>
              </a:lnSpc>
              <a:buNone/>
              <a:defRPr/>
            </a:pPr>
            <a:r>
              <a:rPr lang="en-US" sz="1500" i="1">
                <a:solidFill>
                  <a:srgbClr val="6A9955"/>
                </a:solidFill>
                <a:latin typeface="Courier New"/>
                <a:ea typeface="Courier New"/>
                <a:cs typeface="Courier New"/>
              </a:rPr>
              <a:t># Never loads the whole file into memory, even if it's 10 GB.</a:t>
            </a:r>
            <a:endParaRPr lang="en-US" sz="1500"/>
          </a:p>
          <a:p>
            <a:pPr marL="0" indent="0">
              <a:lnSpc>
                <a:spcPct val="108000"/>
              </a:lnSpc>
              <a:buNone/>
              <a:defRPr/>
            </a:pPr>
            <a:r>
              <a:rPr lang="en-US" sz="1500">
                <a:solidFill>
                  <a:srgbClr val="D4D4D4"/>
                </a:solidFill>
                <a:latin typeface="Courier New"/>
                <a:ea typeface="Courier New"/>
                <a:cs typeface="Courier New"/>
              </a:rPr>
              <a:t>errors = count_errors(</a:t>
            </a:r>
            <a:r>
              <a:rPr lang="en-US" sz="1500">
                <a:solidFill>
                  <a:srgbClr val="CE9178"/>
                </a:solidFill>
                <a:latin typeface="Courier New"/>
                <a:ea typeface="Courier New"/>
                <a:cs typeface="Courier New"/>
              </a:rPr>
              <a:t>"server.log"</a:t>
            </a:r>
            <a:r>
              <a:rPr lang="en-US" sz="1500">
                <a:solidFill>
                  <a:srgbClr val="D4D4D4"/>
                </a:solidFill>
                <a:latin typeface="Courier New"/>
                <a:ea typeface="Courier New"/>
                <a:cs typeface="Courier New"/>
              </a:rPr>
              <a:t>)</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4">
    <p:bg>
      <p:bgPr shadeToTitle="0">
        <a:solidFill>
          <a:srgbClr val="F7F7FB"/>
        </a:solidFill>
      </p:bgPr>
    </p:bg>
    <p:spTree>
      <p:nvGrpSpPr>
        <p:cNvPr id="1" name=""/>
        <p:cNvGrpSpPr/>
        <p:nvPr/>
      </p:nvGrpSpPr>
      <p:grpSpPr bwMode="auto">
        <a:xfrm>
          <a:off x="0" y="0"/>
          <a:ext cx="0" cy="0"/>
          <a:chOff x="0" y="0"/>
          <a:chExt cx="0" cy="0"/>
        </a:xfrm>
      </p:grpSpPr>
      <p:sp>
        <p:nvSpPr>
          <p:cNvPr id="1837684978" name="Shape 0"/>
          <p:cNvSpPr/>
          <p:nvPr/>
        </p:nvSpPr>
        <p:spPr bwMode="auto">
          <a:xfrm>
            <a:off x="457200" y="384048"/>
            <a:ext cx="1417320" cy="329184"/>
          </a:xfrm>
          <a:prstGeom prst="roundRect">
            <a:avLst>
              <a:gd name="adj" fmla="val 50000"/>
            </a:avLst>
          </a:prstGeom>
          <a:solidFill>
            <a:srgbClr val="7D6CF7"/>
          </a:solidFill>
          <a:ln w="12700">
            <a:solidFill>
              <a:srgbClr val="000000"/>
            </a:solidFill>
            <a:prstDash val="solid"/>
          </a:ln>
        </p:spPr>
      </p:sp>
      <p:sp>
        <p:nvSpPr>
          <p:cNvPr id="425185618" name="Text 1"/>
          <p:cNvSpPr/>
          <p:nvPr/>
        </p:nvSpPr>
        <p:spPr bwMode="auto">
          <a:xfrm>
            <a:off x="457200" y="384048"/>
            <a:ext cx="1417320" cy="329184"/>
          </a:xfrm>
          <a:prstGeom prst="rect">
            <a:avLst/>
          </a:prstGeom>
          <a:noFill/>
          <a:ln/>
        </p:spPr>
        <p:txBody>
          <a:bodyPr wrap="square" lIns="0" tIns="0" rIns="0" bIns="0" rtlCol="0" anchor="ctr"/>
          <a:lstStyle/>
          <a:p>
            <a:pPr marL="0" indent="0" algn="ctr">
              <a:buNone/>
              <a:defRPr/>
            </a:pPr>
            <a:r>
              <a:rPr lang="en-US" sz="1100" b="1" spc="99">
                <a:solidFill>
                  <a:srgbClr val="FFFFFF"/>
                </a:solidFill>
                <a:latin typeface="Calibri"/>
                <a:ea typeface="Calibri"/>
                <a:cs typeface="Calibri"/>
              </a:rPr>
              <a:t>THEORY</a:t>
            </a:r>
            <a:endParaRPr lang="en-US" sz="1100"/>
          </a:p>
        </p:txBody>
      </p:sp>
      <p:sp>
        <p:nvSpPr>
          <p:cNvPr id="793485050" name="Text 3"/>
          <p:cNvSpPr/>
          <p:nvPr/>
        </p:nvSpPr>
        <p:spPr bwMode="auto">
          <a:xfrm>
            <a:off x="457200" y="804672"/>
            <a:ext cx="11292840" cy="658368"/>
          </a:xfrm>
          <a:prstGeom prst="rect">
            <a:avLst/>
          </a:prstGeom>
          <a:noFill/>
          <a:ln/>
        </p:spPr>
        <p:txBody>
          <a:bodyPr wrap="square" lIns="0" tIns="0" rIns="0" bIns="0" rtlCol="0" anchor="t"/>
          <a:lstStyle/>
          <a:p>
            <a:pPr marL="0" indent="0" algn="l">
              <a:buNone/>
              <a:defRPr/>
            </a:pPr>
            <a:r>
              <a:rPr lang="en-US" sz="2700" b="1">
                <a:solidFill>
                  <a:srgbClr val="1A1A2E"/>
                </a:solidFill>
                <a:latin typeface="Cambria"/>
                <a:ea typeface="Cambria"/>
                <a:cs typeface="Cambria"/>
              </a:rPr>
              <a:t>yield from — Delegating to Sub-Generators</a:t>
            </a:r>
            <a:endParaRPr lang="en-US" sz="2700"/>
          </a:p>
        </p:txBody>
      </p:sp>
      <p:sp>
        <p:nvSpPr>
          <p:cNvPr id="835417518" name="Shape 7"/>
          <p:cNvSpPr/>
          <p:nvPr/>
        </p:nvSpPr>
        <p:spPr bwMode="auto">
          <a:xfrm>
            <a:off x="546225" y="1463040"/>
            <a:ext cx="5486400" cy="2798064"/>
          </a:xfrm>
          <a:prstGeom prst="roundRect">
            <a:avLst>
              <a:gd name="adj" fmla="val 2614"/>
            </a:avLst>
          </a:prstGeom>
          <a:solidFill>
            <a:srgbClr val="1E1E2E"/>
          </a:solidFill>
          <a:ln w="12700">
            <a:solidFill>
              <a:srgbClr val="000000"/>
            </a:solidFill>
            <a:prstDash val="solid"/>
          </a:ln>
        </p:spPr>
      </p:sp>
      <p:sp>
        <p:nvSpPr>
          <p:cNvPr id="575959566" name="Text 8"/>
          <p:cNvSpPr/>
          <p:nvPr/>
        </p:nvSpPr>
        <p:spPr bwMode="auto">
          <a:xfrm>
            <a:off x="747393" y="1591056"/>
            <a:ext cx="5084064" cy="2542031"/>
          </a:xfrm>
          <a:prstGeom prst="rect">
            <a:avLst/>
          </a:prstGeom>
          <a:noFill/>
          <a:ln/>
        </p:spPr>
        <p:txBody>
          <a:bodyPr wrap="square" lIns="0" tIns="0" rIns="0" bIns="0" rtlCol="0" anchor="t"/>
          <a:lstStyle/>
          <a:p>
            <a:pPr marL="0" indent="0">
              <a:lnSpc>
                <a:spcPct val="108000"/>
              </a:lnSpc>
              <a:buNone/>
              <a:defRPr/>
            </a:pPr>
            <a:r>
              <a:rPr lang="en-US" sz="1500">
                <a:solidFill>
                  <a:srgbClr val="C586C0"/>
                </a:solidFill>
                <a:latin typeface="Courier New"/>
                <a:ea typeface="Courier New"/>
                <a:cs typeface="Courier New"/>
              </a:rPr>
              <a:t>def</a:t>
            </a:r>
            <a:r>
              <a:rPr lang="en-US" sz="1500">
                <a:solidFill>
                  <a:srgbClr val="D4D4D4"/>
                </a:solidFill>
                <a:latin typeface="Courier New"/>
                <a:ea typeface="Courier New"/>
                <a:cs typeface="Courier New"/>
              </a:rPr>
              <a:t> inner():</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yield</a:t>
            </a:r>
            <a:r>
              <a:rPr lang="en-US" sz="1500">
                <a:solidFill>
                  <a:srgbClr val="D4D4D4"/>
                </a:solidFill>
                <a:latin typeface="Courier New"/>
                <a:ea typeface="Courier New"/>
                <a:cs typeface="Courier New"/>
              </a:rPr>
              <a:t> </a:t>
            </a:r>
            <a:r>
              <a:rPr lang="en-US" sz="1500">
                <a:solidFill>
                  <a:srgbClr val="B5CEA8"/>
                </a:solidFill>
                <a:latin typeface="Courier New"/>
                <a:ea typeface="Courier New"/>
                <a:cs typeface="Courier New"/>
              </a:rPr>
              <a:t>1</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yield</a:t>
            </a:r>
            <a:r>
              <a:rPr lang="en-US" sz="1500">
                <a:solidFill>
                  <a:srgbClr val="D4D4D4"/>
                </a:solidFill>
                <a:latin typeface="Courier New"/>
                <a:ea typeface="Courier New"/>
                <a:cs typeface="Courier New"/>
              </a:rPr>
              <a:t> </a:t>
            </a:r>
            <a:r>
              <a:rPr lang="en-US" sz="1500">
                <a:solidFill>
                  <a:srgbClr val="B5CEA8"/>
                </a:solidFill>
                <a:latin typeface="Courier New"/>
                <a:ea typeface="Courier New"/>
                <a:cs typeface="Courier New"/>
              </a:rPr>
              <a:t>2</a:t>
            </a:r>
            <a:endParaRPr lang="en-US" sz="1500"/>
          </a:p>
          <a:p>
            <a:pPr marL="0" indent="0">
              <a:lnSpc>
                <a:spcPct val="108000"/>
              </a:lnSpc>
              <a:buNone/>
              <a:defRPr/>
            </a:pPr>
            <a:r>
              <a:rPr lang="en-US" sz="1500">
                <a:solidFill>
                  <a:srgbClr val="D4D4D4"/>
                </a:solidFill>
                <a:latin typeface="Courier New"/>
                <a:ea typeface="Courier New"/>
                <a:cs typeface="Courier New"/>
              </a:rPr>
              <a:t> </a:t>
            </a:r>
            <a:endParaRPr lang="en-US" sz="1500"/>
          </a:p>
          <a:p>
            <a:pPr marL="0" indent="0">
              <a:lnSpc>
                <a:spcPct val="108000"/>
              </a:lnSpc>
              <a:buNone/>
              <a:defRPr/>
            </a:pPr>
            <a:r>
              <a:rPr lang="en-US" sz="1500">
                <a:solidFill>
                  <a:srgbClr val="C586C0"/>
                </a:solidFill>
                <a:latin typeface="Courier New"/>
                <a:ea typeface="Courier New"/>
                <a:cs typeface="Courier New"/>
              </a:rPr>
              <a:t>def</a:t>
            </a:r>
            <a:r>
              <a:rPr lang="en-US" sz="1500">
                <a:solidFill>
                  <a:srgbClr val="D4D4D4"/>
                </a:solidFill>
                <a:latin typeface="Courier New"/>
                <a:ea typeface="Courier New"/>
                <a:cs typeface="Courier New"/>
              </a:rPr>
              <a:t> outer():</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yield</a:t>
            </a: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from</a:t>
            </a:r>
            <a:r>
              <a:rPr lang="en-US" sz="1500">
                <a:solidFill>
                  <a:srgbClr val="D4D4D4"/>
                </a:solidFill>
                <a:latin typeface="Courier New"/>
                <a:ea typeface="Courier New"/>
                <a:cs typeface="Courier New"/>
              </a:rPr>
              <a:t> inner()</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yield</a:t>
            </a:r>
            <a:r>
              <a:rPr lang="en-US" sz="1500">
                <a:solidFill>
                  <a:srgbClr val="D4D4D4"/>
                </a:solidFill>
                <a:latin typeface="Courier New"/>
                <a:ea typeface="Courier New"/>
                <a:cs typeface="Courier New"/>
              </a:rPr>
              <a:t> </a:t>
            </a:r>
            <a:r>
              <a:rPr lang="en-US" sz="1500">
                <a:solidFill>
                  <a:srgbClr val="B5CEA8"/>
                </a:solidFill>
                <a:latin typeface="Courier New"/>
                <a:ea typeface="Courier New"/>
                <a:cs typeface="Courier New"/>
              </a:rPr>
              <a:t>3</a:t>
            </a:r>
            <a:endParaRPr lang="en-US" sz="1500"/>
          </a:p>
          <a:p>
            <a:pPr marL="0" indent="0">
              <a:lnSpc>
                <a:spcPct val="108000"/>
              </a:lnSpc>
              <a:buNone/>
              <a:defRPr/>
            </a:pPr>
            <a:r>
              <a:rPr lang="en-US" sz="1500">
                <a:solidFill>
                  <a:srgbClr val="D4D4D4"/>
                </a:solidFill>
                <a:latin typeface="Courier New"/>
                <a:ea typeface="Courier New"/>
                <a:cs typeface="Courier New"/>
              </a:rPr>
              <a:t> </a:t>
            </a:r>
            <a:endParaRPr lang="en-US" sz="1500"/>
          </a:p>
          <a:p>
            <a:pPr marL="0" indent="0">
              <a:lnSpc>
                <a:spcPct val="108000"/>
              </a:lnSpc>
              <a:buNone/>
              <a:defRPr/>
            </a:pPr>
            <a:r>
              <a:rPr lang="en-US" sz="1500">
                <a:solidFill>
                  <a:srgbClr val="D4D4D4"/>
                </a:solidFill>
                <a:latin typeface="Courier New"/>
                <a:ea typeface="Courier New"/>
                <a:cs typeface="Courier New"/>
              </a:rPr>
              <a:t>print(list(outer()))   </a:t>
            </a:r>
            <a:r>
              <a:rPr lang="en-US" sz="1500" i="1">
                <a:solidFill>
                  <a:srgbClr val="6A9955"/>
                </a:solidFill>
                <a:latin typeface="Courier New"/>
                <a:ea typeface="Courier New"/>
                <a:cs typeface="Courier New"/>
              </a:rPr>
              <a:t># [1, 2, 3]</a:t>
            </a:r>
            <a:endParaRPr lang="en-US" sz="1500"/>
          </a:p>
        </p:txBody>
      </p:sp>
      <p:sp>
        <p:nvSpPr>
          <p:cNvPr id="909351387" name="Text 9"/>
          <p:cNvSpPr/>
          <p:nvPr/>
        </p:nvSpPr>
        <p:spPr bwMode="auto">
          <a:xfrm flipH="0" flipV="0">
            <a:off x="546224" y="4534335"/>
            <a:ext cx="7289589" cy="1336173"/>
          </a:xfrm>
          <a:prstGeom prst="rect">
            <a:avLst/>
          </a:prstGeom>
          <a:noFill/>
          <a:ln/>
        </p:spPr>
        <p:txBody>
          <a:bodyPr vertOverflow="overflow" horzOverflow="overflow" vert="horz" wrap="square" lIns="0" tIns="0" rIns="0" bIns="0" numCol="1" spcCol="0" rtlCol="0" fromWordArt="0" anchor="t" anchorCtr="0" forceAA="0" upright="0" compatLnSpc="0"/>
          <a:lstStyle/>
          <a:p>
            <a:pPr marL="228805" indent="-228805">
              <a:buFont typeface="Arial"/>
              <a:buChar char="–"/>
              <a:defRPr/>
            </a:pPr>
            <a:r>
              <a:rPr lang="en-US" sz="1600" i="1">
                <a:solidFill>
                  <a:schemeClr val="bg1">
                    <a:lumMod val="50000"/>
                  </a:schemeClr>
                </a:solidFill>
                <a:latin typeface="Roboto"/>
                <a:ea typeface="Roboto"/>
                <a:cs typeface="Roboto"/>
              </a:rPr>
              <a:t>yield from flattens nested generators without writing an explicit loop.</a:t>
            </a:r>
            <a:endParaRPr sz="1600" i="1">
              <a:solidFill>
                <a:schemeClr val="bg1">
                  <a:lumMod val="50000"/>
                </a:schemeClr>
              </a:solidFill>
              <a:latin typeface="Roboto"/>
              <a:ea typeface="Roboto"/>
              <a:cs typeface="Roboto"/>
            </a:endParaRPr>
          </a:p>
          <a:p>
            <a:pPr marL="228805" indent="-228805">
              <a:buFont typeface="Arial"/>
              <a:buChar char="–"/>
              <a:defRPr/>
            </a:pPr>
            <a:endParaRPr sz="1600" i="1">
              <a:solidFill>
                <a:schemeClr val="bg1">
                  <a:lumMod val="50000"/>
                </a:schemeClr>
              </a:solidFill>
              <a:latin typeface="Roboto"/>
              <a:cs typeface="Roboto"/>
            </a:endParaRPr>
          </a:p>
          <a:p>
            <a:pPr marL="228805" indent="-228805">
              <a:buFont typeface="Arial"/>
              <a:buChar char="–"/>
              <a:defRPr/>
            </a:pPr>
            <a:r>
              <a:rPr lang="en-US" sz="1600" i="1">
                <a:solidFill>
                  <a:schemeClr val="bg1">
                    <a:lumMod val="50000"/>
                  </a:schemeClr>
                </a:solidFill>
                <a:latin typeface="Roboto"/>
                <a:ea typeface="Roboto"/>
                <a:cs typeface="Roboto"/>
              </a:rPr>
              <a:t>Write an example that yield from func1 and yield from func2 from the end point of the func1 then yield the last value following the end point of func2 from the outer function . </a:t>
            </a:r>
            <a:endParaRPr sz="1600" i="1">
              <a:solidFill>
                <a:schemeClr val="bg1">
                  <a:lumMod val="50000"/>
                </a:schemeClr>
              </a:solidFill>
              <a:latin typeface="Roboto"/>
              <a:cs typeface="Roboto"/>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5">
    <p:bg>
      <p:bgPr shadeToTitle="0">
        <a:solidFill>
          <a:srgbClr val="252538"/>
        </a:solidFill>
      </p:bgPr>
    </p:bg>
    <p:spTree>
      <p:nvGrpSpPr>
        <p:cNvPr id="1" name=""/>
        <p:cNvGrpSpPr/>
        <p:nvPr/>
      </p:nvGrpSpPr>
      <p:grpSpPr bwMode="auto">
        <a:xfrm>
          <a:off x="0" y="0"/>
          <a:ext cx="0" cy="0"/>
          <a:chOff x="0" y="0"/>
          <a:chExt cx="0" cy="0"/>
        </a:xfrm>
      </p:grpSpPr>
      <p:sp>
        <p:nvSpPr>
          <p:cNvPr id="1432031532" name="Shape 0"/>
          <p:cNvSpPr/>
          <p:nvPr/>
        </p:nvSpPr>
        <p:spPr bwMode="auto">
          <a:xfrm>
            <a:off x="457198" y="384048"/>
            <a:ext cx="1417320" cy="329184"/>
          </a:xfrm>
          <a:prstGeom prst="roundRect">
            <a:avLst>
              <a:gd name="adj" fmla="val 50000"/>
            </a:avLst>
          </a:prstGeom>
          <a:solidFill>
            <a:srgbClr val="7D6CF7"/>
          </a:solidFill>
          <a:ln w="12700">
            <a:solidFill>
              <a:srgbClr val="000000"/>
            </a:solidFill>
            <a:prstDash val="solid"/>
          </a:ln>
        </p:spPr>
      </p:sp>
      <p:sp>
        <p:nvSpPr>
          <p:cNvPr id="1342641350" name="Text 1"/>
          <p:cNvSpPr/>
          <p:nvPr/>
        </p:nvSpPr>
        <p:spPr bwMode="auto">
          <a:xfrm>
            <a:off x="457200" y="384048"/>
            <a:ext cx="1417320" cy="329184"/>
          </a:xfrm>
          <a:prstGeom prst="rect">
            <a:avLst/>
          </a:prstGeom>
          <a:noFill/>
          <a:ln/>
        </p:spPr>
        <p:txBody>
          <a:bodyPr wrap="square" lIns="0" tIns="0" rIns="0" bIns="0" rtlCol="0" anchor="ctr"/>
          <a:lstStyle/>
          <a:p>
            <a:pPr marL="0" indent="0" algn="ctr">
              <a:buNone/>
              <a:defRPr/>
            </a:pPr>
            <a:r>
              <a:rPr lang="en-US" sz="1100" b="1" spc="99">
                <a:solidFill>
                  <a:srgbClr val="FFFFFF"/>
                </a:solidFill>
                <a:latin typeface="Calibri"/>
                <a:ea typeface="Calibri"/>
                <a:cs typeface="Calibri"/>
              </a:rPr>
              <a:t>CODE</a:t>
            </a:r>
            <a:endParaRPr lang="en-US" sz="1100"/>
          </a:p>
        </p:txBody>
      </p:sp>
      <p:sp>
        <p:nvSpPr>
          <p:cNvPr id="1385456009" name="Text 3"/>
          <p:cNvSpPr/>
          <p:nvPr/>
        </p:nvSpPr>
        <p:spPr bwMode="auto">
          <a:xfrm>
            <a:off x="457200" y="804672"/>
            <a:ext cx="11292840" cy="658368"/>
          </a:xfrm>
          <a:prstGeom prst="rect">
            <a:avLst/>
          </a:prstGeom>
          <a:noFill/>
          <a:ln/>
        </p:spPr>
        <p:txBody>
          <a:bodyPr wrap="square" lIns="0" tIns="0" rIns="0" bIns="0" rtlCol="0" anchor="t"/>
          <a:lstStyle/>
          <a:p>
            <a:pPr marL="0" indent="0" algn="l">
              <a:buNone/>
              <a:defRPr/>
            </a:pPr>
            <a:r>
              <a:rPr lang="en-US" sz="2700" b="1">
                <a:solidFill>
                  <a:srgbClr val="FFFFFF"/>
                </a:solidFill>
                <a:latin typeface="Cambria"/>
                <a:ea typeface="Cambria"/>
                <a:cs typeface="Cambria"/>
              </a:rPr>
              <a:t>itertools — The Generator Toolbox</a:t>
            </a:r>
            <a:endParaRPr lang="en-US" sz="2700"/>
          </a:p>
        </p:txBody>
      </p:sp>
      <p:sp>
        <p:nvSpPr>
          <p:cNvPr id="1425879042" name="Shape 7"/>
          <p:cNvSpPr/>
          <p:nvPr/>
        </p:nvSpPr>
        <p:spPr bwMode="auto">
          <a:xfrm>
            <a:off x="457200" y="1600200"/>
            <a:ext cx="11292840" cy="4617720"/>
          </a:xfrm>
          <a:prstGeom prst="roundRect">
            <a:avLst>
              <a:gd name="adj" fmla="val 1584"/>
            </a:avLst>
          </a:prstGeom>
          <a:solidFill>
            <a:srgbClr val="1E1E2E"/>
          </a:solidFill>
          <a:ln w="12700">
            <a:solidFill>
              <a:srgbClr val="000000"/>
            </a:solidFill>
            <a:prstDash val="solid"/>
          </a:ln>
        </p:spPr>
      </p:sp>
      <p:sp>
        <p:nvSpPr>
          <p:cNvPr id="2091916449" name="Text 8"/>
          <p:cNvSpPr/>
          <p:nvPr/>
        </p:nvSpPr>
        <p:spPr bwMode="auto">
          <a:xfrm>
            <a:off x="658368" y="1728216"/>
            <a:ext cx="10890504" cy="4361688"/>
          </a:xfrm>
          <a:prstGeom prst="rect">
            <a:avLst/>
          </a:prstGeom>
          <a:noFill/>
          <a:ln/>
        </p:spPr>
        <p:txBody>
          <a:bodyPr wrap="square" lIns="0" tIns="0" rIns="0" bIns="0" rtlCol="0" anchor="t"/>
          <a:lstStyle/>
          <a:p>
            <a:pPr marL="0" indent="0">
              <a:lnSpc>
                <a:spcPct val="108000"/>
              </a:lnSpc>
              <a:buNone/>
              <a:defRPr/>
            </a:pPr>
            <a:r>
              <a:rPr lang="en-US" sz="1500">
                <a:solidFill>
                  <a:srgbClr val="C586C0"/>
                </a:solidFill>
                <a:latin typeface="Courier New"/>
                <a:ea typeface="Courier New"/>
                <a:cs typeface="Courier New"/>
              </a:rPr>
              <a:t>from</a:t>
            </a:r>
            <a:r>
              <a:rPr lang="en-US" sz="1500">
                <a:solidFill>
                  <a:srgbClr val="D4D4D4"/>
                </a:solidFill>
                <a:latin typeface="Courier New"/>
                <a:ea typeface="Courier New"/>
                <a:cs typeface="Courier New"/>
              </a:rPr>
              <a:t> itertools </a:t>
            </a:r>
            <a:r>
              <a:rPr lang="en-US" sz="1500">
                <a:solidFill>
                  <a:srgbClr val="C586C0"/>
                </a:solidFill>
                <a:latin typeface="Courier New"/>
                <a:ea typeface="Courier New"/>
                <a:cs typeface="Courier New"/>
              </a:rPr>
              <a:t>import</a:t>
            </a:r>
            <a:r>
              <a:rPr lang="en-US" sz="1500">
                <a:solidFill>
                  <a:srgbClr val="D4D4D4"/>
                </a:solidFill>
                <a:latin typeface="Courier New"/>
                <a:ea typeface="Courier New"/>
                <a:cs typeface="Courier New"/>
              </a:rPr>
              <a:t> islice,chain ,groupby ,cycle ,count </a:t>
            </a:r>
            <a:r>
              <a:rPr lang="en-US" sz="1500"/>
              <a:t> </a:t>
            </a:r>
            <a:r>
              <a:rPr lang="en-US" sz="1500" b="0" i="0" u="none" strike="noStrike" cap="none" spc="0">
                <a:solidFill>
                  <a:srgbClr val="D4D4D4"/>
                </a:solidFill>
                <a:latin typeface="Courier New"/>
                <a:ea typeface="Courier New"/>
                <a:cs typeface="Courier New"/>
              </a:rPr>
              <a:t>,combinations ,</a:t>
            </a:r>
            <a:r>
              <a:rPr lang="en-US" sz="1500" b="0" i="0" u="none" strike="noStrike" cap="none" spc="0">
                <a:solidFill>
                  <a:srgbClr val="D4D4D4"/>
                </a:solidFill>
                <a:latin typeface="Courier New"/>
                <a:ea typeface="Courier New"/>
                <a:cs typeface="Courier New"/>
              </a:rPr>
              <a:t>permutations</a:t>
            </a:r>
            <a:r>
              <a:rPr lang="en-US" sz="1500" b="0" i="0" u="none" strike="noStrike" cap="none" spc="0">
                <a:solidFill>
                  <a:srgbClr val="D4D4D4"/>
                </a:solidFill>
                <a:latin typeface="Courier New"/>
                <a:ea typeface="Courier New"/>
                <a:cs typeface="Courier New"/>
              </a:rPr>
              <a:t> </a:t>
            </a:r>
            <a:r>
              <a:rPr lang="en-US" sz="1500" b="0" i="0" u="none" strike="noStrike" cap="none" spc="0">
                <a:solidFill>
                  <a:schemeClr val="tx1"/>
                </a:solidFill>
                <a:latin typeface="Calibri"/>
                <a:ea typeface="Arial"/>
                <a:cs typeface="Arial"/>
              </a:rPr>
              <a:t> </a:t>
            </a:r>
            <a:endParaRPr lang="en-US" sz="1500"/>
          </a:p>
          <a:p>
            <a:pPr marL="0" indent="0">
              <a:lnSpc>
                <a:spcPct val="108000"/>
              </a:lnSpc>
              <a:buNone/>
              <a:defRPr/>
            </a:pPr>
            <a:r>
              <a:rPr lang="en-US" sz="1500">
                <a:solidFill>
                  <a:srgbClr val="D4D4D4"/>
                </a:solidFill>
                <a:latin typeface="Courier New"/>
                <a:ea typeface="Courier New"/>
                <a:cs typeface="Courier New"/>
              </a:rPr>
              <a:t> </a:t>
            </a:r>
            <a:endParaRPr lang="en-US" sz="1500"/>
          </a:p>
          <a:p>
            <a:pPr marL="0" indent="0">
              <a:lnSpc>
                <a:spcPct val="108000"/>
              </a:lnSpc>
              <a:buNone/>
              <a:defRPr/>
            </a:pPr>
            <a:r>
              <a:rPr lang="en-US" sz="1500" i="1">
                <a:solidFill>
                  <a:srgbClr val="6A9955"/>
                </a:solidFill>
                <a:latin typeface="Courier New"/>
                <a:ea typeface="Courier New"/>
                <a:cs typeface="Courier New"/>
              </a:rPr>
              <a:t># islice: take a slice of an infinite/lazy generator</a:t>
            </a:r>
            <a:endParaRPr lang="en-US" sz="1500"/>
          </a:p>
          <a:p>
            <a:pPr marL="0" indent="0">
              <a:lnSpc>
                <a:spcPct val="108000"/>
              </a:lnSpc>
              <a:buNone/>
              <a:defRPr/>
            </a:pPr>
            <a:r>
              <a:rPr lang="en-US" sz="1500">
                <a:solidFill>
                  <a:srgbClr val="D4D4D4"/>
                </a:solidFill>
                <a:latin typeface="Courier New"/>
                <a:ea typeface="Courier New"/>
                <a:cs typeface="Courier New"/>
              </a:rPr>
              <a:t>first_five = list(islice(count(</a:t>
            </a:r>
            <a:r>
              <a:rPr lang="en-US" sz="1500">
                <a:solidFill>
                  <a:srgbClr val="B5CEA8"/>
                </a:solidFill>
                <a:latin typeface="Courier New"/>
                <a:ea typeface="Courier New"/>
                <a:cs typeface="Courier New"/>
              </a:rPr>
              <a:t>10</a:t>
            </a:r>
            <a:r>
              <a:rPr lang="en-US" sz="1500">
                <a:solidFill>
                  <a:srgbClr val="D4D4D4"/>
                </a:solidFill>
                <a:latin typeface="Courier New"/>
                <a:ea typeface="Courier New"/>
                <a:cs typeface="Courier New"/>
              </a:rPr>
              <a:t>), </a:t>
            </a:r>
            <a:r>
              <a:rPr lang="en-US" sz="1500">
                <a:solidFill>
                  <a:srgbClr val="B5CEA8"/>
                </a:solidFill>
                <a:latin typeface="Courier New"/>
                <a:ea typeface="Courier New"/>
                <a:cs typeface="Courier New"/>
              </a:rPr>
              <a:t>5</a:t>
            </a:r>
            <a:r>
              <a:rPr lang="en-US" sz="1500">
                <a:solidFill>
                  <a:srgbClr val="D4D4D4"/>
                </a:solidFill>
                <a:latin typeface="Courier New"/>
                <a:ea typeface="Courier New"/>
                <a:cs typeface="Courier New"/>
              </a:rPr>
              <a:t>))          </a:t>
            </a:r>
            <a:r>
              <a:rPr lang="en-US" sz="1500" i="1">
                <a:solidFill>
                  <a:srgbClr val="6A9955"/>
                </a:solidFill>
                <a:latin typeface="Courier New"/>
                <a:ea typeface="Courier New"/>
                <a:cs typeface="Courier New"/>
              </a:rPr>
              <a:t># [1</a:t>
            </a:r>
            <a:r>
              <a:rPr lang="en-US" sz="1500" i="1">
                <a:solidFill>
                  <a:srgbClr val="6A9955"/>
                </a:solidFill>
                <a:latin typeface="Courier New"/>
                <a:ea typeface="Courier New"/>
                <a:cs typeface="Courier New"/>
              </a:rPr>
              <a:t>0</a:t>
            </a:r>
            <a:r>
              <a:rPr lang="en-US" sz="1500" i="1">
                <a:solidFill>
                  <a:srgbClr val="6A9955"/>
                </a:solidFill>
                <a:latin typeface="Courier New"/>
                <a:ea typeface="Courier New"/>
                <a:cs typeface="Courier New"/>
              </a:rPr>
              <a:t>, 11, 12, 13, 14]</a:t>
            </a:r>
            <a:endParaRPr lang="en-US" sz="1500"/>
          </a:p>
          <a:p>
            <a:pPr marL="0" indent="0">
              <a:lnSpc>
                <a:spcPct val="108000"/>
              </a:lnSpc>
              <a:buNone/>
              <a:defRPr/>
            </a:pPr>
            <a:r>
              <a:rPr lang="en-US" sz="1500">
                <a:solidFill>
                  <a:srgbClr val="D4D4D4"/>
                </a:solidFill>
                <a:latin typeface="Courier New"/>
                <a:ea typeface="Courier New"/>
                <a:cs typeface="Courier New"/>
              </a:rPr>
              <a:t> </a:t>
            </a:r>
            <a:endParaRPr lang="en-US" sz="1500"/>
          </a:p>
          <a:p>
            <a:pPr marL="0" indent="0">
              <a:lnSpc>
                <a:spcPct val="108000"/>
              </a:lnSpc>
              <a:buNone/>
              <a:defRPr/>
            </a:pPr>
            <a:r>
              <a:rPr lang="en-US" sz="1500" i="1">
                <a:solidFill>
                  <a:srgbClr val="6A9955"/>
                </a:solidFill>
                <a:latin typeface="Courier New"/>
                <a:ea typeface="Courier New"/>
                <a:cs typeface="Courier New"/>
              </a:rPr>
              <a:t># chain: combine several iterables into one</a:t>
            </a:r>
            <a:endParaRPr lang="en-US" sz="1500"/>
          </a:p>
          <a:p>
            <a:pPr marL="0" indent="0">
              <a:lnSpc>
                <a:spcPct val="108000"/>
              </a:lnSpc>
              <a:buNone/>
              <a:defRPr/>
            </a:pPr>
            <a:r>
              <a:rPr lang="en-US" sz="1500">
                <a:solidFill>
                  <a:srgbClr val="D4D4D4"/>
                </a:solidFill>
                <a:latin typeface="Courier New"/>
                <a:ea typeface="Courier New"/>
                <a:cs typeface="Courier New"/>
              </a:rPr>
              <a:t>combined = list(chain([</a:t>
            </a:r>
            <a:r>
              <a:rPr lang="en-US" sz="1500">
                <a:solidFill>
                  <a:srgbClr val="B5CEA8"/>
                </a:solidFill>
                <a:latin typeface="Courier New"/>
                <a:ea typeface="Courier New"/>
                <a:cs typeface="Courier New"/>
              </a:rPr>
              <a:t>1</a:t>
            </a:r>
            <a:r>
              <a:rPr lang="en-US" sz="1500">
                <a:solidFill>
                  <a:srgbClr val="D4D4D4"/>
                </a:solidFill>
                <a:latin typeface="Courier New"/>
                <a:ea typeface="Courier New"/>
                <a:cs typeface="Courier New"/>
              </a:rPr>
              <a:t>, </a:t>
            </a:r>
            <a:r>
              <a:rPr lang="en-US" sz="1500">
                <a:solidFill>
                  <a:srgbClr val="B5CEA8"/>
                </a:solidFill>
                <a:latin typeface="Courier New"/>
                <a:ea typeface="Courier New"/>
                <a:cs typeface="Courier New"/>
              </a:rPr>
              <a:t>2</a:t>
            </a:r>
            <a:r>
              <a:rPr lang="en-US" sz="1500">
                <a:solidFill>
                  <a:srgbClr val="D4D4D4"/>
                </a:solidFill>
                <a:latin typeface="Courier New"/>
                <a:ea typeface="Courier New"/>
                <a:cs typeface="Courier New"/>
              </a:rPr>
              <a:t>], [</a:t>
            </a:r>
            <a:r>
              <a:rPr lang="en-US" sz="1500">
                <a:solidFill>
                  <a:srgbClr val="B5CEA8"/>
                </a:solidFill>
                <a:latin typeface="Courier New"/>
                <a:ea typeface="Courier New"/>
                <a:cs typeface="Courier New"/>
              </a:rPr>
              <a:t>3</a:t>
            </a:r>
            <a:r>
              <a:rPr lang="en-US" sz="1500">
                <a:solidFill>
                  <a:srgbClr val="D4D4D4"/>
                </a:solidFill>
                <a:latin typeface="Courier New"/>
                <a:ea typeface="Courier New"/>
                <a:cs typeface="Courier New"/>
              </a:rPr>
              <a:t>, </a:t>
            </a:r>
            <a:r>
              <a:rPr lang="en-US" sz="1500">
                <a:solidFill>
                  <a:srgbClr val="B5CEA8"/>
                </a:solidFill>
                <a:latin typeface="Courier New"/>
                <a:ea typeface="Courier New"/>
                <a:cs typeface="Courier New"/>
              </a:rPr>
              <a:t>4</a:t>
            </a:r>
            <a:r>
              <a:rPr lang="en-US" sz="1500">
                <a:solidFill>
                  <a:srgbClr val="D4D4D4"/>
                </a:solidFill>
                <a:latin typeface="Courier New"/>
                <a:ea typeface="Courier New"/>
                <a:cs typeface="Courier New"/>
              </a:rPr>
              <a:t>]))            </a:t>
            </a:r>
            <a:r>
              <a:rPr lang="en-US" sz="1500" i="1">
                <a:solidFill>
                  <a:srgbClr val="6A9955"/>
                </a:solidFill>
                <a:latin typeface="Courier New"/>
                <a:ea typeface="Courier New"/>
                <a:cs typeface="Courier New"/>
              </a:rPr>
              <a:t># [1, 2, 3, 4]</a:t>
            </a:r>
            <a:endParaRPr lang="en-US" sz="1500"/>
          </a:p>
          <a:p>
            <a:pPr marL="0" indent="0">
              <a:lnSpc>
                <a:spcPct val="108000"/>
              </a:lnSpc>
              <a:buNone/>
              <a:defRPr/>
            </a:pPr>
            <a:r>
              <a:rPr lang="en-US" sz="1500">
                <a:solidFill>
                  <a:srgbClr val="D4D4D4"/>
                </a:solidFill>
                <a:latin typeface="Courier New"/>
                <a:ea typeface="Courier New"/>
                <a:cs typeface="Courier New"/>
              </a:rPr>
              <a:t> </a:t>
            </a:r>
            <a:endParaRPr lang="en-US" sz="1500"/>
          </a:p>
          <a:p>
            <a:pPr marL="0" indent="0">
              <a:lnSpc>
                <a:spcPct val="108000"/>
              </a:lnSpc>
              <a:buNone/>
              <a:defRPr/>
            </a:pPr>
            <a:r>
              <a:rPr lang="en-US" sz="1500" i="1">
                <a:solidFill>
                  <a:srgbClr val="6A9955"/>
                </a:solidFill>
                <a:latin typeface="Courier New"/>
                <a:ea typeface="Courier New"/>
                <a:cs typeface="Courier New"/>
              </a:rPr>
              <a:t># groupby: group consecutive items sharing a key</a:t>
            </a:r>
            <a:endParaRPr lang="en-US" sz="1500"/>
          </a:p>
          <a:p>
            <a:pPr marL="0" indent="0">
              <a:lnSpc>
                <a:spcPct val="108000"/>
              </a:lnSpc>
              <a:buNone/>
              <a:defRPr/>
            </a:pPr>
            <a:r>
              <a:rPr lang="en-US" sz="1500">
                <a:solidFill>
                  <a:srgbClr val="D4D4D4"/>
                </a:solidFill>
                <a:latin typeface="Courier New"/>
                <a:ea typeface="Courier New"/>
                <a:cs typeface="Courier New"/>
              </a:rPr>
              <a:t>data = [</a:t>
            </a:r>
            <a:r>
              <a:rPr lang="en-US" sz="1500">
                <a:solidFill>
                  <a:srgbClr val="B5CEA8"/>
                </a:solidFill>
                <a:latin typeface="Courier New"/>
                <a:ea typeface="Courier New"/>
                <a:cs typeface="Courier New"/>
              </a:rPr>
              <a:t>1</a:t>
            </a:r>
            <a:r>
              <a:rPr lang="en-US" sz="1500">
                <a:solidFill>
                  <a:srgbClr val="D4D4D4"/>
                </a:solidFill>
                <a:latin typeface="Courier New"/>
                <a:ea typeface="Courier New"/>
                <a:cs typeface="Courier New"/>
              </a:rPr>
              <a:t>, </a:t>
            </a:r>
            <a:r>
              <a:rPr lang="en-US" sz="1500">
                <a:solidFill>
                  <a:srgbClr val="B5CEA8"/>
                </a:solidFill>
                <a:latin typeface="Courier New"/>
                <a:ea typeface="Courier New"/>
                <a:cs typeface="Courier New"/>
              </a:rPr>
              <a:t>1</a:t>
            </a:r>
            <a:r>
              <a:rPr lang="en-US" sz="1500">
                <a:solidFill>
                  <a:srgbClr val="D4D4D4"/>
                </a:solidFill>
                <a:latin typeface="Courier New"/>
                <a:ea typeface="Courier New"/>
                <a:cs typeface="Courier New"/>
              </a:rPr>
              <a:t>, </a:t>
            </a:r>
            <a:r>
              <a:rPr lang="en-US" sz="1500">
                <a:solidFill>
                  <a:srgbClr val="B5CEA8"/>
                </a:solidFill>
                <a:latin typeface="Courier New"/>
                <a:ea typeface="Courier New"/>
                <a:cs typeface="Courier New"/>
              </a:rPr>
              <a:t>2</a:t>
            </a:r>
            <a:r>
              <a:rPr lang="en-US" sz="1500">
                <a:solidFill>
                  <a:srgbClr val="D4D4D4"/>
                </a:solidFill>
                <a:latin typeface="Courier New"/>
                <a:ea typeface="Courier New"/>
                <a:cs typeface="Courier New"/>
              </a:rPr>
              <a:t>, </a:t>
            </a:r>
            <a:r>
              <a:rPr lang="en-US" sz="1500">
                <a:solidFill>
                  <a:srgbClr val="B5CEA8"/>
                </a:solidFill>
                <a:latin typeface="Courier New"/>
                <a:ea typeface="Courier New"/>
                <a:cs typeface="Courier New"/>
              </a:rPr>
              <a:t>2</a:t>
            </a:r>
            <a:r>
              <a:rPr lang="en-US" sz="1500">
                <a:solidFill>
                  <a:srgbClr val="D4D4D4"/>
                </a:solidFill>
                <a:latin typeface="Courier New"/>
                <a:ea typeface="Courier New"/>
                <a:cs typeface="Courier New"/>
              </a:rPr>
              <a:t>, </a:t>
            </a:r>
            <a:r>
              <a:rPr lang="en-US" sz="1500">
                <a:solidFill>
                  <a:srgbClr val="B5CEA8"/>
                </a:solidFill>
                <a:latin typeface="Courier New"/>
                <a:ea typeface="Courier New"/>
                <a:cs typeface="Courier New"/>
              </a:rPr>
              <a:t>3</a:t>
            </a:r>
            <a:r>
              <a:rPr lang="en-US" sz="1500">
                <a:solidFill>
                  <a:srgbClr val="D4D4D4"/>
                </a:solidFill>
                <a:latin typeface="Courier New"/>
                <a:ea typeface="Courier New"/>
                <a:cs typeface="Courier New"/>
              </a:rPr>
              <a:t>]</a:t>
            </a:r>
            <a:endParaRPr lang="en-US" sz="1500"/>
          </a:p>
          <a:p>
            <a:pPr marL="0" indent="0">
              <a:lnSpc>
                <a:spcPct val="108000"/>
              </a:lnSpc>
              <a:buNone/>
              <a:defRPr/>
            </a:pPr>
            <a:r>
              <a:rPr lang="en-US" sz="1500">
                <a:solidFill>
                  <a:srgbClr val="D4D4D4"/>
                </a:solidFill>
                <a:latin typeface="Courier New"/>
                <a:ea typeface="Courier New"/>
                <a:cs typeface="Courier New"/>
              </a:rPr>
              <a:t>groups = {k: list(v) </a:t>
            </a:r>
            <a:r>
              <a:rPr lang="en-US" sz="1500">
                <a:solidFill>
                  <a:srgbClr val="C586C0"/>
                </a:solidFill>
                <a:latin typeface="Courier New"/>
                <a:ea typeface="Courier New"/>
                <a:cs typeface="Courier New"/>
              </a:rPr>
              <a:t>for</a:t>
            </a:r>
            <a:r>
              <a:rPr lang="en-US" sz="1500">
                <a:solidFill>
                  <a:srgbClr val="D4D4D4"/>
                </a:solidFill>
                <a:latin typeface="Courier New"/>
                <a:ea typeface="Courier New"/>
                <a:cs typeface="Courier New"/>
              </a:rPr>
              <a:t> k, v </a:t>
            </a:r>
            <a:r>
              <a:rPr lang="en-US" sz="1500">
                <a:solidFill>
                  <a:srgbClr val="C586C0"/>
                </a:solidFill>
                <a:latin typeface="Courier New"/>
                <a:ea typeface="Courier New"/>
                <a:cs typeface="Courier New"/>
              </a:rPr>
              <a:t>in</a:t>
            </a:r>
            <a:r>
              <a:rPr lang="en-US" sz="1500">
                <a:solidFill>
                  <a:srgbClr val="D4D4D4"/>
                </a:solidFill>
                <a:latin typeface="Courier New"/>
                <a:ea typeface="Courier New"/>
                <a:cs typeface="Courier New"/>
              </a:rPr>
              <a:t> groupby(data)}   </a:t>
            </a:r>
            <a:r>
              <a:rPr lang="en-US" sz="1500" i="1">
                <a:solidFill>
                  <a:srgbClr val="6A9955"/>
                </a:solidFill>
                <a:latin typeface="Courier New"/>
                <a:ea typeface="Courier New"/>
                <a:cs typeface="Courier New"/>
              </a:rPr>
              <a:t># {1: [1,1], 2: [2,2], 3: [3]}</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6">
    <p:bg>
      <p:bgPr shadeToTitle="0">
        <a:solidFill>
          <a:srgbClr val="252538"/>
        </a:solidFill>
      </p:bgPr>
    </p:bg>
    <p:spTree>
      <p:nvGrpSpPr>
        <p:cNvPr id="1" name=""/>
        <p:cNvGrpSpPr/>
        <p:nvPr/>
      </p:nvGrpSpPr>
      <p:grpSpPr bwMode="auto">
        <a:xfrm>
          <a:off x="0" y="0"/>
          <a:ext cx="0" cy="0"/>
          <a:chOff x="0" y="0"/>
          <a:chExt cx="0" cy="0"/>
        </a:xfrm>
      </p:grpSpPr>
      <p:sp>
        <p:nvSpPr>
          <p:cNvPr id="1931488806" name="Shape 0"/>
          <p:cNvSpPr/>
          <p:nvPr/>
        </p:nvSpPr>
        <p:spPr bwMode="auto">
          <a:xfrm>
            <a:off x="457200" y="384048"/>
            <a:ext cx="1417320" cy="329184"/>
          </a:xfrm>
          <a:prstGeom prst="roundRect">
            <a:avLst>
              <a:gd name="adj" fmla="val 50000"/>
            </a:avLst>
          </a:prstGeom>
          <a:solidFill>
            <a:srgbClr val="7D6CF7"/>
          </a:solidFill>
          <a:ln w="12700">
            <a:solidFill>
              <a:srgbClr val="000000"/>
            </a:solidFill>
            <a:prstDash val="solid"/>
          </a:ln>
        </p:spPr>
      </p:sp>
      <p:sp>
        <p:nvSpPr>
          <p:cNvPr id="490814169" name="Text 1"/>
          <p:cNvSpPr/>
          <p:nvPr/>
        </p:nvSpPr>
        <p:spPr bwMode="auto">
          <a:xfrm>
            <a:off x="457200" y="384048"/>
            <a:ext cx="1417320" cy="329184"/>
          </a:xfrm>
          <a:prstGeom prst="rect">
            <a:avLst/>
          </a:prstGeom>
          <a:noFill/>
          <a:ln/>
        </p:spPr>
        <p:txBody>
          <a:bodyPr wrap="square" lIns="0" tIns="0" rIns="0" bIns="0" rtlCol="0" anchor="ctr"/>
          <a:lstStyle/>
          <a:p>
            <a:pPr marL="0" indent="0" algn="ctr">
              <a:buNone/>
              <a:defRPr/>
            </a:pPr>
            <a:r>
              <a:rPr lang="en-US" sz="1100" b="1" spc="99">
                <a:solidFill>
                  <a:srgbClr val="FFFFFF"/>
                </a:solidFill>
                <a:latin typeface="Calibri"/>
                <a:ea typeface="Calibri"/>
                <a:cs typeface="Calibri"/>
              </a:rPr>
              <a:t>CODE</a:t>
            </a:r>
            <a:endParaRPr lang="en-US" sz="1100"/>
          </a:p>
        </p:txBody>
      </p:sp>
      <p:sp>
        <p:nvSpPr>
          <p:cNvPr id="1186774378" name="Text 3"/>
          <p:cNvSpPr/>
          <p:nvPr/>
        </p:nvSpPr>
        <p:spPr bwMode="auto">
          <a:xfrm>
            <a:off x="457200" y="804672"/>
            <a:ext cx="11292840" cy="658368"/>
          </a:xfrm>
          <a:prstGeom prst="rect">
            <a:avLst/>
          </a:prstGeom>
          <a:noFill/>
          <a:ln/>
        </p:spPr>
        <p:txBody>
          <a:bodyPr wrap="square" lIns="0" tIns="0" rIns="0" bIns="0" rtlCol="0" anchor="t"/>
          <a:lstStyle/>
          <a:p>
            <a:pPr marL="0" indent="0" algn="l">
              <a:buNone/>
              <a:defRPr/>
            </a:pPr>
            <a:r>
              <a:rPr lang="en-US" sz="2700" b="1">
                <a:solidFill>
                  <a:srgbClr val="FFFFFF"/>
                </a:solidFill>
                <a:latin typeface="Cambria"/>
                <a:ea typeface="Cambria"/>
                <a:cs typeface="Cambria"/>
              </a:rPr>
              <a:t>Building a Streaming CSV Reader</a:t>
            </a:r>
            <a:endParaRPr lang="en-US" sz="2700"/>
          </a:p>
        </p:txBody>
      </p:sp>
      <p:sp>
        <p:nvSpPr>
          <p:cNvPr id="50629377" name="Shape 7"/>
          <p:cNvSpPr/>
          <p:nvPr/>
        </p:nvSpPr>
        <p:spPr bwMode="auto">
          <a:xfrm>
            <a:off x="457200" y="1600200"/>
            <a:ext cx="11292840" cy="4617720"/>
          </a:xfrm>
          <a:prstGeom prst="roundRect">
            <a:avLst>
              <a:gd name="adj" fmla="val 1584"/>
            </a:avLst>
          </a:prstGeom>
          <a:solidFill>
            <a:srgbClr val="1E1E2E"/>
          </a:solidFill>
          <a:ln w="12700">
            <a:solidFill>
              <a:srgbClr val="000000"/>
            </a:solidFill>
            <a:prstDash val="solid"/>
          </a:ln>
        </p:spPr>
      </p:sp>
      <p:sp>
        <p:nvSpPr>
          <p:cNvPr id="1277700219" name="Text 8"/>
          <p:cNvSpPr/>
          <p:nvPr/>
        </p:nvSpPr>
        <p:spPr bwMode="auto">
          <a:xfrm>
            <a:off x="658368" y="1728216"/>
            <a:ext cx="10890504" cy="4361688"/>
          </a:xfrm>
          <a:prstGeom prst="rect">
            <a:avLst/>
          </a:prstGeom>
          <a:noFill/>
          <a:ln/>
        </p:spPr>
        <p:txBody>
          <a:bodyPr wrap="square" lIns="0" tIns="0" rIns="0" bIns="0" rtlCol="0" anchor="t"/>
          <a:lstStyle/>
          <a:p>
            <a:pPr marL="0" indent="0">
              <a:lnSpc>
                <a:spcPct val="108000"/>
              </a:lnSpc>
              <a:buNone/>
              <a:defRPr/>
            </a:pPr>
            <a:r>
              <a:rPr lang="en-US" sz="1500">
                <a:solidFill>
                  <a:srgbClr val="C586C0"/>
                </a:solidFill>
                <a:latin typeface="Courier New"/>
                <a:ea typeface="Courier New"/>
                <a:cs typeface="Courier New"/>
              </a:rPr>
              <a:t>import</a:t>
            </a:r>
            <a:r>
              <a:rPr lang="en-US" sz="1500">
                <a:solidFill>
                  <a:srgbClr val="D4D4D4"/>
                </a:solidFill>
                <a:latin typeface="Courier New"/>
                <a:ea typeface="Courier New"/>
                <a:cs typeface="Courier New"/>
              </a:rPr>
              <a:t> csv</a:t>
            </a:r>
            <a:endParaRPr lang="en-US" sz="1500"/>
          </a:p>
          <a:p>
            <a:pPr marL="0" indent="0">
              <a:lnSpc>
                <a:spcPct val="108000"/>
              </a:lnSpc>
              <a:buNone/>
              <a:defRPr/>
            </a:pPr>
            <a:r>
              <a:rPr lang="en-US" sz="1500">
                <a:solidFill>
                  <a:srgbClr val="D4D4D4"/>
                </a:solidFill>
                <a:latin typeface="Courier New"/>
                <a:ea typeface="Courier New"/>
                <a:cs typeface="Courier New"/>
              </a:rPr>
              <a:t> </a:t>
            </a:r>
            <a:endParaRPr lang="en-US" sz="1500"/>
          </a:p>
          <a:p>
            <a:pPr marL="0" indent="0">
              <a:lnSpc>
                <a:spcPct val="108000"/>
              </a:lnSpc>
              <a:buNone/>
              <a:defRPr/>
            </a:pPr>
            <a:r>
              <a:rPr lang="en-US" sz="1500">
                <a:solidFill>
                  <a:srgbClr val="C586C0"/>
                </a:solidFill>
                <a:latin typeface="Courier New"/>
                <a:ea typeface="Courier New"/>
                <a:cs typeface="Courier New"/>
              </a:rPr>
              <a:t>def</a:t>
            </a:r>
            <a:r>
              <a:rPr lang="en-US" sz="1500">
                <a:solidFill>
                  <a:srgbClr val="D4D4D4"/>
                </a:solidFill>
                <a:latin typeface="Courier New"/>
                <a:ea typeface="Courier New"/>
                <a:cs typeface="Courier New"/>
              </a:rPr>
              <a:t> stream_csv(path, chunk_size=</a:t>
            </a:r>
            <a:r>
              <a:rPr lang="en-US" sz="1500">
                <a:solidFill>
                  <a:srgbClr val="B5CEA8"/>
                </a:solidFill>
                <a:latin typeface="Courier New"/>
                <a:ea typeface="Courier New"/>
                <a:cs typeface="Courier New"/>
              </a:rPr>
              <a:t>1000</a:t>
            </a:r>
            <a:r>
              <a:rPr lang="en-US" sz="1500">
                <a:solidFill>
                  <a:srgbClr val="D4D4D4"/>
                </a:solidFill>
                <a:latin typeface="Courier New"/>
                <a:ea typeface="Courier New"/>
                <a:cs typeface="Courier New"/>
              </a:rPr>
              <a:t>):</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with</a:t>
            </a:r>
            <a:r>
              <a:rPr lang="en-US" sz="1500">
                <a:solidFill>
                  <a:srgbClr val="D4D4D4"/>
                </a:solidFill>
                <a:latin typeface="Courier New"/>
                <a:ea typeface="Courier New"/>
                <a:cs typeface="Courier New"/>
              </a:rPr>
              <a:t> open(path, newline=</a:t>
            </a:r>
            <a:r>
              <a:rPr lang="en-US" sz="1500">
                <a:solidFill>
                  <a:srgbClr val="CE9178"/>
                </a:solidFill>
                <a:latin typeface="Courier New"/>
                <a:ea typeface="Courier New"/>
                <a:cs typeface="Courier New"/>
              </a:rPr>
              <a:t>""</a:t>
            </a: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as</a:t>
            </a:r>
            <a:r>
              <a:rPr lang="en-US" sz="1500">
                <a:solidFill>
                  <a:srgbClr val="D4D4D4"/>
                </a:solidFill>
                <a:latin typeface="Courier New"/>
                <a:ea typeface="Courier New"/>
                <a:cs typeface="Courier New"/>
              </a:rPr>
              <a:t> f:</a:t>
            </a:r>
            <a:endParaRPr lang="en-US" sz="1500"/>
          </a:p>
          <a:p>
            <a:pPr marL="0" indent="0">
              <a:lnSpc>
                <a:spcPct val="108000"/>
              </a:lnSpc>
              <a:buNone/>
              <a:defRPr/>
            </a:pPr>
            <a:r>
              <a:rPr lang="en-US" sz="1500">
                <a:solidFill>
                  <a:srgbClr val="D4D4D4"/>
                </a:solidFill>
                <a:latin typeface="Courier New"/>
                <a:ea typeface="Courier New"/>
                <a:cs typeface="Courier New"/>
              </a:rPr>
              <a:t>        reader = csv.DictReader(f)</a:t>
            </a:r>
            <a:endParaRPr lang="en-US" sz="1500"/>
          </a:p>
          <a:p>
            <a:pPr marL="0" indent="0">
              <a:lnSpc>
                <a:spcPct val="108000"/>
              </a:lnSpc>
              <a:buNone/>
              <a:defRPr/>
            </a:pPr>
            <a:r>
              <a:rPr lang="en-US" sz="1500">
                <a:solidFill>
                  <a:srgbClr val="D4D4D4"/>
                </a:solidFill>
                <a:latin typeface="Courier New"/>
                <a:ea typeface="Courier New"/>
                <a:cs typeface="Courier New"/>
              </a:rPr>
              <a:t>        chunk = []</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for</a:t>
            </a:r>
            <a:r>
              <a:rPr lang="en-US" sz="1500">
                <a:solidFill>
                  <a:srgbClr val="D4D4D4"/>
                </a:solidFill>
                <a:latin typeface="Courier New"/>
                <a:ea typeface="Courier New"/>
                <a:cs typeface="Courier New"/>
              </a:rPr>
              <a:t> row </a:t>
            </a:r>
            <a:r>
              <a:rPr lang="en-US" sz="1500">
                <a:solidFill>
                  <a:srgbClr val="C586C0"/>
                </a:solidFill>
                <a:latin typeface="Courier New"/>
                <a:ea typeface="Courier New"/>
                <a:cs typeface="Courier New"/>
              </a:rPr>
              <a:t>in</a:t>
            </a:r>
            <a:r>
              <a:rPr lang="en-US" sz="1500">
                <a:solidFill>
                  <a:srgbClr val="D4D4D4"/>
                </a:solidFill>
                <a:latin typeface="Courier New"/>
                <a:ea typeface="Courier New"/>
                <a:cs typeface="Courier New"/>
              </a:rPr>
              <a:t> reader:</a:t>
            </a:r>
            <a:endParaRPr lang="en-US" sz="1500"/>
          </a:p>
          <a:p>
            <a:pPr marL="0" indent="0">
              <a:lnSpc>
                <a:spcPct val="108000"/>
              </a:lnSpc>
              <a:buNone/>
              <a:defRPr/>
            </a:pPr>
            <a:r>
              <a:rPr lang="en-US" sz="1500">
                <a:solidFill>
                  <a:srgbClr val="D4D4D4"/>
                </a:solidFill>
                <a:latin typeface="Courier New"/>
                <a:ea typeface="Courier New"/>
                <a:cs typeface="Courier New"/>
              </a:rPr>
              <a:t>            chunk.append(row)</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if</a:t>
            </a:r>
            <a:r>
              <a:rPr lang="en-US" sz="1500">
                <a:solidFill>
                  <a:srgbClr val="D4D4D4"/>
                </a:solidFill>
                <a:latin typeface="Courier New"/>
                <a:ea typeface="Courier New"/>
                <a:cs typeface="Courier New"/>
              </a:rPr>
              <a:t> len(chunk) == chunk_size:</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yield</a:t>
            </a:r>
            <a:r>
              <a:rPr lang="en-US" sz="1500">
                <a:solidFill>
                  <a:srgbClr val="D4D4D4"/>
                </a:solidFill>
                <a:latin typeface="Courier New"/>
                <a:ea typeface="Courier New"/>
                <a:cs typeface="Courier New"/>
              </a:rPr>
              <a:t> chunk</a:t>
            </a:r>
            <a:endParaRPr lang="en-US" sz="1500"/>
          </a:p>
          <a:p>
            <a:pPr marL="0" indent="0">
              <a:lnSpc>
                <a:spcPct val="108000"/>
              </a:lnSpc>
              <a:buNone/>
              <a:defRPr/>
            </a:pPr>
            <a:r>
              <a:rPr lang="en-US" sz="1500">
                <a:solidFill>
                  <a:srgbClr val="D4D4D4"/>
                </a:solidFill>
                <a:latin typeface="Courier New"/>
                <a:ea typeface="Courier New"/>
                <a:cs typeface="Courier New"/>
              </a:rPr>
              <a:t>                chunk = []</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if</a:t>
            </a:r>
            <a:r>
              <a:rPr lang="en-US" sz="1500">
                <a:solidFill>
                  <a:srgbClr val="D4D4D4"/>
                </a:solidFill>
                <a:latin typeface="Courier New"/>
                <a:ea typeface="Courier New"/>
                <a:cs typeface="Courier New"/>
              </a:rPr>
              <a:t> chunk:</a:t>
            </a:r>
            <a:endParaRPr lang="en-US" sz="1500"/>
          </a:p>
          <a:p>
            <a:pPr marL="0" indent="0">
              <a:lnSpc>
                <a:spcPct val="108000"/>
              </a:lnSpc>
              <a:buNone/>
              <a:defRPr/>
            </a:pPr>
            <a:r>
              <a:rPr lang="en-US" sz="1500">
                <a:solidFill>
                  <a:srgbClr val="D4D4D4"/>
                </a:solidFill>
                <a:latin typeface="Courier New"/>
                <a:ea typeface="Courier New"/>
                <a:cs typeface="Courier New"/>
              </a:rPr>
              <a:t>            </a:t>
            </a:r>
            <a:r>
              <a:rPr lang="en-US" sz="1500">
                <a:solidFill>
                  <a:srgbClr val="C586C0"/>
                </a:solidFill>
                <a:latin typeface="Courier New"/>
                <a:ea typeface="Courier New"/>
                <a:cs typeface="Courier New"/>
              </a:rPr>
              <a:t>yield</a:t>
            </a:r>
            <a:r>
              <a:rPr lang="en-US" sz="1500">
                <a:solidFill>
                  <a:srgbClr val="D4D4D4"/>
                </a:solidFill>
                <a:latin typeface="Courier New"/>
                <a:ea typeface="Courier New"/>
                <a:cs typeface="Courier New"/>
              </a:rPr>
              <a:t> chunk</a:t>
            </a:r>
            <a:endParaRPr lang="en-US" sz="1500"/>
          </a:p>
          <a:p>
            <a:pPr marL="0" indent="0">
              <a:lnSpc>
                <a:spcPct val="108000"/>
              </a:lnSpc>
              <a:buNone/>
              <a:defRPr/>
            </a:pPr>
            <a:r>
              <a:rPr lang="en-US" sz="1500">
                <a:solidFill>
                  <a:srgbClr val="D4D4D4"/>
                </a:solidFill>
                <a:latin typeface="Courier New"/>
                <a:ea typeface="Courier New"/>
                <a:cs typeface="Courier New"/>
              </a:rPr>
              <a:t> </a:t>
            </a:r>
            <a:endParaRPr lang="en-US" sz="1500"/>
          </a:p>
          <a:p>
            <a:pPr marL="0" indent="0">
              <a:lnSpc>
                <a:spcPct val="108000"/>
              </a:lnSpc>
              <a:buNone/>
              <a:defRPr/>
            </a:pPr>
            <a:r>
              <a:rPr lang="en-US" sz="1500">
                <a:solidFill>
                  <a:srgbClr val="C586C0"/>
                </a:solidFill>
                <a:latin typeface="Courier New"/>
                <a:ea typeface="Courier New"/>
                <a:cs typeface="Courier New"/>
              </a:rPr>
              <a:t>for</a:t>
            </a:r>
            <a:r>
              <a:rPr lang="en-US" sz="1500">
                <a:solidFill>
                  <a:srgbClr val="D4D4D4"/>
                </a:solidFill>
                <a:latin typeface="Courier New"/>
                <a:ea typeface="Courier New"/>
                <a:cs typeface="Courier New"/>
              </a:rPr>
              <a:t> batch </a:t>
            </a:r>
            <a:r>
              <a:rPr lang="en-US" sz="1500">
                <a:solidFill>
                  <a:srgbClr val="C586C0"/>
                </a:solidFill>
                <a:latin typeface="Courier New"/>
                <a:ea typeface="Courier New"/>
                <a:cs typeface="Courier New"/>
              </a:rPr>
              <a:t>in</a:t>
            </a:r>
            <a:r>
              <a:rPr lang="en-US" sz="1500">
                <a:solidFill>
                  <a:srgbClr val="D4D4D4"/>
                </a:solidFill>
                <a:latin typeface="Courier New"/>
                <a:ea typeface="Courier New"/>
                <a:cs typeface="Courier New"/>
              </a:rPr>
              <a:t> stream_csv(</a:t>
            </a:r>
            <a:r>
              <a:rPr lang="en-US" sz="1500">
                <a:solidFill>
                  <a:srgbClr val="CE9178"/>
                </a:solidFill>
                <a:latin typeface="Courier New"/>
                <a:ea typeface="Courier New"/>
                <a:cs typeface="Courier New"/>
              </a:rPr>
              <a:t>"huge_dataset.csv"</a:t>
            </a:r>
            <a:r>
              <a:rPr lang="en-US" sz="1500">
                <a:solidFill>
                  <a:srgbClr val="D4D4D4"/>
                </a:solidFill>
                <a:latin typeface="Courier New"/>
                <a:ea typeface="Courier New"/>
                <a:cs typeface="Courier New"/>
              </a:rPr>
              <a:t>):</a:t>
            </a:r>
            <a:endParaRPr lang="en-US" sz="1500"/>
          </a:p>
          <a:p>
            <a:pPr marL="0" indent="0">
              <a:lnSpc>
                <a:spcPct val="108000"/>
              </a:lnSpc>
              <a:buNone/>
              <a:defRPr/>
            </a:pPr>
            <a:r>
              <a:rPr lang="en-US" sz="1500">
                <a:solidFill>
                  <a:srgbClr val="D4D4D4"/>
                </a:solidFill>
                <a:latin typeface="Courier New"/>
                <a:ea typeface="Courier New"/>
                <a:cs typeface="Courier New"/>
              </a:rPr>
              <a:t>    process(batch)   </a:t>
            </a:r>
            <a:r>
              <a:rPr lang="en-US" sz="1500" i="1">
                <a:solidFill>
                  <a:srgbClr val="6A9955"/>
                </a:solidFill>
                <a:latin typeface="Courier New"/>
                <a:ea typeface="Courier New"/>
                <a:cs typeface="Courier New"/>
              </a:rPr>
              <a:t># process 1000 rows at a time, constant memory</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7">
    <p:bg>
      <p:bgPr shadeToTitle="0">
        <a:solidFill>
          <a:srgbClr val="EFFBF3"/>
        </a:solidFill>
      </p:bgPr>
    </p:bg>
    <p:spTree>
      <p:nvGrpSpPr>
        <p:cNvPr id="1" name=""/>
        <p:cNvGrpSpPr/>
        <p:nvPr/>
      </p:nvGrpSpPr>
      <p:grpSpPr bwMode="auto">
        <a:xfrm>
          <a:off x="0" y="0"/>
          <a:ext cx="0" cy="0"/>
          <a:chOff x="0" y="0"/>
          <a:chExt cx="0" cy="0"/>
        </a:xfrm>
      </p:grpSpPr>
      <p:sp>
        <p:nvSpPr>
          <p:cNvPr id="1548455361" name="Shape 0"/>
          <p:cNvSpPr/>
          <p:nvPr/>
        </p:nvSpPr>
        <p:spPr bwMode="auto">
          <a:xfrm>
            <a:off x="457200" y="384048"/>
            <a:ext cx="1417320" cy="329184"/>
          </a:xfrm>
          <a:prstGeom prst="roundRect">
            <a:avLst>
              <a:gd name="adj" fmla="val 50000"/>
            </a:avLst>
          </a:prstGeom>
          <a:solidFill>
            <a:srgbClr val="1E9E5A"/>
          </a:solidFill>
          <a:ln w="12700">
            <a:solidFill>
              <a:srgbClr val="000000"/>
            </a:solidFill>
            <a:prstDash val="solid"/>
          </a:ln>
        </p:spPr>
      </p:sp>
      <p:sp>
        <p:nvSpPr>
          <p:cNvPr id="1293611076" name="Text 1"/>
          <p:cNvSpPr/>
          <p:nvPr/>
        </p:nvSpPr>
        <p:spPr bwMode="auto">
          <a:xfrm>
            <a:off x="457200" y="384048"/>
            <a:ext cx="1417320" cy="329184"/>
          </a:xfrm>
          <a:prstGeom prst="rect">
            <a:avLst/>
          </a:prstGeom>
          <a:noFill/>
          <a:ln/>
        </p:spPr>
        <p:txBody>
          <a:bodyPr wrap="square" lIns="0" tIns="0" rIns="0" bIns="0" rtlCol="0" anchor="ctr"/>
          <a:lstStyle/>
          <a:p>
            <a:pPr marL="0" indent="0" algn="ctr">
              <a:buNone/>
              <a:defRPr/>
            </a:pPr>
            <a:r>
              <a:rPr lang="en-US" sz="1100" b="1" spc="99">
                <a:solidFill>
                  <a:srgbClr val="FFFFFF"/>
                </a:solidFill>
                <a:latin typeface="Calibri"/>
                <a:ea typeface="Calibri"/>
                <a:cs typeface="Calibri"/>
              </a:rPr>
              <a:t>EXERCISE</a:t>
            </a:r>
            <a:endParaRPr lang="en-US" sz="1100"/>
          </a:p>
        </p:txBody>
      </p:sp>
      <p:sp>
        <p:nvSpPr>
          <p:cNvPr id="1401421785" name="Text 3"/>
          <p:cNvSpPr/>
          <p:nvPr/>
        </p:nvSpPr>
        <p:spPr bwMode="auto">
          <a:xfrm>
            <a:off x="457200" y="804672"/>
            <a:ext cx="11292840" cy="658368"/>
          </a:xfrm>
          <a:prstGeom prst="rect">
            <a:avLst/>
          </a:prstGeom>
          <a:noFill/>
          <a:ln/>
        </p:spPr>
        <p:txBody>
          <a:bodyPr wrap="square" lIns="0" tIns="0" rIns="0" bIns="0" rtlCol="0" anchor="t"/>
          <a:lstStyle/>
          <a:p>
            <a:pPr marL="0" indent="0" algn="l">
              <a:buNone/>
              <a:defRPr/>
            </a:pPr>
            <a:r>
              <a:rPr lang="en-US" sz="2700" b="1">
                <a:solidFill>
                  <a:srgbClr val="1A1A2E"/>
                </a:solidFill>
                <a:latin typeface="Cambria"/>
                <a:ea typeface="Cambria"/>
                <a:cs typeface="Cambria"/>
              </a:rPr>
              <a:t>Lazy Pipeline Challenge</a:t>
            </a:r>
            <a:endParaRPr lang="en-US" sz="2700"/>
          </a:p>
        </p:txBody>
      </p:sp>
      <p:sp>
        <p:nvSpPr>
          <p:cNvPr id="613090795" name="Shape 7"/>
          <p:cNvSpPr/>
          <p:nvPr/>
        </p:nvSpPr>
        <p:spPr bwMode="auto">
          <a:xfrm>
            <a:off x="457200" y="1691640"/>
            <a:ext cx="11292840" cy="4206240"/>
          </a:xfrm>
          <a:prstGeom prst="roundRect">
            <a:avLst>
              <a:gd name="adj" fmla="val 1739"/>
            </a:avLst>
          </a:prstGeom>
          <a:solidFill>
            <a:srgbClr val="FFFFFF"/>
          </a:solidFill>
          <a:ln w="19050">
            <a:solidFill>
              <a:srgbClr val="D8F0E1"/>
            </a:solidFill>
            <a:prstDash val="solid"/>
          </a:ln>
        </p:spPr>
      </p:sp>
      <p:sp>
        <p:nvSpPr>
          <p:cNvPr id="411635630" name="Text 8"/>
          <p:cNvSpPr/>
          <p:nvPr/>
        </p:nvSpPr>
        <p:spPr bwMode="auto">
          <a:xfrm>
            <a:off x="777240" y="2011680"/>
            <a:ext cx="10652760" cy="457200"/>
          </a:xfrm>
          <a:prstGeom prst="rect">
            <a:avLst/>
          </a:prstGeom>
          <a:noFill/>
          <a:ln/>
        </p:spPr>
        <p:txBody>
          <a:bodyPr wrap="square" lIns="0" tIns="0" rIns="0" bIns="0" rtlCol="0" anchor="ctr"/>
          <a:lstStyle/>
          <a:p>
            <a:pPr marL="0" indent="0">
              <a:buNone/>
              <a:defRPr/>
            </a:pPr>
            <a:r>
              <a:rPr lang="en-US" sz="1500" b="1" i="1">
                <a:solidFill>
                  <a:srgbClr val="0F5132"/>
                </a:solidFill>
                <a:latin typeface="Calibri"/>
                <a:ea typeface="Calibri"/>
                <a:cs typeface="Calibri"/>
              </a:rPr>
              <a:t>Using only generators (no lists!), build a pipeline that:</a:t>
            </a:r>
            <a:endParaRPr lang="en-US" sz="1500"/>
          </a:p>
        </p:txBody>
      </p:sp>
      <p:sp>
        <p:nvSpPr>
          <p:cNvPr id="629258793" name="Text 9"/>
          <p:cNvSpPr/>
          <p:nvPr/>
        </p:nvSpPr>
        <p:spPr bwMode="auto">
          <a:xfrm flipH="0" flipV="0">
            <a:off x="665209" y="2606040"/>
            <a:ext cx="10972800" cy="3017517"/>
          </a:xfrm>
          <a:prstGeom prst="rect">
            <a:avLst/>
          </a:prstGeom>
          <a:noFill/>
          <a:ln/>
        </p:spPr>
        <p:txBody>
          <a:bodyPr wrap="square" lIns="0" tIns="0" rIns="0" bIns="0" rtlCol="0" anchor="t"/>
          <a:lstStyle/>
          <a:p>
            <a:pPr marL="0" indent="0">
              <a:lnSpc>
                <a:spcPct val="125000"/>
              </a:lnSpc>
              <a:spcAft>
                <a:spcPts val="799"/>
              </a:spcAft>
              <a:buNone/>
              <a:defRPr/>
            </a:pPr>
            <a:r>
              <a:rPr lang="en-US" sz="1600">
                <a:solidFill>
                  <a:srgbClr val="1F2937"/>
                </a:solidFill>
                <a:latin typeface="Calibri"/>
                <a:ea typeface="Calibri"/>
                <a:cs typeface="Calibri"/>
              </a:rPr>
              <a:t>1. Reads a text file line by line.</a:t>
            </a:r>
            <a:endParaRPr lang="en-US" sz="1600"/>
          </a:p>
          <a:p>
            <a:pPr marL="0" indent="0">
              <a:lnSpc>
                <a:spcPct val="125000"/>
              </a:lnSpc>
              <a:spcAft>
                <a:spcPts val="799"/>
              </a:spcAft>
              <a:buNone/>
              <a:defRPr/>
            </a:pPr>
            <a:r>
              <a:rPr lang="en-US" sz="1600">
                <a:solidFill>
                  <a:srgbClr val="1F2937"/>
                </a:solidFill>
                <a:latin typeface="Calibri"/>
                <a:ea typeface="Calibri"/>
                <a:cs typeface="Calibri"/>
              </a:rPr>
              <a:t>2. Filters out empty lines.</a:t>
            </a:r>
            <a:endParaRPr lang="en-US" sz="1600"/>
          </a:p>
          <a:p>
            <a:pPr marL="0" indent="0">
              <a:lnSpc>
                <a:spcPct val="125000"/>
              </a:lnSpc>
              <a:spcAft>
                <a:spcPts val="799"/>
              </a:spcAft>
              <a:buNone/>
              <a:defRPr/>
            </a:pPr>
            <a:r>
              <a:rPr lang="en-US" sz="1600">
                <a:solidFill>
                  <a:srgbClr val="1F2937"/>
                </a:solidFill>
                <a:latin typeface="Calibri"/>
                <a:ea typeface="Calibri"/>
                <a:cs typeface="Calibri"/>
              </a:rPr>
              <a:t>3. Splits each line into words.</a:t>
            </a:r>
            <a:endParaRPr lang="en-US" sz="1600"/>
          </a:p>
          <a:p>
            <a:pPr marL="0" indent="0">
              <a:lnSpc>
                <a:spcPct val="125000"/>
              </a:lnSpc>
              <a:spcAft>
                <a:spcPts val="799"/>
              </a:spcAft>
              <a:buNone/>
              <a:defRPr/>
            </a:pPr>
            <a:r>
              <a:rPr lang="en-US" sz="1600">
                <a:solidFill>
                  <a:srgbClr val="1F2937"/>
                </a:solidFill>
                <a:latin typeface="Calibri"/>
                <a:ea typeface="Calibri"/>
                <a:cs typeface="Calibri"/>
              </a:rPr>
              <a:t>4. Yields one word at a time.</a:t>
            </a:r>
            <a:endParaRPr lang="en-US" sz="1600"/>
          </a:p>
        </p:txBody>
      </p:sp>
      <p:sp>
        <p:nvSpPr>
          <p:cNvPr id="136940944" name="Text 10"/>
          <p:cNvSpPr/>
          <p:nvPr/>
        </p:nvSpPr>
        <p:spPr bwMode="auto">
          <a:xfrm flipH="0" flipV="0">
            <a:off x="699483" y="4645865"/>
            <a:ext cx="10904249" cy="1069131"/>
          </a:xfrm>
          <a:prstGeom prst="rect">
            <a:avLst/>
          </a:prstGeom>
          <a:noFill/>
          <a:ln/>
        </p:spPr>
        <p:txBody>
          <a:bodyPr wrap="square" lIns="0" tIns="0" rIns="0" bIns="0" rtlCol="0" anchor="ctr"/>
          <a:lstStyle/>
          <a:p>
            <a:pPr marL="0" indent="0">
              <a:buNone/>
              <a:defRPr/>
            </a:pPr>
            <a:r>
              <a:rPr lang="en-US" sz="1600" i="1">
                <a:solidFill>
                  <a:srgbClr val="00B050"/>
                </a:solidFill>
                <a:latin typeface="Roboto"/>
                <a:ea typeface="Roboto"/>
                <a:cs typeface="Roboto"/>
              </a:rPr>
              <a:t>Bonus: chain it with itertools.islice to only print the first 20 words</a:t>
            </a:r>
            <a:endParaRPr sz="1600" i="1">
              <a:solidFill>
                <a:srgbClr val="00B050"/>
              </a:solidFill>
              <a:latin typeface="Roboto"/>
              <a:cs typeface="Roboto"/>
            </a:endParaRPr>
          </a:p>
          <a:p>
            <a:pPr marL="261849" indent="-261849">
              <a:buFont typeface="Arial"/>
              <a:buChar char="–"/>
              <a:defRPr/>
            </a:pPr>
            <a:r>
              <a:rPr lang="en-US" sz="1600">
                <a:solidFill>
                  <a:srgbClr val="00B050"/>
                </a:solidFill>
                <a:latin typeface="Roboto"/>
                <a:ea typeface="Roboto"/>
                <a:cs typeface="Roboto"/>
              </a:rPr>
              <a:t>build a streaming_csv_file function that stream chunks and then save them in other file named results (bonus use islice to save only first n rows .</a:t>
            </a:r>
            <a:endParaRPr sz="1600">
              <a:solidFill>
                <a:srgbClr val="00B050"/>
              </a:solidFill>
              <a:latin typeface="Roboto"/>
              <a:cs typeface="Roboto"/>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8">
    <p:bg>
      <p:bgPr shadeToTitle="0">
        <a:solidFill>
          <a:srgbClr val="7D6CF7"/>
        </a:solidFill>
      </p:bgPr>
    </p:bg>
    <p:spTree>
      <p:nvGrpSpPr>
        <p:cNvPr id="1" name=""/>
        <p:cNvGrpSpPr/>
        <p:nvPr/>
      </p:nvGrpSpPr>
      <p:grpSpPr bwMode="auto">
        <a:xfrm>
          <a:off x="0" y="0"/>
          <a:ext cx="0" cy="0"/>
          <a:chOff x="0" y="0"/>
          <a:chExt cx="0" cy="0"/>
        </a:xfrm>
      </p:grpSpPr>
      <p:sp>
        <p:nvSpPr>
          <p:cNvPr id="1940132812" name="Text 0"/>
          <p:cNvSpPr/>
          <p:nvPr/>
        </p:nvSpPr>
        <p:spPr bwMode="auto">
          <a:xfrm>
            <a:off x="640080" y="594360"/>
            <a:ext cx="10881360" cy="457200"/>
          </a:xfrm>
          <a:prstGeom prst="rect">
            <a:avLst/>
          </a:prstGeom>
          <a:noFill/>
          <a:ln/>
        </p:spPr>
        <p:txBody>
          <a:bodyPr wrap="square" lIns="0" tIns="0" rIns="0" bIns="0" rtlCol="0" anchor="ctr"/>
          <a:lstStyle/>
          <a:p>
            <a:pPr marL="0" indent="0">
              <a:buNone/>
              <a:defRPr/>
            </a:pPr>
            <a:r>
              <a:rPr lang="en-US" sz="1500" b="1" spc="199">
                <a:solidFill>
                  <a:srgbClr val="FFFFFF"/>
                </a:solidFill>
                <a:latin typeface="Calibri"/>
                <a:ea typeface="Calibri"/>
                <a:cs typeface="Calibri"/>
              </a:rPr>
              <a:t>SESSION 2 RECAP</a:t>
            </a:r>
            <a:endParaRPr lang="en-US" sz="1500"/>
          </a:p>
        </p:txBody>
      </p:sp>
      <p:sp>
        <p:nvSpPr>
          <p:cNvPr id="1698551917" name="Text 1"/>
          <p:cNvSpPr/>
          <p:nvPr/>
        </p:nvSpPr>
        <p:spPr bwMode="auto">
          <a:xfrm>
            <a:off x="640080" y="1005840"/>
            <a:ext cx="10881360" cy="777240"/>
          </a:xfrm>
          <a:prstGeom prst="rect">
            <a:avLst/>
          </a:prstGeom>
          <a:noFill/>
          <a:ln/>
        </p:spPr>
        <p:txBody>
          <a:bodyPr wrap="square" lIns="0" tIns="0" rIns="0" bIns="0" rtlCol="0" anchor="ctr"/>
          <a:lstStyle/>
          <a:p>
            <a:pPr marL="0" indent="0">
              <a:buNone/>
              <a:defRPr/>
            </a:pPr>
            <a:r>
              <a:rPr lang="en-US" sz="3000" b="1">
                <a:solidFill>
                  <a:srgbClr val="FFFFFF"/>
                </a:solidFill>
                <a:latin typeface="Cambria"/>
                <a:ea typeface="Cambria"/>
                <a:cs typeface="Cambria"/>
              </a:rPr>
              <a:t>Iterators, Generators &amp; Memory Management</a:t>
            </a:r>
            <a:endParaRPr lang="en-US" sz="3000"/>
          </a:p>
        </p:txBody>
      </p:sp>
      <p:sp>
        <p:nvSpPr>
          <p:cNvPr id="963015185" name="Shape 2"/>
          <p:cNvSpPr/>
          <p:nvPr/>
        </p:nvSpPr>
        <p:spPr bwMode="auto">
          <a:xfrm>
            <a:off x="581762" y="2199132"/>
            <a:ext cx="384048" cy="384048"/>
          </a:xfrm>
          <a:prstGeom prst="ellipse">
            <a:avLst/>
          </a:prstGeom>
          <a:solidFill>
            <a:srgbClr val="FFFFFF"/>
          </a:solidFill>
          <a:ln w="12700">
            <a:solidFill>
              <a:srgbClr val="000000"/>
            </a:solidFill>
            <a:prstDash val="solid"/>
          </a:ln>
        </p:spPr>
      </p:sp>
      <p:sp>
        <p:nvSpPr>
          <p:cNvPr id="1679774537" name="Text 3"/>
          <p:cNvSpPr/>
          <p:nvPr/>
        </p:nvSpPr>
        <p:spPr bwMode="auto">
          <a:xfrm>
            <a:off x="581762" y="2199132"/>
            <a:ext cx="384048" cy="384048"/>
          </a:xfrm>
          <a:prstGeom prst="rect">
            <a:avLst/>
          </a:prstGeom>
          <a:noFill/>
          <a:ln/>
        </p:spPr>
        <p:txBody>
          <a:bodyPr wrap="square" lIns="0" tIns="0" rIns="0" bIns="0" rtlCol="0" anchor="ctr"/>
          <a:lstStyle/>
          <a:p>
            <a:pPr marL="0" indent="0" algn="ctr">
              <a:buNone/>
              <a:defRPr/>
            </a:pPr>
            <a:r>
              <a:rPr lang="en-US" sz="1600" b="1">
                <a:solidFill>
                  <a:srgbClr val="2563EB"/>
                </a:solidFill>
                <a:latin typeface="Calibri"/>
                <a:ea typeface="Calibri"/>
                <a:cs typeface="Calibri"/>
              </a:rPr>
              <a:t>✓</a:t>
            </a:r>
            <a:endParaRPr lang="en-US" sz="1600"/>
          </a:p>
        </p:txBody>
      </p:sp>
      <p:sp>
        <p:nvSpPr>
          <p:cNvPr id="170526111" name="Text 4"/>
          <p:cNvSpPr/>
          <p:nvPr/>
        </p:nvSpPr>
        <p:spPr bwMode="auto">
          <a:xfrm>
            <a:off x="1234440" y="2002536"/>
            <a:ext cx="10287000" cy="777240"/>
          </a:xfrm>
          <a:prstGeom prst="rect">
            <a:avLst/>
          </a:prstGeom>
          <a:noFill/>
          <a:ln/>
        </p:spPr>
        <p:txBody>
          <a:bodyPr wrap="square" lIns="0" tIns="0" rIns="0" bIns="0" rtlCol="0" anchor="ctr"/>
          <a:lstStyle/>
          <a:p>
            <a:pPr marL="0" indent="0">
              <a:buNone/>
              <a:defRPr/>
            </a:pPr>
            <a:r>
              <a:rPr lang="en-US" sz="1600">
                <a:solidFill>
                  <a:srgbClr val="FFFFFF"/>
                </a:solidFill>
                <a:latin typeface="Calibri"/>
                <a:ea typeface="Calibri"/>
                <a:cs typeface="Calibri"/>
              </a:rPr>
              <a:t>Iterables implement __iter__; iterators implement __iter__ + __next__.</a:t>
            </a:r>
            <a:endParaRPr lang="en-US" sz="1600"/>
          </a:p>
        </p:txBody>
      </p:sp>
      <p:sp>
        <p:nvSpPr>
          <p:cNvPr id="1067907523" name="Shape 5"/>
          <p:cNvSpPr/>
          <p:nvPr/>
        </p:nvSpPr>
        <p:spPr bwMode="auto">
          <a:xfrm>
            <a:off x="581762" y="2976370"/>
            <a:ext cx="384048" cy="384048"/>
          </a:xfrm>
          <a:prstGeom prst="ellipse">
            <a:avLst/>
          </a:prstGeom>
          <a:solidFill>
            <a:srgbClr val="FFFFFF"/>
          </a:solidFill>
          <a:ln w="12700">
            <a:solidFill>
              <a:srgbClr val="000000"/>
            </a:solidFill>
            <a:prstDash val="solid"/>
          </a:ln>
        </p:spPr>
      </p:sp>
      <p:sp>
        <p:nvSpPr>
          <p:cNvPr id="174675583" name="Text 6"/>
          <p:cNvSpPr/>
          <p:nvPr/>
        </p:nvSpPr>
        <p:spPr bwMode="auto">
          <a:xfrm>
            <a:off x="581762" y="2976370"/>
            <a:ext cx="384048" cy="384048"/>
          </a:xfrm>
          <a:prstGeom prst="rect">
            <a:avLst/>
          </a:prstGeom>
          <a:noFill/>
          <a:ln/>
        </p:spPr>
        <p:txBody>
          <a:bodyPr wrap="square" lIns="0" tIns="0" rIns="0" bIns="0" rtlCol="0" anchor="ctr"/>
          <a:lstStyle/>
          <a:p>
            <a:pPr marL="0" indent="0" algn="ctr">
              <a:buNone/>
              <a:defRPr/>
            </a:pPr>
            <a:r>
              <a:rPr lang="en-US" sz="1600" b="1">
                <a:solidFill>
                  <a:srgbClr val="2563EB"/>
                </a:solidFill>
                <a:latin typeface="Calibri"/>
                <a:ea typeface="Calibri"/>
                <a:cs typeface="Calibri"/>
              </a:rPr>
              <a:t>✓</a:t>
            </a:r>
            <a:endParaRPr lang="en-US" sz="1600"/>
          </a:p>
        </p:txBody>
      </p:sp>
      <p:sp>
        <p:nvSpPr>
          <p:cNvPr id="165474376" name="Text 7"/>
          <p:cNvSpPr/>
          <p:nvPr/>
        </p:nvSpPr>
        <p:spPr bwMode="auto">
          <a:xfrm>
            <a:off x="1234440" y="2779775"/>
            <a:ext cx="10287000" cy="777240"/>
          </a:xfrm>
          <a:prstGeom prst="rect">
            <a:avLst/>
          </a:prstGeom>
          <a:noFill/>
          <a:ln/>
        </p:spPr>
        <p:txBody>
          <a:bodyPr wrap="square" lIns="0" tIns="0" rIns="0" bIns="0" rtlCol="0" anchor="ctr"/>
          <a:lstStyle/>
          <a:p>
            <a:pPr marL="0" indent="0">
              <a:buNone/>
              <a:defRPr/>
            </a:pPr>
            <a:r>
              <a:rPr lang="en-US" sz="1600">
                <a:solidFill>
                  <a:srgbClr val="FFFFFF"/>
                </a:solidFill>
                <a:latin typeface="Calibri"/>
                <a:ea typeface="Calibri"/>
                <a:cs typeface="Calibri"/>
              </a:rPr>
              <a:t>Generators (yield) are the easy way to write iterators.</a:t>
            </a:r>
            <a:endParaRPr lang="en-US" sz="1600"/>
          </a:p>
        </p:txBody>
      </p:sp>
      <p:sp>
        <p:nvSpPr>
          <p:cNvPr id="1004845074" name="Shape 8"/>
          <p:cNvSpPr/>
          <p:nvPr/>
        </p:nvSpPr>
        <p:spPr bwMode="auto">
          <a:xfrm>
            <a:off x="581762" y="3753612"/>
            <a:ext cx="384048" cy="384048"/>
          </a:xfrm>
          <a:prstGeom prst="ellipse">
            <a:avLst/>
          </a:prstGeom>
          <a:solidFill>
            <a:srgbClr val="FFFFFF"/>
          </a:solidFill>
          <a:ln w="12700">
            <a:solidFill>
              <a:srgbClr val="000000"/>
            </a:solidFill>
            <a:prstDash val="solid"/>
          </a:ln>
        </p:spPr>
      </p:sp>
      <p:sp>
        <p:nvSpPr>
          <p:cNvPr id="1893838038" name="Text 9"/>
          <p:cNvSpPr/>
          <p:nvPr/>
        </p:nvSpPr>
        <p:spPr bwMode="auto">
          <a:xfrm>
            <a:off x="581762" y="3753612"/>
            <a:ext cx="384048" cy="384048"/>
          </a:xfrm>
          <a:prstGeom prst="rect">
            <a:avLst/>
          </a:prstGeom>
          <a:noFill/>
          <a:ln/>
        </p:spPr>
        <p:txBody>
          <a:bodyPr wrap="square" lIns="0" tIns="0" rIns="0" bIns="0" rtlCol="0" anchor="ctr"/>
          <a:lstStyle/>
          <a:p>
            <a:pPr marL="0" indent="0" algn="ctr">
              <a:buNone/>
              <a:defRPr/>
            </a:pPr>
            <a:r>
              <a:rPr lang="en-US" sz="1600" b="1">
                <a:solidFill>
                  <a:srgbClr val="2563EB"/>
                </a:solidFill>
                <a:latin typeface="Calibri"/>
                <a:ea typeface="Calibri"/>
                <a:cs typeface="Calibri"/>
              </a:rPr>
              <a:t>✓</a:t>
            </a:r>
            <a:endParaRPr lang="en-US" sz="1600"/>
          </a:p>
        </p:txBody>
      </p:sp>
      <p:sp>
        <p:nvSpPr>
          <p:cNvPr id="626829957" name="Text 10"/>
          <p:cNvSpPr/>
          <p:nvPr/>
        </p:nvSpPr>
        <p:spPr bwMode="auto">
          <a:xfrm>
            <a:off x="1234440" y="3557016"/>
            <a:ext cx="10287000" cy="777240"/>
          </a:xfrm>
          <a:prstGeom prst="rect">
            <a:avLst/>
          </a:prstGeom>
          <a:noFill/>
          <a:ln/>
        </p:spPr>
        <p:txBody>
          <a:bodyPr wrap="square" lIns="0" tIns="0" rIns="0" bIns="0" rtlCol="0" anchor="ctr"/>
          <a:lstStyle/>
          <a:p>
            <a:pPr marL="0" indent="0">
              <a:buNone/>
              <a:defRPr/>
            </a:pPr>
            <a:r>
              <a:rPr lang="en-US" sz="1600">
                <a:solidFill>
                  <a:srgbClr val="FFFFFF"/>
                </a:solidFill>
                <a:latin typeface="Calibri"/>
                <a:ea typeface="Calibri"/>
                <a:cs typeface="Calibri"/>
              </a:rPr>
              <a:t>Generators are lazy: near-zero memory, single-pass.</a:t>
            </a:r>
            <a:endParaRPr lang="en-US" sz="1600"/>
          </a:p>
        </p:txBody>
      </p:sp>
      <p:sp>
        <p:nvSpPr>
          <p:cNvPr id="494344667" name="Shape 11"/>
          <p:cNvSpPr/>
          <p:nvPr/>
        </p:nvSpPr>
        <p:spPr bwMode="auto">
          <a:xfrm>
            <a:off x="581762" y="4530852"/>
            <a:ext cx="384048" cy="384048"/>
          </a:xfrm>
          <a:prstGeom prst="ellipse">
            <a:avLst/>
          </a:prstGeom>
          <a:solidFill>
            <a:srgbClr val="FFFFFF"/>
          </a:solidFill>
          <a:ln w="12700">
            <a:solidFill>
              <a:srgbClr val="000000"/>
            </a:solidFill>
            <a:prstDash val="solid"/>
          </a:ln>
        </p:spPr>
      </p:sp>
      <p:sp>
        <p:nvSpPr>
          <p:cNvPr id="1324111173" name="Text 12"/>
          <p:cNvSpPr/>
          <p:nvPr/>
        </p:nvSpPr>
        <p:spPr bwMode="auto">
          <a:xfrm>
            <a:off x="581762" y="4530852"/>
            <a:ext cx="384048" cy="384048"/>
          </a:xfrm>
          <a:prstGeom prst="rect">
            <a:avLst/>
          </a:prstGeom>
          <a:noFill/>
          <a:ln/>
        </p:spPr>
        <p:txBody>
          <a:bodyPr wrap="square" lIns="0" tIns="0" rIns="0" bIns="0" rtlCol="0" anchor="ctr"/>
          <a:lstStyle/>
          <a:p>
            <a:pPr marL="0" indent="0" algn="ctr">
              <a:buNone/>
              <a:defRPr/>
            </a:pPr>
            <a:r>
              <a:rPr lang="en-US" sz="1600" b="1">
                <a:solidFill>
                  <a:srgbClr val="2563EB"/>
                </a:solidFill>
                <a:latin typeface="Calibri"/>
                <a:ea typeface="Calibri"/>
                <a:cs typeface="Calibri"/>
              </a:rPr>
              <a:t>✓</a:t>
            </a:r>
            <a:endParaRPr lang="en-US" sz="1600"/>
          </a:p>
        </p:txBody>
      </p:sp>
      <p:sp>
        <p:nvSpPr>
          <p:cNvPr id="837420348" name="Text 13"/>
          <p:cNvSpPr/>
          <p:nvPr/>
        </p:nvSpPr>
        <p:spPr bwMode="auto">
          <a:xfrm>
            <a:off x="1234440" y="4334256"/>
            <a:ext cx="10287000" cy="777240"/>
          </a:xfrm>
          <a:prstGeom prst="rect">
            <a:avLst/>
          </a:prstGeom>
          <a:noFill/>
          <a:ln/>
        </p:spPr>
        <p:txBody>
          <a:bodyPr wrap="square" lIns="0" tIns="0" rIns="0" bIns="0" rtlCol="0" anchor="ctr"/>
          <a:lstStyle/>
          <a:p>
            <a:pPr marL="0" indent="0">
              <a:buNone/>
              <a:defRPr/>
            </a:pPr>
            <a:r>
              <a:rPr lang="en-US" sz="1600">
                <a:solidFill>
                  <a:srgbClr val="FFFFFF"/>
                </a:solidFill>
                <a:latin typeface="Calibri"/>
                <a:ea typeface="Calibri"/>
                <a:cs typeface="Calibri"/>
              </a:rPr>
              <a:t>itertools gives you production-ready building blocks (islice, chain, groupby...).</a:t>
            </a:r>
            <a:endParaRPr lang="en-US" sz="1600"/>
          </a:p>
        </p:txBody>
      </p:sp>
      <p:sp>
        <p:nvSpPr>
          <p:cNvPr id="1504844638" name="Text 14"/>
          <p:cNvSpPr/>
          <p:nvPr/>
        </p:nvSpPr>
        <p:spPr bwMode="auto">
          <a:xfrm>
            <a:off x="640080" y="6492240"/>
            <a:ext cx="7315200" cy="274320"/>
          </a:xfrm>
          <a:prstGeom prst="rect">
            <a:avLst/>
          </a:prstGeom>
          <a:noFill/>
          <a:ln/>
        </p:spPr>
        <p:txBody>
          <a:bodyPr wrap="square" lIns="0" tIns="0" rIns="0" bIns="0" rtlCol="0" anchor="ctr"/>
          <a:lstStyle/>
          <a:p>
            <a:pPr marL="0" indent="0">
              <a:buNone/>
              <a:defRPr/>
            </a:pPr>
            <a:r>
              <a:rPr lang="en-US" sz="1000">
                <a:solidFill>
                  <a:srgbClr val="D8D3F0"/>
                </a:solidFill>
                <a:latin typeface="Calibri"/>
                <a:ea typeface="Calibri"/>
                <a:cs typeface="Calibri"/>
              </a:rPr>
              <a:t>Advanced Python — Session 2 / 4</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0">
    <p:bg>
      <p:bgPr shadeToTitle="0">
        <a:solidFill>
          <a:srgbClr val="14102B"/>
        </a:solidFill>
      </p:bgPr>
    </p:bg>
    <p:spTree>
      <p:nvGrpSpPr>
        <p:cNvPr id="1" name=""/>
        <p:cNvGrpSpPr/>
        <p:nvPr/>
      </p:nvGrpSpPr>
      <p:grpSpPr bwMode="auto">
        <a:xfrm>
          <a:off x="0" y="0"/>
          <a:ext cx="0" cy="0"/>
          <a:chOff x="0" y="0"/>
          <a:chExt cx="0" cy="0"/>
        </a:xfrm>
      </p:grpSpPr>
      <p:sp>
        <p:nvSpPr>
          <p:cNvPr id="864530996" name="Shape 0"/>
          <p:cNvSpPr/>
          <p:nvPr/>
        </p:nvSpPr>
        <p:spPr bwMode="auto">
          <a:xfrm>
            <a:off x="-1828800" y="-1828800"/>
            <a:ext cx="4572000" cy="4572000"/>
          </a:xfrm>
          <a:prstGeom prst="ellipse">
            <a:avLst/>
          </a:prstGeom>
          <a:solidFill>
            <a:srgbClr val="1F1A44"/>
          </a:solidFill>
          <a:ln w="12700">
            <a:solidFill>
              <a:srgbClr val="000000"/>
            </a:solidFill>
            <a:prstDash val="solid"/>
          </a:ln>
        </p:spPr>
      </p:sp>
      <p:sp>
        <p:nvSpPr>
          <p:cNvPr id="429974517" name="Text 1"/>
          <p:cNvSpPr/>
          <p:nvPr/>
        </p:nvSpPr>
        <p:spPr bwMode="auto">
          <a:xfrm>
            <a:off x="822960" y="1371600"/>
            <a:ext cx="10515600" cy="365760"/>
          </a:xfrm>
          <a:prstGeom prst="rect">
            <a:avLst/>
          </a:prstGeom>
          <a:noFill/>
          <a:ln/>
        </p:spPr>
        <p:txBody>
          <a:bodyPr wrap="square" lIns="0" tIns="0" rIns="0" bIns="0" rtlCol="0" anchor="ctr"/>
          <a:lstStyle/>
          <a:p>
            <a:pPr marL="0" indent="0">
              <a:buNone/>
              <a:defRPr/>
            </a:pPr>
            <a:r>
              <a:rPr lang="en-US" sz="1300" b="1" spc="298">
                <a:solidFill>
                  <a:srgbClr val="8B7CF0"/>
                </a:solidFill>
                <a:latin typeface="Calibri"/>
                <a:ea typeface="Calibri"/>
                <a:cs typeface="Calibri"/>
              </a:rPr>
              <a:t>PILLAR 1 — CLOSING</a:t>
            </a:r>
            <a:endParaRPr lang="en-US" sz="1300"/>
          </a:p>
        </p:txBody>
      </p:sp>
      <p:sp>
        <p:nvSpPr>
          <p:cNvPr id="1503485451" name="Text 2"/>
          <p:cNvSpPr/>
          <p:nvPr/>
        </p:nvSpPr>
        <p:spPr bwMode="auto">
          <a:xfrm>
            <a:off x="822960" y="1783080"/>
            <a:ext cx="10515600" cy="1371600"/>
          </a:xfrm>
          <a:prstGeom prst="rect">
            <a:avLst/>
          </a:prstGeom>
          <a:noFill/>
          <a:ln/>
        </p:spPr>
        <p:txBody>
          <a:bodyPr wrap="square" lIns="0" tIns="0" rIns="0" bIns="0" rtlCol="0" anchor="ctr"/>
          <a:lstStyle/>
          <a:p>
            <a:pPr marL="0" indent="0">
              <a:buNone/>
              <a:defRPr/>
            </a:pPr>
            <a:r>
              <a:rPr lang="en-US" sz="3200" b="1">
                <a:solidFill>
                  <a:srgbClr val="FFFFFF"/>
                </a:solidFill>
                <a:latin typeface="Cambria"/>
                <a:ea typeface="Cambria"/>
                <a:cs typeface="Cambria"/>
              </a:rPr>
              <a:t>You now understand the four ideas underneath almost every real Python library</a:t>
            </a:r>
            <a:endParaRPr lang="en-US" sz="3200"/>
          </a:p>
        </p:txBody>
      </p:sp>
      <p:sp>
        <p:nvSpPr>
          <p:cNvPr id="839848299" name="Shape 3"/>
          <p:cNvSpPr/>
          <p:nvPr/>
        </p:nvSpPr>
        <p:spPr bwMode="auto">
          <a:xfrm>
            <a:off x="822960" y="3429000"/>
            <a:ext cx="146304" cy="146304"/>
          </a:xfrm>
          <a:prstGeom prst="ellipse">
            <a:avLst/>
          </a:prstGeom>
          <a:solidFill>
            <a:srgbClr val="7C3AED"/>
          </a:solidFill>
          <a:ln w="12700">
            <a:solidFill>
              <a:srgbClr val="000000"/>
            </a:solidFill>
            <a:prstDash val="solid"/>
          </a:ln>
        </p:spPr>
      </p:sp>
      <p:sp>
        <p:nvSpPr>
          <p:cNvPr id="990144398" name="Text 4"/>
          <p:cNvSpPr/>
          <p:nvPr/>
        </p:nvSpPr>
        <p:spPr bwMode="auto">
          <a:xfrm>
            <a:off x="1143000" y="3300984"/>
            <a:ext cx="9144000" cy="365760"/>
          </a:xfrm>
          <a:prstGeom prst="rect">
            <a:avLst/>
          </a:prstGeom>
          <a:noFill/>
          <a:ln/>
        </p:spPr>
        <p:txBody>
          <a:bodyPr wrap="square" lIns="0" tIns="0" rIns="0" bIns="0" rtlCol="0" anchor="ctr"/>
          <a:lstStyle/>
          <a:p>
            <a:pPr marL="0" indent="0">
              <a:buNone/>
              <a:defRPr/>
            </a:pPr>
            <a:r>
              <a:rPr lang="en-US" sz="1600">
                <a:solidFill>
                  <a:srgbClr val="D8D3F5"/>
                </a:solidFill>
                <a:latin typeface="Calibri"/>
                <a:ea typeface="Calibri"/>
                <a:cs typeface="Calibri"/>
              </a:rPr>
              <a:t>scope &amp; closures  </a:t>
            </a:r>
            <a:r>
              <a:rPr lang="en-US" sz="1600" b="1">
                <a:solidFill>
                  <a:srgbClr val="8B7CF0"/>
                </a:solidFill>
                <a:latin typeface="Calibri"/>
                <a:ea typeface="Calibri"/>
                <a:cs typeface="Calibri"/>
              </a:rPr>
              <a:t>→  </a:t>
            </a:r>
            <a:r>
              <a:rPr lang="en-US" sz="1600" b="1">
                <a:solidFill>
                  <a:srgbClr val="FFFFFF"/>
                </a:solidFill>
                <a:latin typeface="Calibri"/>
                <a:ea typeface="Calibri"/>
                <a:cs typeface="Calibri"/>
              </a:rPr>
              <a:t>decorators</a:t>
            </a:r>
            <a:endParaRPr lang="en-US" sz="1600"/>
          </a:p>
        </p:txBody>
      </p:sp>
      <p:sp>
        <p:nvSpPr>
          <p:cNvPr id="2018461558" name="Shape 5"/>
          <p:cNvSpPr/>
          <p:nvPr/>
        </p:nvSpPr>
        <p:spPr bwMode="auto">
          <a:xfrm>
            <a:off x="822960" y="3995928"/>
            <a:ext cx="146304" cy="146304"/>
          </a:xfrm>
          <a:prstGeom prst="ellipse">
            <a:avLst/>
          </a:prstGeom>
          <a:solidFill>
            <a:srgbClr val="2563EB"/>
          </a:solidFill>
          <a:ln w="12700">
            <a:solidFill>
              <a:srgbClr val="000000"/>
            </a:solidFill>
            <a:prstDash val="solid"/>
          </a:ln>
        </p:spPr>
      </p:sp>
      <p:sp>
        <p:nvSpPr>
          <p:cNvPr id="247057871" name="Text 6"/>
          <p:cNvSpPr/>
          <p:nvPr/>
        </p:nvSpPr>
        <p:spPr bwMode="auto">
          <a:xfrm>
            <a:off x="1143000" y="3867909"/>
            <a:ext cx="9144000" cy="365760"/>
          </a:xfrm>
          <a:prstGeom prst="rect">
            <a:avLst/>
          </a:prstGeom>
          <a:noFill/>
          <a:ln/>
        </p:spPr>
        <p:txBody>
          <a:bodyPr wrap="square" lIns="0" tIns="0" rIns="0" bIns="0" rtlCol="0" anchor="ctr"/>
          <a:lstStyle/>
          <a:p>
            <a:pPr marL="0" indent="0">
              <a:buNone/>
              <a:defRPr/>
            </a:pPr>
            <a:r>
              <a:rPr lang="en-US" sz="1600">
                <a:solidFill>
                  <a:srgbClr val="D8D3F5"/>
                </a:solidFill>
                <a:latin typeface="Calibri"/>
                <a:ea typeface="Calibri"/>
                <a:cs typeface="Calibri"/>
              </a:rPr>
              <a:t>iteration  </a:t>
            </a:r>
            <a:r>
              <a:rPr lang="en-US" sz="1600" b="1">
                <a:solidFill>
                  <a:srgbClr val="8B7CF0"/>
                </a:solidFill>
                <a:latin typeface="Calibri"/>
                <a:ea typeface="Calibri"/>
                <a:cs typeface="Calibri"/>
              </a:rPr>
              <a:t>→  </a:t>
            </a:r>
            <a:r>
              <a:rPr lang="en-US" sz="1600" b="1">
                <a:solidFill>
                  <a:srgbClr val="FFFFFF"/>
                </a:solidFill>
                <a:latin typeface="Calibri"/>
                <a:ea typeface="Calibri"/>
                <a:cs typeface="Calibri"/>
              </a:rPr>
              <a:t>generators</a:t>
            </a:r>
            <a:endParaRPr lang="en-US" sz="1600"/>
          </a:p>
        </p:txBody>
      </p:sp>
      <p:sp>
        <p:nvSpPr>
          <p:cNvPr id="1461249186" name="Shape 7"/>
          <p:cNvSpPr/>
          <p:nvPr/>
        </p:nvSpPr>
        <p:spPr bwMode="auto">
          <a:xfrm>
            <a:off x="822960" y="4562856"/>
            <a:ext cx="146304" cy="146304"/>
          </a:xfrm>
          <a:prstGeom prst="ellipse">
            <a:avLst/>
          </a:prstGeom>
          <a:solidFill>
            <a:srgbClr val="F97316"/>
          </a:solidFill>
          <a:ln w="12700">
            <a:solidFill>
              <a:srgbClr val="000000"/>
            </a:solidFill>
            <a:prstDash val="solid"/>
          </a:ln>
        </p:spPr>
      </p:sp>
      <p:sp>
        <p:nvSpPr>
          <p:cNvPr id="1783395725" name="Text 8"/>
          <p:cNvSpPr/>
          <p:nvPr/>
        </p:nvSpPr>
        <p:spPr bwMode="auto">
          <a:xfrm>
            <a:off x="1143000" y="4434840"/>
            <a:ext cx="9144000" cy="365760"/>
          </a:xfrm>
          <a:prstGeom prst="rect">
            <a:avLst/>
          </a:prstGeom>
          <a:noFill/>
          <a:ln/>
        </p:spPr>
        <p:txBody>
          <a:bodyPr wrap="square" lIns="0" tIns="0" rIns="0" bIns="0" rtlCol="0" anchor="ctr"/>
          <a:lstStyle/>
          <a:p>
            <a:pPr marL="0" indent="0">
              <a:buNone/>
              <a:defRPr/>
            </a:pPr>
            <a:r>
              <a:rPr lang="en-US" sz="1600">
                <a:solidFill>
                  <a:srgbClr val="D8D3F5"/>
                </a:solidFill>
                <a:latin typeface="Calibri"/>
                <a:ea typeface="Calibri"/>
                <a:cs typeface="Calibri"/>
              </a:rPr>
              <a:t>resource lifecycles  </a:t>
            </a:r>
            <a:r>
              <a:rPr lang="en-US" sz="1600" b="1">
                <a:solidFill>
                  <a:srgbClr val="8B7CF0"/>
                </a:solidFill>
                <a:latin typeface="Calibri"/>
                <a:ea typeface="Calibri"/>
                <a:cs typeface="Calibri"/>
              </a:rPr>
              <a:t>→  </a:t>
            </a:r>
            <a:r>
              <a:rPr lang="en-US" sz="1600" b="1">
                <a:solidFill>
                  <a:srgbClr val="FFFFFF"/>
                </a:solidFill>
                <a:latin typeface="Calibri"/>
                <a:ea typeface="Calibri"/>
                <a:cs typeface="Calibri"/>
              </a:rPr>
              <a:t>context managers</a:t>
            </a:r>
            <a:endParaRPr lang="en-US" sz="1600"/>
          </a:p>
        </p:txBody>
      </p:sp>
      <p:sp>
        <p:nvSpPr>
          <p:cNvPr id="1634140156" name="Shape 9"/>
          <p:cNvSpPr/>
          <p:nvPr/>
        </p:nvSpPr>
        <p:spPr bwMode="auto">
          <a:xfrm>
            <a:off x="822960" y="5129784"/>
            <a:ext cx="146304" cy="146304"/>
          </a:xfrm>
          <a:prstGeom prst="ellipse">
            <a:avLst/>
          </a:prstGeom>
          <a:solidFill>
            <a:srgbClr val="6B21A8"/>
          </a:solidFill>
          <a:ln w="12700">
            <a:solidFill>
              <a:srgbClr val="000000"/>
            </a:solidFill>
            <a:prstDash val="solid"/>
          </a:ln>
        </p:spPr>
      </p:sp>
      <p:sp>
        <p:nvSpPr>
          <p:cNvPr id="1502529303" name="Text 10"/>
          <p:cNvSpPr/>
          <p:nvPr/>
        </p:nvSpPr>
        <p:spPr bwMode="auto">
          <a:xfrm>
            <a:off x="1143000" y="5001766"/>
            <a:ext cx="9144000" cy="365760"/>
          </a:xfrm>
          <a:prstGeom prst="rect">
            <a:avLst/>
          </a:prstGeom>
          <a:noFill/>
          <a:ln/>
        </p:spPr>
        <p:txBody>
          <a:bodyPr wrap="square" lIns="0" tIns="0" rIns="0" bIns="0" rtlCol="0" anchor="ctr"/>
          <a:lstStyle/>
          <a:p>
            <a:pPr marL="0" indent="0">
              <a:buNone/>
              <a:defRPr/>
            </a:pPr>
            <a:r>
              <a:rPr lang="en-US" sz="1600">
                <a:solidFill>
                  <a:srgbClr val="D8D3F5"/>
                </a:solidFill>
                <a:latin typeface="Calibri"/>
                <a:ea typeface="Calibri"/>
                <a:cs typeface="Calibri"/>
              </a:rPr>
              <a:t>structure  </a:t>
            </a:r>
            <a:r>
              <a:rPr lang="en-US" sz="1600" b="1">
                <a:solidFill>
                  <a:srgbClr val="8B7CF0"/>
                </a:solidFill>
                <a:latin typeface="Calibri"/>
                <a:ea typeface="Calibri"/>
                <a:cs typeface="Calibri"/>
              </a:rPr>
              <a:t>→  </a:t>
            </a:r>
            <a:r>
              <a:rPr lang="en-US" sz="1600" b="1">
                <a:solidFill>
                  <a:srgbClr val="FFFFFF"/>
                </a:solidFill>
                <a:latin typeface="Calibri"/>
                <a:ea typeface="Calibri"/>
                <a:cs typeface="Calibri"/>
              </a:rPr>
              <a:t>OOP</a:t>
            </a:r>
            <a:endParaRPr lang="en-US" sz="1600"/>
          </a:p>
        </p:txBody>
      </p:sp>
      <p:sp>
        <p:nvSpPr>
          <p:cNvPr id="1223819191" name="Shape 11"/>
          <p:cNvSpPr/>
          <p:nvPr/>
        </p:nvSpPr>
        <p:spPr bwMode="auto">
          <a:xfrm>
            <a:off x="822960" y="5806440"/>
            <a:ext cx="9601200" cy="685800"/>
          </a:xfrm>
          <a:prstGeom prst="roundRect">
            <a:avLst>
              <a:gd name="adj" fmla="val 10667"/>
            </a:avLst>
          </a:prstGeom>
          <a:solidFill>
            <a:srgbClr val="1F1A44"/>
          </a:solidFill>
          <a:ln w="12700">
            <a:solidFill>
              <a:srgbClr val="8B7CF0"/>
            </a:solidFill>
            <a:prstDash val="solid"/>
          </a:ln>
        </p:spPr>
      </p:sp>
      <p:sp>
        <p:nvSpPr>
          <p:cNvPr id="1883253996" name="Text 12"/>
          <p:cNvSpPr/>
          <p:nvPr/>
        </p:nvSpPr>
        <p:spPr bwMode="auto">
          <a:xfrm>
            <a:off x="1051560" y="5806440"/>
            <a:ext cx="9144000" cy="685800"/>
          </a:xfrm>
          <a:prstGeom prst="rect">
            <a:avLst/>
          </a:prstGeom>
          <a:noFill/>
          <a:ln/>
        </p:spPr>
        <p:txBody>
          <a:bodyPr wrap="square" lIns="0" tIns="0" rIns="0" bIns="0" rtlCol="0" anchor="ctr"/>
          <a:lstStyle/>
          <a:p>
            <a:pPr marL="0" indent="0">
              <a:buNone/>
              <a:defRPr/>
            </a:pPr>
            <a:r>
              <a:rPr lang="en-US" sz="1500">
                <a:solidFill>
                  <a:srgbClr val="C9C3F0"/>
                </a:solidFill>
                <a:latin typeface="Calibri"/>
                <a:ea typeface="Calibri"/>
                <a:cs typeface="Calibri"/>
              </a:rPr>
              <a:t>Next up: </a:t>
            </a:r>
            <a:r>
              <a:rPr lang="en-US" sz="1500" b="1">
                <a:solidFill>
                  <a:srgbClr val="FFFFFF"/>
                </a:solidFill>
                <a:latin typeface="Calibri"/>
                <a:ea typeface="Calibri"/>
                <a:cs typeface="Calibri"/>
              </a:rPr>
              <a:t>Pillar 2 — Data Science Core </a:t>
            </a:r>
            <a:r>
              <a:rPr lang="en-US" sz="1500" i="1">
                <a:solidFill>
                  <a:srgbClr val="C9C3F0"/>
                </a:solidFill>
                <a:latin typeface="Calibri"/>
                <a:ea typeface="Calibri"/>
                <a:cs typeface="Calibri"/>
              </a:rPr>
              <a:t>(SQL, Pandas, statistics, visualization)</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ONLYOFFICE/10.0.0.169</Application>
  <PresentationFormat>On-screen Show (4:3)</PresentationFormat>
  <Paragraphs>0</Paragraphs>
  <Slides>18</Slides>
  <Notes>18</Notes>
  <HiddenSlides>0</HiddenSlides>
  <MMClips>2</MMClips>
  <ScaleCrop>0</ScaleCrop>
  <HeadingPairs>
    <vt:vector size="4" baseType="variant">
      <vt:variant>
        <vt:lpstr>Theme</vt:lpstr>
      </vt:variant>
      <vt:variant>
        <vt:i4>1</vt:i4>
      </vt:variant>
      <vt:variant>
        <vt:lpstr>Slide Titles</vt:lpstr>
      </vt:variant>
      <vt:variant>
        <vt:i4>18</vt:i4>
      </vt:variant>
    </vt:vector>
  </HeadingPairs>
  <TitlesOfParts>
    <vt:vector size="19"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12</cp:revision>
  <dcterms:modified xsi:type="dcterms:W3CDTF">2026-10-28T15:45:18Z</dcterms:modified>
</cp:coreProperties>
</file>