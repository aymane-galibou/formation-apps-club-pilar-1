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21.xml" ContentType="application/vnd.openxmlformats-officedocument.presentationml.notesSlide+xml"/>
  <Override PartName="/ppt/notesSlides/notesSlide14.xml" ContentType="application/vnd.openxmlformats-officedocument.presentationml.notes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3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  <Override PartName="/ppt/slides/slide3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4.xml" ContentType="application/vnd.openxmlformats-officedocument.presentationml.slideLayout+xml"/>
  <Override PartName="/ppt/notesSlides/notesSlide2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21.xml" ContentType="application/vnd.openxmlformats-officedocument.presentationml.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4.xml" ContentType="application/vnd.openxmlformats-officedocument.presentationml.notesSlide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ppt/slides/slide17.xml" ContentType="application/vnd.openxmlformats-officedocument.presentationml.slide+xml"/>
  <Override PartName="/ppt/viewProps.xml" ContentType="application/vnd.openxmlformats-officedocument.presentationml.viewProps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8.xml" ContentType="application/vnd.openxmlformats-officedocument.presentationml.slide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ppt/slideLayouts/slideLayout6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8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2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4B1156A-380E-4F78-BDF5-A606A8083BF9}">
  <a:tblStyle styleId="{C4B1156A-380E-4F78-BDF5-A606A8083BF9}" styleName="Medium Style 4 - Accent 4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accent4"/>
              </a:solidFill>
            </a:ln>
          </a:left>
          <a:right>
            <a:ln w="12700">
              <a:solidFill>
                <a:schemeClr val="accent4"/>
              </a:solidFill>
            </a:ln>
          </a:right>
          <a:top>
            <a:ln w="12700">
              <a:solidFill>
                <a:schemeClr val="accent4"/>
              </a:solidFill>
            </a:ln>
          </a:top>
          <a:bottom>
            <a:ln w="12700">
              <a:solidFill>
                <a:schemeClr val="accent4"/>
              </a:solidFill>
            </a:ln>
          </a:bottom>
          <a:insideH>
            <a:ln w="12700">
              <a:solidFill>
                <a:schemeClr val="accent4"/>
              </a:solidFill>
            </a:ln>
          </a:insideH>
          <a:insideV>
            <a:ln w="12700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  <a:fill>
          <a:solidFill>
            <a:schemeClr val="accent4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dk1"/>
      </a:tcTxStyle>
      <a:tcStyle>
        <a:tcBdr/>
      </a:tcStyle>
    </a:lastCol>
    <a:firstCol>
      <a:tcTxStyle b="on">
        <a:fontRef idx="minor">
          <a:prstClr val="black"/>
        </a:fontRef>
        <a:schemeClr val="dk1"/>
      </a:tcTxStyle>
      <a:tcStyle>
        <a:tcBdr/>
      </a:tcStyle>
    </a:firstCol>
    <a:lastRow>
      <a:tcTxStyle b="on">
        <a:fontRef idx="minor">
          <a:prstClr val="black"/>
        </a:fontRef>
        <a:schemeClr val="dk1"/>
      </a:tcTxStyle>
      <a:tcStyle>
        <a:tcBdr>
          <a:top>
            <a:ln w="38100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dk1"/>
      </a:tcTxStyle>
      <a:tcStyle>
        <a:tcBdr>
          <a:bottom>
            <a:ln w="12700">
              <a:solidFill>
                <a:schemeClr val="accent4"/>
              </a:solidFill>
            </a:ln>
          </a:bottom>
        </a:tcBdr>
        <a:fill>
          <a:solidFill>
            <a:schemeClr val="accent4">
              <a:tint val="20000"/>
            </a:schemeClr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 /><Relationship Id="rId31" Type="http://schemas.openxmlformats.org/officeDocument/2006/relationships/tableStyles" Target="tableStyles.xml" /><Relationship Id="rId32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974231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897115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90677948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12010819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8608562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400239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4757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03660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387556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0A404E-3110-807F-35F5-1271269DFE4A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25448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918150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61786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C08EA0-26BB-B72C-6198-DDE786BDFD67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8486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0075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1520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2B83A9-9559-EA5E-BD8E-8F38DA5576A7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91172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11604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543314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4A0D4FF-34CC-51AB-4DE2-0E5477B13F2B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77176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5642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625076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00BB0B-B6ED-986E-07A4-81F5B65B24BD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503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826274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64044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2FCE20D-D3B0-3147-F36B-32F617F3583A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56247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43031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234155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B35FE77-8A35-8817-F80D-138D71839C70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1806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5390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3362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6A806A-BD90-B1CC-92B5-6074506B2884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7797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5952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10368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16E749-8233-F92C-6335-D61362EF1AF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187942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3394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87329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5CA617-20AE-242D-508B-F3A669A4329F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88595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71955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58425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3DE935-1958-7C02-CCFF-B12A7E27014E}" type="slidenum">
              <a:rPr lang="en-US"/>
              <a:t>56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47466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19413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74710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678B157-709E-1B3C-AEF3-754A04EB10EB}" type="slidenum">
              <a:rPr lang="en-US"/>
              <a:t>57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200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71050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67410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5EBC6A9-2076-7EFA-C79E-B07015309E46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731258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09075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851093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E91D76A-15ED-F26F-8788-ABDBE847CBE5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91778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03884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635788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8FA0AC3-5D0E-7A56-F813-791C5ACBB7B5}" type="slidenum">
              <a:rPr lang="en-US"/>
              <a:t>58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61687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523940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804678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2323B0-A6C8-051C-EF84-AC5484CAA5B7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44760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3524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072180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B18C212-CC3A-D22F-9C44-8428EB033B26}" type="slidenum">
              <a:rPr lang="en-US"/>
              <a:t>59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72180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681484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41724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98598C-8E36-E5A9-068A-18514A4706A3}" type="slidenum">
              <a:rPr lang="en-US"/>
              <a:t>60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745718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37123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96731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C04C481-EE09-CA44-0DEF-FF87E033C5B4}" type="slidenum">
              <a:rPr lang="en-US"/>
              <a:t>61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6326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696318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249825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DCAD12C-FF54-BE42-AE95-E68AFE708A16}" type="slidenum">
              <a:rPr lang="en-US"/>
              <a:t>62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267950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153455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227066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160142-816D-6B80-EBF4-E51EFBC1F3B2}" type="slidenum">
              <a:rPr lang="en-US"/>
              <a:t>63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6822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034649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906221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B74A45D-25B2-03B2-FBD9-9D6A882F6CFF}" type="slidenum">
              <a:rPr lang="en-US"/>
              <a:t>64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5666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712133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6891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63760FC-21BB-0D1D-8206-545C4F298933}" type="slidenum">
              <a:rPr lang="en-US"/>
              <a:t>65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53337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36109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0077081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DADB71-7CB3-5836-1BF2-8252D21F4AED}" type="slidenum">
              <a:rPr lang="en-US"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71187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662139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4501275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39BACC4-23A2-AE56-9B5D-088297F094E2}" type="slidenum">
              <a:rPr lang="en-US"/>
              <a:t>69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6522324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66452700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48994935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108103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312710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419433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4082881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687256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7683864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1782900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6799041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034097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59256081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42635100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0731441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5471025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37075012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3507330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12498981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153412069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087076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01450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09539422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3827579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87692918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995989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878649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9631116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909748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03794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126436146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47921269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3987973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1063525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83109210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747471689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259144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10826014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84087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30949654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8724280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7426016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926801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24073166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6321311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3585857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77751062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34575347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65778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14289628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1456197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8870693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7272320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9147253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25202863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713701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807414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113459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8124840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058523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3738440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852121538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0894545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1">
    <p:bg>
      <p:bgPr shadeToTitle="0">
        <a:gradFill>
          <a:gsLst>
            <a:gs pos="0">
              <a:srgbClr val="14102B">
                <a:alpha val="99999"/>
              </a:srgbClr>
            </a:gs>
            <a:gs pos="28000">
              <a:srgbClr val="1A1630">
                <a:alpha val="99999"/>
              </a:srgbClr>
            </a:gs>
            <a:gs pos="52000">
              <a:srgbClr val="3C3950">
                <a:alpha val="99999"/>
              </a:srgbClr>
            </a:gs>
            <a:gs pos="91000">
              <a:srgbClr val="9998A3">
                <a:alpha val="99999"/>
              </a:srgbClr>
            </a:gs>
          </a:gsLst>
          <a:lin ang="2400000" scaled="1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5925696" name="Shape 0"/>
          <p:cNvSpPr/>
          <p:nvPr/>
        </p:nvSpPr>
        <p:spPr bwMode="auto">
          <a:xfrm>
            <a:off x="9692640" y="-1463040"/>
            <a:ext cx="4572000" cy="4572000"/>
          </a:xfrm>
          <a:prstGeom prst="ellipse">
            <a:avLst/>
          </a:prstGeom>
          <a:solidFill>
            <a:srgbClr val="1F1A4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3508362" name="Shape 1"/>
          <p:cNvSpPr/>
          <p:nvPr/>
        </p:nvSpPr>
        <p:spPr bwMode="auto">
          <a:xfrm>
            <a:off x="-1828800" y="4846320"/>
            <a:ext cx="3840480" cy="3840480"/>
          </a:xfrm>
          <a:prstGeom prst="ellipse">
            <a:avLst/>
          </a:prstGeom>
          <a:solidFill>
            <a:srgbClr val="241C4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48244757" name="Text 2"/>
          <p:cNvSpPr/>
          <p:nvPr/>
        </p:nvSpPr>
        <p:spPr bwMode="auto"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300" b="1" spc="299">
                <a:solidFill>
                  <a:srgbClr val="8B7CF0"/>
                </a:solidFill>
                <a:latin typeface="Calibri"/>
                <a:ea typeface="Calibri"/>
                <a:cs typeface="Calibri"/>
              </a:rPr>
              <a:t>ADVANCED PYTHON — FORMATION PROGRAM , PILLAR 1</a:t>
            </a:r>
            <a:endParaRPr lang="en-US" sz="1300"/>
          </a:p>
        </p:txBody>
      </p:sp>
      <p:sp>
        <p:nvSpPr>
          <p:cNvPr id="1184375632" name="Text 3"/>
          <p:cNvSpPr/>
          <p:nvPr/>
        </p:nvSpPr>
        <p:spPr bwMode="auto">
          <a:xfrm>
            <a:off x="822960" y="2377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5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Advanced Python</a:t>
            </a:r>
            <a:endParaRPr lang="en-US" sz="5600"/>
          </a:p>
        </p:txBody>
      </p:sp>
      <p:sp>
        <p:nvSpPr>
          <p:cNvPr id="810723789" name="Text 4"/>
          <p:cNvSpPr/>
          <p:nvPr/>
        </p:nvSpPr>
        <p:spPr bwMode="auto">
          <a:xfrm flipH="0" flipV="0">
            <a:off x="822960" y="36118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2400" i="1">
                <a:solidFill>
                  <a:srgbClr val="C9C3F0"/>
                </a:solidFill>
                <a:latin typeface="Cambria"/>
                <a:ea typeface="Cambria"/>
                <a:cs typeface="Cambria"/>
              </a:rPr>
              <a:t>From Scripts to Structured Code</a:t>
            </a:r>
            <a:endParaRPr lang="en-US" sz="2400"/>
          </a:p>
        </p:txBody>
      </p:sp>
      <p:sp>
        <p:nvSpPr>
          <p:cNvPr id="1757070949" name="Text 5"/>
          <p:cNvSpPr/>
          <p:nvPr/>
        </p:nvSpPr>
        <p:spPr bwMode="auto">
          <a:xfrm flipH="0" flipV="0">
            <a:off x="45407" y="5989317"/>
            <a:ext cx="213118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endParaRPr lang="en-US" sz="1400"/>
          </a:p>
        </p:txBody>
      </p:sp>
      <p:sp>
        <p:nvSpPr>
          <p:cNvPr id="1575801192" name="Text 3"/>
          <p:cNvSpPr/>
          <p:nvPr/>
        </p:nvSpPr>
        <p:spPr bwMode="auto">
          <a:xfrm flipH="0" flipV="0">
            <a:off x="6268537" y="5313316"/>
            <a:ext cx="5897638" cy="9867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0" i="1" u="none" strike="noStrike" cap="none" spc="0">
                <a:solidFill>
                  <a:srgbClr val="C9C3F0"/>
                </a:solidFill>
                <a:latin typeface="Cambria"/>
                <a:ea typeface="Cambria"/>
                <a:cs typeface="Cambria"/>
              </a:rPr>
              <a:t>Animated by </a:t>
            </a:r>
            <a:r>
              <a:rPr lang="en-US" sz="3000" b="1">
                <a:solidFill>
                  <a:schemeClr val="bg1">
                    <a:lumMod val="65000"/>
                  </a:schemeClr>
                </a:solidFill>
                <a:latin typeface="Cambria"/>
                <a:ea typeface="Cambria"/>
                <a:cs typeface="Cambria"/>
              </a:rPr>
              <a:t>: </a:t>
            </a:r>
            <a:endParaRPr sz="3000" b="1">
              <a:solidFill>
                <a:schemeClr val="bg1">
                  <a:lumMod val="65000"/>
                </a:schemeClr>
              </a:solidFill>
              <a:latin typeface="Cambria"/>
              <a:ea typeface="Cambria"/>
              <a:cs typeface="Cambria"/>
            </a:endParaRPr>
          </a:p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		AYMANE GALIBOU</a:t>
            </a:r>
            <a:endParaRPr sz="3000"/>
          </a:p>
        </p:txBody>
      </p:sp>
      <p:pic>
        <p:nvPicPr>
          <p:cNvPr id="99384374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0289364" y="276683"/>
            <a:ext cx="1689274" cy="1689274"/>
          </a:xfrm>
          <a:prstGeom prst="rect">
            <a:avLst/>
          </a:prstGeom>
        </p:spPr>
      </p:pic>
      <p:sp>
        <p:nvSpPr>
          <p:cNvPr id="240295292" name=""/>
          <p:cNvSpPr txBox="1"/>
          <p:nvPr/>
        </p:nvSpPr>
        <p:spPr bwMode="auto">
          <a:xfrm rot="0" flipH="0" flipV="0">
            <a:off x="91440" y="6172196"/>
            <a:ext cx="1735569" cy="36611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indent="0" algn="l">
              <a:buNone/>
              <a:defRPr/>
            </a:pPr>
            <a:r>
              <a:rPr lang="en-US" b="1" spc="298">
                <a:solidFill>
                  <a:srgbClr val="8B7CF0"/>
                </a:solidFill>
                <a:latin typeface="Calibri"/>
                <a:ea typeface="Calibri"/>
                <a:cs typeface="Calibri"/>
              </a:rPr>
              <a:t>Data Cell</a:t>
            </a:r>
            <a:endParaRPr lang="en-US" sz="1300"/>
          </a:p>
        </p:txBody>
      </p:sp>
      <p:pic>
        <p:nvPicPr>
          <p:cNvPr id="29687366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200917" y="5185359"/>
            <a:ext cx="986834" cy="9868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3">
    <p:bg>
      <p:bgPr shadeToTitle="0">
        <a:solidFill>
          <a:srgbClr val="6B21A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7378795" name="Text 0"/>
          <p:cNvSpPr/>
          <p:nvPr/>
        </p:nvSpPr>
        <p:spPr bwMode="auto"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 b="1" spc="299">
                <a:solidFill>
                  <a:srgbClr val="E5E1F7"/>
                </a:solidFill>
                <a:latin typeface="Calibri"/>
                <a:ea typeface="Calibri"/>
                <a:cs typeface="Calibri"/>
              </a:rPr>
              <a:t>SESSION 4 / 4</a:t>
            </a:r>
            <a:endParaRPr lang="en-US" sz="1600"/>
          </a:p>
        </p:txBody>
      </p:sp>
      <p:sp>
        <p:nvSpPr>
          <p:cNvPr id="1469228297" name="Text 1"/>
          <p:cNvSpPr/>
          <p:nvPr/>
        </p:nvSpPr>
        <p:spPr bwMode="auto">
          <a:xfrm>
            <a:off x="822960" y="27889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  <a:defRPr/>
            </a:pPr>
            <a:r>
              <a:rPr lang="en-US" sz="4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Object-Oriented Programming &amp; Design Basics</a:t>
            </a:r>
            <a:endParaRPr lang="en-US" sz="4200"/>
          </a:p>
        </p:txBody>
      </p:sp>
      <p:sp>
        <p:nvSpPr>
          <p:cNvPr id="1340467857" name="Shape 2"/>
          <p:cNvSpPr/>
          <p:nvPr/>
        </p:nvSpPr>
        <p:spPr bwMode="auto">
          <a:xfrm>
            <a:off x="822960" y="434340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2A225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43639988" name="Text 3"/>
          <p:cNvSpPr/>
          <p:nvPr/>
        </p:nvSpPr>
        <p:spPr bwMode="auto">
          <a:xfrm>
            <a:off x="822960" y="4343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3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Duration: 2h</a:t>
            </a:r>
            <a:endParaRPr lang="en-US" sz="1300"/>
          </a:p>
        </p:txBody>
      </p:sp>
      <p:sp>
        <p:nvSpPr>
          <p:cNvPr id="475346208" name="Shape 4"/>
          <p:cNvSpPr/>
          <p:nvPr/>
        </p:nvSpPr>
        <p:spPr bwMode="auto">
          <a:xfrm>
            <a:off x="82296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5296151" name="Shape 5"/>
          <p:cNvSpPr/>
          <p:nvPr/>
        </p:nvSpPr>
        <p:spPr bwMode="auto">
          <a:xfrm>
            <a:off x="114300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6349614" name="Shape 6"/>
          <p:cNvSpPr/>
          <p:nvPr/>
        </p:nvSpPr>
        <p:spPr bwMode="auto">
          <a:xfrm>
            <a:off x="1463040" y="6172200"/>
            <a:ext cx="182880" cy="182880"/>
          </a:xfrm>
          <a:prstGeom prst="ellipse">
            <a:avLst/>
          </a:prstGeom>
          <a:solidFill>
            <a:srgbClr val="473F7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49175870" name="Shape 7"/>
          <p:cNvSpPr/>
          <p:nvPr/>
        </p:nvSpPr>
        <p:spPr bwMode="auto">
          <a:xfrm>
            <a:off x="1783080" y="61722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4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3758190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3192540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26198675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Why OOP for Data Pipelines?</a:t>
            </a:r>
            <a:endParaRPr lang="en-US" sz="2700"/>
          </a:p>
        </p:txBody>
      </p:sp>
      <p:sp>
        <p:nvSpPr>
          <p:cNvPr id="1369920043" name="Text 7"/>
          <p:cNvSpPr/>
          <p:nvPr/>
        </p:nvSpPr>
        <p:spPr bwMode="auto">
          <a:xfrm flipH="0" flipV="0">
            <a:off x="457198" y="1645920"/>
            <a:ext cx="11292840" cy="1701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A script with 15 loose functions and global variables becomes unmanageable past a certain size.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OOP groups data (attributes) and behavior (methods) that belong together into one unit: a class.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Goal today: turn a messy data-cleaning script into a clean, testable Data Pipeline class hierarchy.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920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0856022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97093103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172154128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Classes vs. Objects</a:t>
            </a:r>
            <a:endParaRPr lang="en-US" sz="2700"/>
          </a:p>
        </p:txBody>
      </p:sp>
      <p:sp>
        <p:nvSpPr>
          <p:cNvPr id="2063176219" name="Text 7"/>
          <p:cNvSpPr/>
          <p:nvPr/>
        </p:nvSpPr>
        <p:spPr bwMode="auto">
          <a:xfrm flipH="0" flipV="0">
            <a:off x="457200" y="1645920"/>
            <a:ext cx="5486400" cy="2999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A class is a</a:t>
            </a: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 blueprint/template used to build objects</a:t>
            </a:r>
            <a:r>
              <a:rPr lang="en-US" sz="1800">
                <a:latin typeface="Roboto"/>
                <a:ea typeface="Roboto"/>
                <a:cs typeface="Roboto"/>
              </a:rPr>
              <a:t> , consists of attributes and methods 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An object (instance of the class) </a:t>
            </a: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is a combination of a state and behavior . </a:t>
            </a:r>
            <a:endParaRPr sz="1800" b="0" i="0" u="none" strike="noStrike" cap="none" spc="0">
              <a:solidFill>
                <a:srgbClr val="1A1A2E"/>
              </a:solidFill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State is the </a:t>
            </a: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data associated with an object, assigned through attributes .</a:t>
            </a:r>
            <a:endParaRPr sz="1800" b="0" i="0" u="none" strike="noStrike" cap="none" spc="0">
              <a:solidFill>
                <a:srgbClr val="1A1A2E"/>
              </a:solidFill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Behavior is the  object's functionality, defined through methods</a:t>
            </a: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 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93658118" name="Shape 8"/>
          <p:cNvSpPr/>
          <p:nvPr/>
        </p:nvSpPr>
        <p:spPr bwMode="auto">
          <a:xfrm flipH="0" flipV="0">
            <a:off x="6263640" y="1645920"/>
            <a:ext cx="5486400" cy="2999946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85784193" name="Text 9"/>
          <p:cNvSpPr/>
          <p:nvPr/>
        </p:nvSpPr>
        <p:spPr bwMode="auto">
          <a:xfrm flipH="0" flipV="0">
            <a:off x="6464808" y="1773936"/>
            <a:ext cx="5084062" cy="2716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Dog: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__init__(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name):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.name = name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bark(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f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"{self.name} says Woof!"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rex = Dog(</a:t>
            </a:r>
            <a:r>
              <a:rPr lang="en-US" sz="16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"Rex"</a:t>
            </a: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   </a:t>
            </a:r>
            <a:r>
              <a:rPr lang="en-US" sz="1600" i="1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rex is an instance of Dog</a:t>
            </a:r>
            <a:endParaRPr sz="16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print(rex.bark())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317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58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784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024876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54759752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601060928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Instance-level </a:t>
            </a: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attributes</a:t>
            </a:r>
            <a:endParaRPr lang="en-US" sz="2700" b="1" i="0" u="none" strike="noStrike" cap="none" spc="0">
              <a:solidFill>
                <a:srgbClr val="1A1A2E"/>
              </a:solidFill>
              <a:latin typeface="Cambria"/>
              <a:cs typeface="Cambria"/>
            </a:endParaRPr>
          </a:p>
        </p:txBody>
      </p:sp>
      <p:sp>
        <p:nvSpPr>
          <p:cNvPr id="1320102746" name="Text 7"/>
          <p:cNvSpPr/>
          <p:nvPr/>
        </p:nvSpPr>
        <p:spPr bwMode="auto">
          <a:xfrm flipH="0" flipV="0">
            <a:off x="457200" y="1645920"/>
            <a:ext cx="5486400" cy="216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name and salary values are specific to each instance.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latin typeface="Roboto"/>
                <a:ea typeface="Roboto"/>
                <a:cs typeface="Roboto"/>
              </a:rPr>
              <a:t>Without instance we can’t access those attributes . 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746786102" name="Shape 8"/>
          <p:cNvSpPr/>
          <p:nvPr/>
        </p:nvSpPr>
        <p:spPr bwMode="auto">
          <a:xfrm flipH="0" flipV="0">
            <a:off x="6263640" y="1645920"/>
            <a:ext cx="5486400" cy="2275203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66754944" name="Text 9"/>
          <p:cNvSpPr/>
          <p:nvPr/>
        </p:nvSpPr>
        <p:spPr bwMode="auto">
          <a:xfrm flipH="0" flipV="0">
            <a:off x="6464808" y="1773936"/>
            <a:ext cx="5084062" cy="203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b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</a:b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"Teo Mille"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50000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"Marta Popov"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65000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2600">
              <a:latin typeface="Ubuntu Mono"/>
              <a:cs typeface="Ubuntu Mono"/>
            </a:endParaRPr>
          </a:p>
        </p:txBody>
      </p:sp>
      <p:sp>
        <p:nvSpPr>
          <p:cNvPr id="1058151944" name="Shape 8"/>
          <p:cNvSpPr/>
          <p:nvPr/>
        </p:nvSpPr>
        <p:spPr bwMode="auto">
          <a:xfrm flipH="0" flipV="0">
            <a:off x="457197" y="2955251"/>
            <a:ext cx="5275298" cy="383031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l"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r>
              <a:rPr sz="1400">
                <a:latin typeface="Ubuntu Mono"/>
                <a:ea typeface="Ubuntu Mono"/>
                <a:cs typeface="Ubuntu Mono"/>
              </a:rPr>
              <a:t> </a:t>
            </a:r>
            <a:r>
              <a:rPr sz="1400">
                <a:solidFill>
                  <a:schemeClr val="accent6"/>
                </a:solidFill>
                <a:latin typeface="Ubuntu Mono"/>
                <a:ea typeface="Ubuntu Mono"/>
                <a:cs typeface="Ubuntu Mono"/>
              </a:rPr>
              <a:t># class has no attribute</a:t>
            </a:r>
            <a:endParaRPr sz="1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786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75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0102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15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89835495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8318112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765980264" name="Text 3"/>
          <p:cNvSpPr/>
          <p:nvPr/>
        </p:nvSpPr>
        <p:spPr bwMode="auto">
          <a:xfrm flipH="0" flipV="0">
            <a:off x="457198" y="804672"/>
            <a:ext cx="3798923" cy="481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Class-level </a:t>
            </a: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attributes</a:t>
            </a:r>
            <a:endParaRPr lang="en-US" sz="2700" b="1" i="0" u="none" strike="noStrike" cap="none" spc="0">
              <a:solidFill>
                <a:srgbClr val="1A1A2E"/>
              </a:solidFill>
              <a:latin typeface="Cambria"/>
              <a:cs typeface="Cambria"/>
            </a:endParaRPr>
          </a:p>
        </p:txBody>
      </p:sp>
      <p:sp>
        <p:nvSpPr>
          <p:cNvPr id="468356856" name="Text 7"/>
          <p:cNvSpPr/>
          <p:nvPr/>
        </p:nvSpPr>
        <p:spPr bwMode="auto">
          <a:xfrm flipH="0" flipV="0">
            <a:off x="457200" y="1645920"/>
            <a:ext cx="4529174" cy="2164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Data shared among all instances of a class 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Define class attributes in the body of class 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"Global variable" within the class 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</p:txBody>
      </p:sp>
      <p:sp>
        <p:nvSpPr>
          <p:cNvPr id="809994063" name="Shape 8"/>
          <p:cNvSpPr/>
          <p:nvPr/>
        </p:nvSpPr>
        <p:spPr bwMode="auto">
          <a:xfrm flipH="0" flipV="0">
            <a:off x="5923026" y="1285875"/>
            <a:ext cx="5806440" cy="4053204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58777641" name="Text 9"/>
          <p:cNvSpPr/>
          <p:nvPr/>
        </p:nvSpPr>
        <p:spPr bwMode="auto">
          <a:xfrm flipH="0" flipV="0">
            <a:off x="6083046" y="1413890"/>
            <a:ext cx="5445252" cy="3782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3000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Use class name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&gt;=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else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b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"Reda reda"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-&gt; 3000</a:t>
            </a:r>
            <a:b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"Yousef ait"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-&gt; 3000</a:t>
            </a:r>
            <a:endParaRPr sz="1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994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777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356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5871485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8198976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531381819" name="Text 3"/>
          <p:cNvSpPr/>
          <p:nvPr/>
        </p:nvSpPr>
        <p:spPr bwMode="auto">
          <a:xfrm flipH="0" flipV="0">
            <a:off x="457200" y="804672"/>
            <a:ext cx="5195922" cy="4812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 Modifying class-level </a:t>
            </a:r>
            <a:r>
              <a:rPr lang="en-US" sz="2700" b="1" i="0" u="none" strike="noStrike" cap="none" spc="0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attributes</a:t>
            </a:r>
            <a:endParaRPr lang="en-US" sz="2700" b="1" i="0" u="none" strike="noStrike" cap="none" spc="0">
              <a:solidFill>
                <a:srgbClr val="1A1A2E"/>
              </a:solidFill>
              <a:latin typeface="Cambria"/>
              <a:cs typeface="Cambria"/>
            </a:endParaRPr>
          </a:p>
        </p:txBody>
      </p:sp>
      <p:sp>
        <p:nvSpPr>
          <p:cNvPr id="1426129222" name="Text 7"/>
          <p:cNvSpPr/>
          <p:nvPr/>
        </p:nvSpPr>
        <p:spPr bwMode="auto">
          <a:xfrm flipH="0" flipV="0">
            <a:off x="457200" y="1645920"/>
            <a:ext cx="4529174" cy="1068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Updating a class attribute by referencing to the class itself updates the value across all instances .</a:t>
            </a:r>
            <a:endParaRPr sz="2200" b="0">
              <a:latin typeface="Roboto"/>
              <a:cs typeface="Roboto"/>
            </a:endParaRPr>
          </a:p>
        </p:txBody>
      </p:sp>
      <p:sp>
        <p:nvSpPr>
          <p:cNvPr id="488944319" name="Shape 8"/>
          <p:cNvSpPr/>
          <p:nvPr/>
        </p:nvSpPr>
        <p:spPr bwMode="auto">
          <a:xfrm flipH="0" flipV="0">
            <a:off x="5923026" y="1285875"/>
            <a:ext cx="5806440" cy="2587623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5312333" name="Text 9"/>
          <p:cNvSpPr/>
          <p:nvPr/>
        </p:nvSpPr>
        <p:spPr bwMode="auto">
          <a:xfrm flipH="0" flipV="0">
            <a:off x="6083046" y="1413890"/>
            <a:ext cx="5445252" cy="225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"John"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40000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"Jane"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60000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3000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3000</a:t>
            </a:r>
            <a:b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Update MIN_SALARY of the entire class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50000</a:t>
            </a:r>
            <a:endParaRPr sz="15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50000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50000</a:t>
            </a:r>
            <a:endParaRPr sz="1500">
              <a:latin typeface="Ubuntu Mono"/>
              <a:cs typeface="Ubuntu Mono"/>
            </a:endParaRPr>
          </a:p>
        </p:txBody>
      </p:sp>
      <p:sp>
        <p:nvSpPr>
          <p:cNvPr id="1722510718" name="Text 7"/>
          <p:cNvSpPr/>
          <p:nvPr/>
        </p:nvSpPr>
        <p:spPr bwMode="auto">
          <a:xfrm flipH="0" flipV="0">
            <a:off x="530223" y="4385943"/>
            <a:ext cx="4529174" cy="1068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Updating a class attribute by referencing to the instance doesn’t update the value across all instances or the class itself . </a:t>
            </a:r>
            <a:endParaRPr sz="2200" b="0">
              <a:latin typeface="Roboto"/>
              <a:cs typeface="Roboto"/>
            </a:endParaRPr>
          </a:p>
        </p:txBody>
      </p:sp>
      <p:sp>
        <p:nvSpPr>
          <p:cNvPr id="1005839711" name="Shape 8"/>
          <p:cNvSpPr/>
          <p:nvPr/>
        </p:nvSpPr>
        <p:spPr bwMode="auto">
          <a:xfrm flipH="0" flipV="0">
            <a:off x="5996049" y="4025898"/>
            <a:ext cx="5806440" cy="2587622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3596501" name="Text 9"/>
          <p:cNvSpPr/>
          <p:nvPr/>
        </p:nvSpPr>
        <p:spPr bwMode="auto">
          <a:xfrm flipH="0" flipV="0">
            <a:off x="6156069" y="4153912"/>
            <a:ext cx="5445252" cy="2396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"John"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40000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"Jane"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60000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3000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3000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Update MIN_SALARY of the emp1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50000</a:t>
            </a:r>
            <a:endParaRPr sz="15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50000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emp2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</a:t>
            </a:r>
            <a:r>
              <a:rPr lang="en-US" sz="1500" b="0" i="0" u="none" strike="noStrike" cap="none" spc="0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3000</a:t>
            </a:r>
            <a:endParaRPr sz="1500" b="0" i="0" u="none" strike="noStrike" cap="none" spc="0">
              <a:solidFill>
                <a:srgbClr val="8B949E"/>
              </a:solidFill>
              <a:latin typeface="Times New Roman"/>
              <a:cs typeface="Times New Roman"/>
            </a:endParaRPr>
          </a:p>
          <a:p>
            <a:pPr>
              <a:defRPr/>
            </a:pPr>
            <a:r>
              <a:rPr lang="en-US" sz="1500" b="0" i="0" u="none" strike="noStrike" cap="none" spc="0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lang="en-US" sz="1500" b="0" i="0" u="none" strike="noStrike" cap="none" spc="0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lang="en-US" sz="1500" b="0" i="0" u="none" strike="noStrike" cap="none" spc="0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lang="en-US" sz="1500" b="0" i="0" u="none" strike="noStrike" cap="none" spc="0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lang="en-US" sz="1500" b="0" i="0" u="none" strike="noStrike" cap="none" spc="0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MIN_SALARY</a:t>
            </a:r>
            <a:r>
              <a:rPr lang="en-US" sz="1500" b="0" i="0" u="none" strike="noStrike" cap="none" spc="0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lang="en-US" sz="1500" b="0" i="0" u="none" strike="noStrike" cap="none" spc="0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</a:t>
            </a:r>
            <a:r>
              <a:rPr lang="en-US" sz="1500" b="0" i="0" u="none" strike="noStrike" cap="none" spc="0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3000</a:t>
            </a:r>
            <a:endParaRPr sz="15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8944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312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12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83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359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510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295577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210999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652828483" name="Text 3"/>
          <p:cNvSpPr/>
          <p:nvPr/>
        </p:nvSpPr>
        <p:spPr bwMode="auto">
          <a:xfrm flipH="0" flipV="0">
            <a:off x="457198" y="804672"/>
            <a:ext cx="3588053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Instance methods</a:t>
            </a:r>
            <a:endParaRPr lang="en-US" sz="2700"/>
          </a:p>
        </p:txBody>
      </p:sp>
      <p:sp>
        <p:nvSpPr>
          <p:cNvPr id="498887171" name="Text 7"/>
          <p:cNvSpPr/>
          <p:nvPr/>
        </p:nvSpPr>
        <p:spPr bwMode="auto">
          <a:xfrm flipH="0" flipV="0">
            <a:off x="457200" y="1645920"/>
            <a:ext cx="5486400" cy="1056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latin typeface="Roboto"/>
                <a:ea typeface="Roboto"/>
                <a:cs typeface="Roboto"/>
              </a:rPr>
              <a:t>The method here isn’t accessible through class reference , mean the method is accessible only through instance.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</p:txBody>
      </p:sp>
      <p:sp>
        <p:nvSpPr>
          <p:cNvPr id="826074498" name="Shape 8"/>
          <p:cNvSpPr/>
          <p:nvPr/>
        </p:nvSpPr>
        <p:spPr bwMode="auto">
          <a:xfrm flipH="0" flipV="0">
            <a:off x="5943598" y="1645918"/>
            <a:ext cx="5806440" cy="2798064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23888785" name="Text 9"/>
          <p:cNvSpPr/>
          <p:nvPr/>
        </p:nvSpPr>
        <p:spPr bwMode="auto">
          <a:xfrm flipH="0" flipV="0">
            <a:off x="6164080" y="1773936"/>
            <a:ext cx="5384788" cy="25420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give_raise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+=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b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</a:b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"Ahmed youari"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give_raise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5000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"The new Salary is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55000</a:t>
            </a:r>
            <a:endParaRPr sz="15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074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888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8887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230209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85101366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164323358" name="Text 3"/>
          <p:cNvSpPr/>
          <p:nvPr/>
        </p:nvSpPr>
        <p:spPr bwMode="auto">
          <a:xfrm flipH="0" flipV="0">
            <a:off x="457200" y="804672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Class methods</a:t>
            </a:r>
            <a:endParaRPr lang="en-US" sz="2700"/>
          </a:p>
        </p:txBody>
      </p:sp>
      <p:sp>
        <p:nvSpPr>
          <p:cNvPr id="876407601" name="Text 7"/>
          <p:cNvSpPr/>
          <p:nvPr/>
        </p:nvSpPr>
        <p:spPr bwMode="auto">
          <a:xfrm flipH="0" flipV="0">
            <a:off x="457200" y="1645920"/>
            <a:ext cx="5486400" cy="1639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latin typeface="Roboto"/>
                <a:ea typeface="Roboto"/>
                <a:cs typeface="Roboto"/>
              </a:rPr>
              <a:t>Class methods are accessible without instancing the class means it’s accessible through the class itself . </a:t>
            </a:r>
            <a:endParaRPr lang="en-US" sz="1800"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chemeClr val="tx1"/>
                </a:solidFill>
                <a:latin typeface="Roboto"/>
                <a:ea typeface="Roboto"/>
                <a:cs typeface="Roboto"/>
              </a:rPr>
              <a:t>As with self , cls is a convention but any word will work</a:t>
            </a:r>
            <a:r>
              <a:rPr lang="en-US" sz="1800">
                <a:latin typeface="Roboto"/>
                <a:ea typeface="Roboto"/>
                <a:cs typeface="Roboto"/>
              </a:rPr>
              <a:t> the essential is that referencing to the class . 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</p:txBody>
      </p:sp>
      <p:sp>
        <p:nvSpPr>
          <p:cNvPr id="1571796189" name="Shape 8"/>
          <p:cNvSpPr/>
          <p:nvPr/>
        </p:nvSpPr>
        <p:spPr bwMode="auto">
          <a:xfrm flipH="0" flipV="0">
            <a:off x="6263640" y="1645920"/>
            <a:ext cx="5693195" cy="3097140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87387942" name="Text 9"/>
          <p:cNvSpPr/>
          <p:nvPr/>
        </p:nvSpPr>
        <p:spPr bwMode="auto">
          <a:xfrm flipH="0" flipV="0">
            <a:off x="6348174" y="1773936"/>
            <a:ext cx="5511466" cy="2874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MyClass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Use a decorator to declare a class method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classmethod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cls argument refers to the class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my_awesome_method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cls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args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...):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Do stuff here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Can't use any instance attributes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Call the class, not the object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MyClass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my_awesome_method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(args</a:t>
            </a:r>
            <a:r>
              <a:rPr sz="1600" b="0" i="0" u="none">
                <a:solidFill>
                  <a:srgbClr val="79C0FF"/>
                </a:solidFill>
                <a:latin typeface="Ubuntu Mono"/>
                <a:ea typeface="Ubuntu Mono"/>
                <a:cs typeface="Ubuntu Mono"/>
              </a:rPr>
              <a:t>...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796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7387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6407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5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3842453" name="Shape 0"/>
          <p:cNvSpPr/>
          <p:nvPr/>
        </p:nvSpPr>
        <p:spPr bwMode="auto">
          <a:xfrm>
            <a:off x="457200" y="384048"/>
            <a:ext cx="1417317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2388281" name="Text 1"/>
          <p:cNvSpPr/>
          <p:nvPr/>
        </p:nvSpPr>
        <p:spPr bwMode="auto">
          <a:xfrm>
            <a:off x="457200" y="384048"/>
            <a:ext cx="141731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773184618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Alternative constructor using class methods</a:t>
            </a:r>
            <a:endParaRPr lang="en-US" sz="2700"/>
          </a:p>
        </p:txBody>
      </p:sp>
      <p:sp>
        <p:nvSpPr>
          <p:cNvPr id="239168842" name="Text 7"/>
          <p:cNvSpPr/>
          <p:nvPr/>
        </p:nvSpPr>
        <p:spPr bwMode="auto">
          <a:xfrm flipH="0" flipV="0">
            <a:off x="457198" y="5242092"/>
            <a:ext cx="10158360" cy="123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r>
              <a:rPr lang="en-US" sz="1800">
                <a:latin typeface="Roboto"/>
                <a:ea typeface="Roboto"/>
                <a:cs typeface="Roboto"/>
              </a:rPr>
              <a:t>We can use the class method to create an instance (like reading from a file txt,csv ...)</a:t>
            </a:r>
            <a:endParaRPr sz="1800"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00B050"/>
                </a:solidFill>
                <a:latin typeface="Roboto"/>
                <a:ea typeface="Roboto"/>
                <a:cs typeface="Roboto"/>
              </a:rPr>
              <a:t>Write a class method that creates a list of instances </a:t>
            </a:r>
            <a:r>
              <a:rPr lang="en-US" sz="1800">
                <a:solidFill>
                  <a:srgbClr val="00B050"/>
                </a:solidFill>
                <a:latin typeface="Roboto"/>
                <a:ea typeface="Roboto"/>
                <a:cs typeface="Roboto"/>
              </a:rPr>
              <a:t>based on the information within a file , then try to use the generator approach . </a:t>
            </a:r>
            <a:endParaRPr sz="1800"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7"/>
              </a:spcAft>
              <a:buSzPct val="100000"/>
              <a:buChar char="●"/>
              <a:defRPr/>
            </a:pPr>
            <a:endParaRPr sz="1800">
              <a:latin typeface="Roboto"/>
              <a:cs typeface="Roboto"/>
            </a:endParaRPr>
          </a:p>
        </p:txBody>
      </p:sp>
      <p:sp>
        <p:nvSpPr>
          <p:cNvPr id="1350855423" name="Shape 8"/>
          <p:cNvSpPr/>
          <p:nvPr/>
        </p:nvSpPr>
        <p:spPr bwMode="auto">
          <a:xfrm flipH="0" flipV="0">
            <a:off x="457198" y="1335021"/>
            <a:ext cx="8195043" cy="3485790"/>
          </a:xfrm>
          <a:prstGeom prst="roundRect">
            <a:avLst>
              <a:gd name="adj" fmla="val 261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3982043" name="Text 9"/>
          <p:cNvSpPr/>
          <p:nvPr/>
        </p:nvSpPr>
        <p:spPr bwMode="auto">
          <a:xfrm flipH="0" flipV="0">
            <a:off x="541734" y="1463038"/>
            <a:ext cx="7933455" cy="3182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salary</a:t>
            </a:r>
            <a:b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</a:b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classmethod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creating_employee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cls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5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with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open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path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</a:t>
            </a:r>
            <a:r>
              <a:rPr sz="15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as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first_line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next(f)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info_list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first_line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split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','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5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cls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info_list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].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strip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(),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info_list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5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].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strip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())</a:t>
            </a: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5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creating_employee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'info.txt'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b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500">
              <a:latin typeface="Ubuntu Mono"/>
              <a:cs typeface="Ubuntu Mono"/>
            </a:endParaRPr>
          </a:p>
          <a:p>
            <a:pPr>
              <a:defRPr/>
            </a:pPr>
            <a:r>
              <a:rPr sz="15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'The employee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name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 and he makes 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emp1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5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salary</a:t>
            </a:r>
            <a:r>
              <a:rPr sz="15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5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 per month'</a:t>
            </a:r>
            <a:r>
              <a:rPr sz="15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5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0855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82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68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6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1348666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20121651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378335550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The Four Pillars of OOP</a:t>
            </a:r>
            <a:endParaRPr lang="en-US" sz="2700"/>
          </a:p>
        </p:txBody>
      </p:sp>
      <p:sp>
        <p:nvSpPr>
          <p:cNvPr id="1715153326" name="Shape 7"/>
          <p:cNvSpPr/>
          <p:nvPr/>
        </p:nvSpPr>
        <p:spPr bwMode="auto">
          <a:xfrm>
            <a:off x="457198" y="1783078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2012261" name="Text 8"/>
          <p:cNvSpPr/>
          <p:nvPr/>
        </p:nvSpPr>
        <p:spPr bwMode="auto">
          <a:xfrm>
            <a:off x="457198" y="178307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  <a:endParaRPr lang="en-US" sz="2000"/>
          </a:p>
        </p:txBody>
      </p:sp>
      <p:sp>
        <p:nvSpPr>
          <p:cNvPr id="245953900" name="Shape 9"/>
          <p:cNvSpPr/>
          <p:nvPr/>
        </p:nvSpPr>
        <p:spPr bwMode="auto">
          <a:xfrm>
            <a:off x="1188720" y="1645920"/>
            <a:ext cx="10561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0898239" name="Text 10"/>
          <p:cNvSpPr/>
          <p:nvPr/>
        </p:nvSpPr>
        <p:spPr bwMode="auto">
          <a:xfrm>
            <a:off x="1417320" y="1645920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Encapsulation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bundling data + behavior, hiding internal details</a:t>
            </a:r>
            <a:endParaRPr lang="en-US" sz="1500"/>
          </a:p>
        </p:txBody>
      </p:sp>
      <p:sp>
        <p:nvSpPr>
          <p:cNvPr id="1651801336" name="Shape 11"/>
          <p:cNvSpPr/>
          <p:nvPr/>
        </p:nvSpPr>
        <p:spPr bwMode="auto">
          <a:xfrm>
            <a:off x="457198" y="2679192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00427779" name="Text 12"/>
          <p:cNvSpPr/>
          <p:nvPr/>
        </p:nvSpPr>
        <p:spPr bwMode="auto">
          <a:xfrm>
            <a:off x="457198" y="2679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  <a:endParaRPr lang="en-US" sz="2000"/>
          </a:p>
        </p:txBody>
      </p:sp>
      <p:sp>
        <p:nvSpPr>
          <p:cNvPr id="695228575" name="Shape 13"/>
          <p:cNvSpPr/>
          <p:nvPr/>
        </p:nvSpPr>
        <p:spPr bwMode="auto">
          <a:xfrm>
            <a:off x="1188720" y="2542031"/>
            <a:ext cx="10561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4982775" name="Text 14"/>
          <p:cNvSpPr/>
          <p:nvPr/>
        </p:nvSpPr>
        <p:spPr bwMode="auto">
          <a:xfrm>
            <a:off x="1417320" y="2542031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Inheritance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a class reusing/extending another class's behavior</a:t>
            </a:r>
            <a:endParaRPr lang="en-US" sz="1500"/>
          </a:p>
        </p:txBody>
      </p:sp>
      <p:sp>
        <p:nvSpPr>
          <p:cNvPr id="1591111423" name="Shape 15"/>
          <p:cNvSpPr/>
          <p:nvPr/>
        </p:nvSpPr>
        <p:spPr bwMode="auto">
          <a:xfrm>
            <a:off x="457198" y="3575302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1070984" name="Text 16"/>
          <p:cNvSpPr/>
          <p:nvPr/>
        </p:nvSpPr>
        <p:spPr bwMode="auto">
          <a:xfrm>
            <a:off x="457198" y="357530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  <a:endParaRPr lang="en-US" sz="2000"/>
          </a:p>
        </p:txBody>
      </p:sp>
      <p:sp>
        <p:nvSpPr>
          <p:cNvPr id="2055622194" name="Shape 17"/>
          <p:cNvSpPr/>
          <p:nvPr/>
        </p:nvSpPr>
        <p:spPr bwMode="auto">
          <a:xfrm>
            <a:off x="1188720" y="3438144"/>
            <a:ext cx="10561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42467293" name="Text 18"/>
          <p:cNvSpPr/>
          <p:nvPr/>
        </p:nvSpPr>
        <p:spPr bwMode="auto">
          <a:xfrm>
            <a:off x="1417320" y="3438144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Polymorphism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different classes responding to the same method call in their own way</a:t>
            </a:r>
            <a:endParaRPr lang="en-US" sz="1500"/>
          </a:p>
        </p:txBody>
      </p:sp>
      <p:sp>
        <p:nvSpPr>
          <p:cNvPr id="2044509860" name="Shape 19"/>
          <p:cNvSpPr/>
          <p:nvPr/>
        </p:nvSpPr>
        <p:spPr bwMode="auto">
          <a:xfrm>
            <a:off x="457198" y="4471414"/>
            <a:ext cx="566928" cy="566928"/>
          </a:xfrm>
          <a:prstGeom prst="ellipse">
            <a:avLst/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5241010" name="Text 20"/>
          <p:cNvSpPr/>
          <p:nvPr/>
        </p:nvSpPr>
        <p:spPr bwMode="auto">
          <a:xfrm>
            <a:off x="457198" y="447141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2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  <a:endParaRPr lang="en-US" sz="2000"/>
          </a:p>
        </p:txBody>
      </p:sp>
      <p:sp>
        <p:nvSpPr>
          <p:cNvPr id="799531111" name="Shape 21"/>
          <p:cNvSpPr/>
          <p:nvPr/>
        </p:nvSpPr>
        <p:spPr bwMode="auto">
          <a:xfrm>
            <a:off x="1188720" y="4334256"/>
            <a:ext cx="105613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57558048" name="Text 22"/>
          <p:cNvSpPr/>
          <p:nvPr/>
        </p:nvSpPr>
        <p:spPr bwMode="auto">
          <a:xfrm>
            <a:off x="1417320" y="4334256"/>
            <a:ext cx="101041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Abstraction  </a:t>
            </a:r>
            <a:r>
              <a:rPr lang="en-US" sz="140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exposing only what's necessary, hiding implementation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15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012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53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898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80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0427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5228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98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111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70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622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2467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450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24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531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7558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7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4729069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816382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207443155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Encapsulation &amp; Naming Conventions</a:t>
            </a:r>
            <a:endParaRPr lang="en-US" sz="2700"/>
          </a:p>
        </p:txBody>
      </p:sp>
      <p:sp>
        <p:nvSpPr>
          <p:cNvPr id="391525866" name="Shape 7"/>
          <p:cNvSpPr/>
          <p:nvPr/>
        </p:nvSpPr>
        <p:spPr bwMode="auto">
          <a:xfrm>
            <a:off x="449578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1160166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BankAccount: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600" i="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__init__(</a:t>
            </a:r>
            <a:r>
              <a:rPr lang="en-US" sz="1600" i="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balance):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 i="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.balance = balance        </a:t>
            </a:r>
            <a:r>
              <a:rPr lang="en-US" sz="16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public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 i="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._pin = </a:t>
            </a:r>
            <a:r>
              <a:rPr lang="en-US" sz="1600" i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"1234"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lang="en-US" sz="16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protected (convention only)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600" i="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.__secret_key = </a:t>
            </a:r>
            <a:r>
              <a:rPr lang="en-US" sz="1600" i="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"xyz"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</a:t>
            </a:r>
            <a:r>
              <a:rPr lang="en-US" sz="16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"private" (name-mangled)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acc = BankAccount(</a:t>
            </a:r>
            <a:r>
              <a:rPr lang="en-US" sz="1600" i="0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100</a:t>
            </a: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print(acc.balance)      </a:t>
            </a:r>
            <a:r>
              <a:rPr lang="en-US" sz="16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OK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print(acc._pin)         </a:t>
            </a:r>
            <a:r>
              <a:rPr lang="en-US" sz="16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works, but "please don't touch" by convention</a:t>
            </a:r>
            <a:endParaRPr sz="1600" i="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600" i="0">
                <a:solidFill>
                  <a:schemeClr val="bg2"/>
                </a:solidFill>
                <a:latin typeface="Ubuntu Mono"/>
                <a:ea typeface="Ubuntu Mono"/>
                <a:cs typeface="Ubuntu Mono"/>
              </a:rPr>
              <a:t>print(acc.__secret_key)</a:t>
            </a:r>
            <a:r>
              <a:rPr lang="en-US" sz="16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 # AttributeError — stored as _BankAccount__secret_key</a:t>
            </a:r>
            <a:endParaRPr sz="1600" i="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0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5092720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9251240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697992524" name="Text 3"/>
          <p:cNvSpPr/>
          <p:nvPr/>
        </p:nvSpPr>
        <p:spPr bwMode="auto">
          <a:xfrm flipH="0" flipV="0">
            <a:off x="457200" y="804672"/>
            <a:ext cx="1974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Inheritance</a:t>
            </a:r>
            <a:endParaRPr lang="en-US" sz="2700"/>
          </a:p>
        </p:txBody>
      </p:sp>
      <p:sp>
        <p:nvSpPr>
          <p:cNvPr id="596365042" name="Text 7"/>
          <p:cNvSpPr/>
          <p:nvPr/>
        </p:nvSpPr>
        <p:spPr bwMode="auto">
          <a:xfrm flipH="0" flipV="0">
            <a:off x="457198" y="1645920"/>
            <a:ext cx="11292840" cy="1600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inheritance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is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 mechanism that allows a new class (child or subclass) to adopt the attributes and methods of an existing class (parent or superclass)</a:t>
            </a:r>
            <a:r>
              <a:rPr lang="en-US" sz="1800" b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 . </a:t>
            </a:r>
            <a:endParaRPr lang="en-US" sz="1800" b="0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New class functionality = Old class functionality + extra</a:t>
            </a:r>
            <a:r>
              <a:rPr lang="en-US" sz="1800" b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 . </a:t>
            </a:r>
            <a:endParaRPr lang="en-US" sz="1800" b="0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Inheritance is a best approach to apply the </a:t>
            </a:r>
            <a:r>
              <a:rPr lang="en-US" sz="1800" b="1">
                <a:solidFill>
                  <a:srgbClr val="1A1A2E"/>
                </a:solidFill>
                <a:latin typeface="Roboto"/>
                <a:ea typeface="Roboto"/>
                <a:cs typeface="Roboto"/>
              </a:rPr>
              <a:t>DRY </a:t>
            </a:r>
            <a:r>
              <a:rPr lang="en-US" sz="1800" b="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concepts </a:t>
            </a:r>
            <a:endParaRPr sz="1800" b="0">
              <a:latin typeface="Roboto"/>
              <a:cs typeface="Roboto"/>
            </a:endParaRPr>
          </a:p>
        </p:txBody>
      </p:sp>
      <p:pic>
        <p:nvPicPr>
          <p:cNvPr id="180029272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6968784" y="2394671"/>
            <a:ext cx="4859008" cy="3909126"/>
          </a:xfrm>
          <a:prstGeom prst="rect">
            <a:avLst/>
          </a:prstGeom>
        </p:spPr>
      </p:pic>
      <p:pic>
        <p:nvPicPr>
          <p:cNvPr id="197755788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8088519" y="2705429"/>
            <a:ext cx="3006343" cy="3064317"/>
          </a:xfrm>
          <a:prstGeom prst="rect">
            <a:avLst/>
          </a:prstGeom>
        </p:spPr>
      </p:pic>
      <p:pic>
        <p:nvPicPr>
          <p:cNvPr id="761344433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226560" y="3232701"/>
            <a:ext cx="2590799" cy="20097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36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0292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7557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134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0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9195069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57860421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224089208" name="Text 3"/>
          <p:cNvSpPr/>
          <p:nvPr/>
        </p:nvSpPr>
        <p:spPr bwMode="auto">
          <a:xfrm flipH="0" flipV="0">
            <a:off x="457200" y="804672"/>
            <a:ext cx="19746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Inheritance</a:t>
            </a:r>
            <a:endParaRPr lang="en-US" sz="2700"/>
          </a:p>
        </p:txBody>
      </p:sp>
      <p:sp>
        <p:nvSpPr>
          <p:cNvPr id="1384100611" name="Text 7"/>
          <p:cNvSpPr/>
          <p:nvPr/>
        </p:nvSpPr>
        <p:spPr bwMode="auto">
          <a:xfrm flipH="0" flipV="0">
            <a:off x="507895" y="1393587"/>
            <a:ext cx="11292840" cy="608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Inheritance allows subclasses like 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CheckingAccount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and 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SavingsAccount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to reuse shared logic from 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BankAccount</a:t>
            </a:r>
            <a:r>
              <a:rPr lang="en-US" sz="1800" b="1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while adding their own specialized features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.</a:t>
            </a:r>
            <a:r>
              <a:rPr lang="en-US" sz="1800" b="0" i="0" u="none" strike="noStrike" cap="none" spc="0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endParaRPr lang="en-US" sz="1800" b="0">
              <a:solidFill>
                <a:srgbClr val="1A1A2E"/>
              </a:solidFill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endParaRPr sz="1800" b="0">
              <a:latin typeface="Roboto"/>
              <a:cs typeface="Roboto"/>
            </a:endParaRPr>
          </a:p>
        </p:txBody>
      </p:sp>
      <p:pic>
        <p:nvPicPr>
          <p:cNvPr id="1368314946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768702" y="2235457"/>
            <a:ext cx="8685073" cy="450381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314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4100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8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0361182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3610436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40077155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Inheritance</a:t>
            </a:r>
            <a:endParaRPr lang="en-US" sz="2700"/>
          </a:p>
        </p:txBody>
      </p:sp>
      <p:sp>
        <p:nvSpPr>
          <p:cNvPr id="781085865" name="Shape 7"/>
          <p:cNvSpPr/>
          <p:nvPr/>
        </p:nvSpPr>
        <p:spPr bwMode="auto">
          <a:xfrm flipH="0" flipV="0">
            <a:off x="457197" y="1335024"/>
            <a:ext cx="11292840" cy="5008982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18673621" name="Text 8"/>
          <p:cNvSpPr/>
          <p:nvPr/>
        </p:nvSpPr>
        <p:spPr bwMode="auto">
          <a:xfrm flipH="0" flipV="0">
            <a:off x="658368" y="1463040"/>
            <a:ext cx="10890504" cy="472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DataSource: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__init__(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name):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.name = name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load(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raise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NotImplementedError(</a:t>
            </a:r>
            <a:r>
              <a:rPr lang="en-US" sz="13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"Subclasses must implement load()"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CSVSource(DataSource):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__init__(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name, path):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super().__init__(name)      </a:t>
            </a:r>
            <a:r>
              <a:rPr lang="en-US" sz="1300" i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reuse the parent's __init__ i.e  </a:t>
            </a:r>
            <a:r>
              <a:rPr lang="en-US" sz="1300" b="0" i="0" u="none" strike="noStrike" cap="none" spc="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DataSource</a:t>
            </a:r>
            <a:r>
              <a:rPr lang="en-US" sz="1300" b="0" i="0" u="none" strike="noStrike" cap="none" spc="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.__init__(self, balance)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.path = path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load(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3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"Loading CSV from {self.path}"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APISource(DataSource):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__init__(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, name, url):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super().__init__(name)	</a:t>
            </a:r>
            <a:r>
              <a:rPr lang="en-US" sz="1300" b="0" i="0" u="none" strike="noStrike" cap="none" spc="0">
                <a:solidFill>
                  <a:srgbClr val="6A9955"/>
                </a:solidFill>
                <a:latin typeface="Ubuntu Mono"/>
                <a:ea typeface="Ubuntu Mono"/>
                <a:cs typeface="Ubuntu Mono"/>
              </a:rPr>
              <a:t># reuse the parent's __init__ i.e  </a:t>
            </a:r>
            <a:r>
              <a:rPr lang="en-US" sz="1300" b="0" i="0" u="none" strike="noStrike" cap="none" spc="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DataSource</a:t>
            </a:r>
            <a:r>
              <a:rPr lang="en-US" sz="1300" b="0" i="0" u="none" strike="noStrike" cap="none" spc="0">
                <a:solidFill>
                  <a:schemeClr val="bg1">
                    <a:lumMod val="50000"/>
                  </a:schemeClr>
                </a:solidFill>
                <a:latin typeface="Ubuntu Mono"/>
                <a:ea typeface="Ubuntu Mono"/>
                <a:cs typeface="Ubuntu Mono"/>
              </a:rPr>
              <a:t>.__init__(self, balance)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.url = url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load(</a:t>
            </a:r>
            <a:r>
              <a:rPr lang="en-US" sz="1300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        print(f</a:t>
            </a:r>
            <a:r>
              <a:rPr lang="en-US" sz="1300">
                <a:solidFill>
                  <a:srgbClr val="CE9178"/>
                </a:solidFill>
                <a:latin typeface="Ubuntu Mono"/>
                <a:ea typeface="Ubuntu Mono"/>
                <a:cs typeface="Ubuntu Mono"/>
              </a:rPr>
              <a:t>"Fetching data from {self.url}"</a:t>
            </a:r>
            <a:r>
              <a:rPr lang="en-US" sz="1300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08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673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0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1745948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79172558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865968942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Polymorphism (many forms)</a:t>
            </a:r>
            <a:endParaRPr lang="en-US" sz="2700"/>
          </a:p>
        </p:txBody>
      </p:sp>
      <p:sp>
        <p:nvSpPr>
          <p:cNvPr id="551747829" name="Text 7"/>
          <p:cNvSpPr/>
          <p:nvPr/>
        </p:nvSpPr>
        <p:spPr bwMode="auto">
          <a:xfrm flipH="0" flipV="0">
            <a:off x="457200" y="1645920"/>
            <a:ext cx="11292840" cy="1522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latin typeface="Roboto"/>
                <a:ea typeface="Roboto"/>
                <a:cs typeface="Roboto"/>
              </a:rPr>
              <a:t>Polymorphism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Allows different subclasses to implement the same method interface in their own unique way.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Instead of writing separate, conditional code for every type of object (e.g.,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if type == 'Checking': ... elif type == 'Savings': ...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), you call the exact same method name on any object, and Python automatically executes the correct implementation.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1304448724" name="Shape 7"/>
          <p:cNvSpPr/>
          <p:nvPr/>
        </p:nvSpPr>
        <p:spPr bwMode="auto">
          <a:xfrm flipH="0" flipV="0">
            <a:off x="736121" y="3376374"/>
            <a:ext cx="7953390" cy="2111049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78335945" name="Text 8"/>
          <p:cNvSpPr/>
          <p:nvPr/>
        </p:nvSpPr>
        <p:spPr bwMode="auto">
          <a:xfrm flipH="0" flipV="0">
            <a:off x="909462" y="3504390"/>
            <a:ext cx="7527345" cy="174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sources = [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CSVSource(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"sales"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"sales.csv"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),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APISource(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"weather"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, </a:t>
            </a:r>
            <a:r>
              <a:rPr lang="en-US" sz="1500">
                <a:solidFill>
                  <a:srgbClr val="CE9178"/>
                </a:solidFill>
                <a:latin typeface="Courier New"/>
                <a:ea typeface="Courier New"/>
                <a:cs typeface="Courier New"/>
              </a:rPr>
              <a:t>"https://api.weather.com/data"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),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]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for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source </a:t>
            </a:r>
            <a:r>
              <a:rPr lang="en-US" sz="1500">
                <a:solidFill>
                  <a:srgbClr val="C586C0"/>
                </a:solidFill>
                <a:latin typeface="Courier New"/>
                <a:ea typeface="Courier New"/>
                <a:cs typeface="Courier New"/>
              </a:rPr>
              <a:t>in</a:t>
            </a: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sources:</a:t>
            </a:r>
            <a:endParaRPr lang="en-US" sz="1500"/>
          </a:p>
          <a:p>
            <a:pPr marL="0" indent="0">
              <a:lnSpc>
                <a:spcPct val="108000"/>
              </a:lnSpc>
              <a:buNone/>
              <a:defRPr/>
            </a:pPr>
            <a:r>
              <a:rPr lang="en-US" sz="1500">
                <a:solidFill>
                  <a:srgbClr val="D4D4D4"/>
                </a:solidFill>
                <a:latin typeface="Courier New"/>
                <a:ea typeface="Courier New"/>
                <a:cs typeface="Courier New"/>
              </a:rPr>
              <a:t>    source.load()     </a:t>
            </a:r>
            <a:r>
              <a:rPr lang="en-US" sz="1500" i="1">
                <a:solidFill>
                  <a:srgbClr val="6A9955"/>
                </a:solidFill>
                <a:latin typeface="Courier New"/>
                <a:ea typeface="Courier New"/>
                <a:cs typeface="Courier New"/>
              </a:rPr>
              <a:t># each object calls its OWN load() method</a:t>
            </a:r>
            <a:endParaRPr lang="en-US" sz="15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1747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444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335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59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1714874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2448248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666785687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Polymorphism in Action</a:t>
            </a:r>
            <a:endParaRPr lang="en-US" sz="2700"/>
          </a:p>
        </p:txBody>
      </p:sp>
      <p:sp>
        <p:nvSpPr>
          <p:cNvPr id="741738337" name="Shape 7"/>
          <p:cNvSpPr/>
          <p:nvPr/>
        </p:nvSpPr>
        <p:spPr bwMode="auto">
          <a:xfrm flipH="0" flipV="0">
            <a:off x="445006" y="1341274"/>
            <a:ext cx="11292840" cy="5229029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7780386" name="Text 8"/>
          <p:cNvSpPr/>
          <p:nvPr/>
        </p:nvSpPr>
        <p:spPr bwMode="auto">
          <a:xfrm flipH="0" flipV="0">
            <a:off x="641602" y="1463040"/>
            <a:ext cx="10890504" cy="501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BankAccount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balance</a:t>
            </a:r>
            <a:b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calculate_interest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0.0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Base default behavior</a:t>
            </a:r>
            <a:b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SavingsAccount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BankAccount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super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().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calculate_interest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*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0.05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5% annual interest</a:t>
            </a:r>
            <a:b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HighYieldAccount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BankAccount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super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().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calculate_interest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balance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*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0.08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8% high-yield interest</a:t>
            </a:r>
            <a:b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Polymorphism in action: uniform loop over different account types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accounts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[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SavingsAccount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1000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),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HighYieldAccount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1000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),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BankAccount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1000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)]</a:t>
            </a:r>
            <a:b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accounts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Same method call, different calculated output!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account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.calculate_interest())</a:t>
            </a:r>
            <a:endParaRPr sz="13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1738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78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0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485833" name="Shape 0"/>
          <p:cNvSpPr/>
          <p:nvPr/>
        </p:nvSpPr>
        <p:spPr bwMode="auto">
          <a:xfrm>
            <a:off x="457200" y="384048"/>
            <a:ext cx="1417318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25610252" name="Text 1"/>
          <p:cNvSpPr/>
          <p:nvPr/>
        </p:nvSpPr>
        <p:spPr bwMode="auto">
          <a:xfrm>
            <a:off x="457200" y="384048"/>
            <a:ext cx="14173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1577641729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Abstract Base Classes — Enforcing a Contract</a:t>
            </a:r>
            <a:endParaRPr lang="en-US" sz="2700"/>
          </a:p>
        </p:txBody>
      </p:sp>
      <p:sp>
        <p:nvSpPr>
          <p:cNvPr id="1421332618" name="Text 7"/>
          <p:cNvSpPr/>
          <p:nvPr/>
        </p:nvSpPr>
        <p:spPr bwMode="auto">
          <a:xfrm flipH="0" flipV="0">
            <a:off x="457198" y="1645920"/>
            <a:ext cx="11292840" cy="1386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lang="en-US" sz="1800">
                <a:solidFill>
                  <a:srgbClr val="1A1A2E"/>
                </a:solidFill>
                <a:latin typeface="Roboto"/>
                <a:ea typeface="Roboto"/>
                <a:cs typeface="Roboto"/>
              </a:rPr>
              <a:t>Abstraction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Hides underlying operational complexity while exposing a clean, standardized interface.</a:t>
            </a:r>
            <a:endParaRPr sz="1800">
              <a:latin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Uses Python's </a:t>
            </a: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ABC</a:t>
            </a: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module and </a:t>
            </a: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@abstractmethod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to enforce required behaviors across all subclasses.</a:t>
            </a:r>
            <a:endParaRPr sz="1800">
              <a:latin typeface="Roboto"/>
              <a:ea typeface="Roboto"/>
              <a:cs typeface="Roboto"/>
            </a:endParaRPr>
          </a:p>
          <a:p>
            <a:pPr marL="228600" indent="-228600">
              <a:lnSpc>
                <a:spcPct val="114999"/>
              </a:lnSpc>
              <a:spcAft>
                <a:spcPts val="998"/>
              </a:spcAft>
              <a:buSzPct val="100000"/>
              <a:buChar char="●"/>
              <a:defRPr/>
            </a:pP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Benefit: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Reduces code complexity and prevents incomplete or broken subclasses from being instantiated.</a:t>
            </a:r>
            <a:endParaRPr sz="1800">
              <a:latin typeface="Roboto"/>
              <a:cs typeface="Roboto"/>
            </a:endParaRPr>
          </a:p>
        </p:txBody>
      </p:sp>
      <p:sp>
        <p:nvSpPr>
          <p:cNvPr id="280720643" name="Shape 7"/>
          <p:cNvSpPr/>
          <p:nvPr/>
        </p:nvSpPr>
        <p:spPr bwMode="auto">
          <a:xfrm flipH="0" flipV="0">
            <a:off x="652690" y="3324029"/>
            <a:ext cx="8051725" cy="2993571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6790825" name="Text 8"/>
          <p:cNvSpPr/>
          <p:nvPr/>
        </p:nvSpPr>
        <p:spPr bwMode="auto">
          <a:xfrm flipH="0" flipV="0">
            <a:off x="848182" y="3411504"/>
            <a:ext cx="7505232" cy="2818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abc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ABC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abstractmethod</a:t>
            </a:r>
            <a:b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</a:b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Define an Abstract Base Class (inherits from ABC)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PaymentProcessor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ABC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b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 Decorate mandatory methods with @abstractmethod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abstractmethod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process_payment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"""Abstract method: Subclasses MUST implement this."""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pass</a:t>
            </a:r>
            <a:endParaRPr sz="16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332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720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7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1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8195004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30143286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468412701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Using abc</a:t>
            </a:r>
            <a:endParaRPr lang="en-US" sz="2700"/>
          </a:p>
        </p:txBody>
      </p:sp>
      <p:sp>
        <p:nvSpPr>
          <p:cNvPr id="1823372271" name="Shape 7"/>
          <p:cNvSpPr/>
          <p:nvPr/>
        </p:nvSpPr>
        <p:spPr bwMode="auto">
          <a:xfrm flipH="0" flipV="0">
            <a:off x="457198" y="1600200"/>
            <a:ext cx="11292840" cy="4989543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154038761" name="Text 8"/>
          <p:cNvSpPr/>
          <p:nvPr/>
        </p:nvSpPr>
        <p:spPr bwMode="auto">
          <a:xfrm flipH="0" flipV="0">
            <a:off x="658368" y="1728216"/>
            <a:ext cx="10890504" cy="46282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from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abc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import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ABC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abstractmethod</a:t>
            </a:r>
            <a:b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PaymentProcessor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ABC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abstractmethod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process_payment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"""Abstract method: Every payment method MUST define this."""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pass</a:t>
            </a:r>
            <a:b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CreditCardPayment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PaymentProcessor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process_payment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Specific API integration logic for Credit Card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"Processing $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 via Credit Card Gateway."</a:t>
            </a:r>
            <a:b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CryptoPayment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PaymentProcessor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process_payment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Specific blockchain transaction logic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"Processing $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amount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 via Blockchain Ledger."</a:t>
            </a:r>
            <a:b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Instantiating PaymentProcessor directly raises a TypeError!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processor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PaymentProcessor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() </a:t>
            </a:r>
            <a: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-&gt; ERROR</a:t>
            </a:r>
            <a:br>
              <a:rPr sz="14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2">
    <p:bg>
      <p:bgPr shadeToTitle="0">
        <a:solidFill>
          <a:srgbClr val="F7F7FB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59652485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13750664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THEORY</a:t>
            </a:r>
            <a:endParaRPr lang="en-US" sz="1100"/>
          </a:p>
        </p:txBody>
      </p:sp>
      <p:sp>
        <p:nvSpPr>
          <p:cNvPr id="2018706759" name="Text 3"/>
          <p:cNvSpPr/>
          <p:nvPr/>
        </p:nvSpPr>
        <p:spPr bwMode="auto">
          <a:xfrm flipH="0" flipV="0">
            <a:off x="457200" y="804672"/>
            <a:ext cx="4151778" cy="497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1A1A2E"/>
                </a:solidFill>
                <a:latin typeface="Cambria"/>
                <a:ea typeface="Cambria"/>
                <a:cs typeface="Cambria"/>
              </a:rPr>
              <a:t>Dunder (Magic) Methods</a:t>
            </a:r>
            <a:endParaRPr lang="en-US" sz="2700"/>
          </a:p>
        </p:txBody>
      </p:sp>
      <p:sp>
        <p:nvSpPr>
          <p:cNvPr id="1421489230" name="Text 7"/>
          <p:cNvSpPr/>
          <p:nvPr/>
        </p:nvSpPr>
        <p:spPr bwMode="auto">
          <a:xfrm flipH="0" flipV="0">
            <a:off x="457198" y="1645920"/>
            <a:ext cx="11292840" cy="7061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4999"/>
              </a:lnSpc>
              <a:spcAft>
                <a:spcPts val="999"/>
              </a:spcAft>
              <a:buSzPct val="100000"/>
              <a:buChar char="●"/>
              <a:defRPr/>
            </a:pP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Special methods prefixed and suffixed with double underscores (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__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) that customize how custom objects behave with built-in Python operators and functions.</a:t>
            </a:r>
            <a:endParaRPr sz="1800">
              <a:latin typeface="Roboto"/>
              <a:cs typeface="Roboto"/>
            </a:endParaRPr>
          </a:p>
        </p:txBody>
      </p:sp>
      <p:graphicFrame>
        <p:nvGraphicFramePr>
          <p:cNvPr id="84267278" name=""/>
          <p:cNvGraphicFramePr>
            <a:graphicFrameLocks xmlns:a="http://schemas.openxmlformats.org/drawingml/2006/main"/>
          </p:cNvGraphicFramePr>
          <p:nvPr/>
        </p:nvGraphicFramePr>
        <p:xfrm rot="0">
          <a:off x="699825" y="2562060"/>
          <a:ext cx="10732162" cy="3566158"/>
        </p:xfrm>
        <a:graphic>
          <a:graphicData uri="http://schemas.openxmlformats.org/drawingml/2006/table">
            <a:tbl>
              <a:tblPr firstRow="1" firstCol="1" lastRow="0" lastCol="0" bandRow="1" bandCol="0">
                <a:tableStyleId>{C4B1156A-380E-4F78-BDF5-A606A8083BF9}</a:tableStyleId>
              </a:tblPr>
              <a:tblGrid>
                <a:gridCol w="2512882"/>
                <a:gridCol w="2128475"/>
                <a:gridCol w="2373772"/>
                <a:gridCol w="3717028"/>
              </a:tblGrid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Category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Dunder Method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Triggered By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Example Use Case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</a:tr>
              <a:tr h="74184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String Representation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__str__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__repr__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print(obj)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str(obj) and repr(obj) , print([obj])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Readable string representation for users vs. debugging info for developers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</a:tr>
              <a:tr h="63888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Length &amp; Indexing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__len__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__getitem__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len(obj)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obj[idx]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Enables list-like indexing and length checks on custom collections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Operator Overloading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__add__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__eq__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 + b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a == b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Defines custom addition and equality logic between instances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</a:tr>
              <a:tr h="518160"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1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Context Management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__enter__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, </a:t>
                      </a: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__exit__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with obj as x: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sz="1600" b="0" i="0" u="non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</a:rPr>
                        <a:t>Manages setup and teardown resources (files, database connections)</a:t>
                      </a:r>
                      <a:endParaRPr sz="1600">
                        <a:latin typeface="Roboto"/>
                        <a:cs typeface="Roboto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148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67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3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2004581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3012319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478146678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__str__ vs. __repr__</a:t>
            </a:r>
            <a:endParaRPr lang="en-US" sz="2700"/>
          </a:p>
        </p:txBody>
      </p:sp>
      <p:sp>
        <p:nvSpPr>
          <p:cNvPr id="647571232" name="Shape 7"/>
          <p:cNvSpPr/>
          <p:nvPr/>
        </p:nvSpPr>
        <p:spPr bwMode="auto">
          <a:xfrm>
            <a:off x="457200" y="1600200"/>
            <a:ext cx="11292840" cy="4160518"/>
          </a:xfrm>
          <a:prstGeom prst="roundRect">
            <a:avLst>
              <a:gd name="adj" fmla="val 1758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8401180" name="Text 8"/>
          <p:cNvSpPr/>
          <p:nvPr/>
        </p:nvSpPr>
        <p:spPr bwMode="auto">
          <a:xfrm>
            <a:off x="658368" y="1728216"/>
            <a:ext cx="10890504" cy="3904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Point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y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y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y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__repr__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"Point(x=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, y=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y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)"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unambiguous, for devs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__str__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6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"(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x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y</a:t>
            </a:r>
            <a:r>
              <a:rPr sz="16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6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)"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readable, for humans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6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Point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6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  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uses __str__      -&gt; (1, 2)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str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))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uses __str__      -&gt; (1, 2)</a:t>
            </a:r>
            <a:endParaRPr sz="1600">
              <a:latin typeface="Ubuntu Mono"/>
              <a:cs typeface="Ubuntu Mono"/>
            </a:endParaRPr>
          </a:p>
          <a:p>
            <a:pPr>
              <a:defRPr/>
            </a:pPr>
            <a:r>
              <a:rPr sz="16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([</a:t>
            </a:r>
            <a:r>
              <a:rPr sz="16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p</a:t>
            </a:r>
            <a:r>
              <a:rPr sz="16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])        </a:t>
            </a:r>
            <a:r>
              <a:rPr sz="16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uses __repr__     -&gt; [Point(x=1, y=2)]</a:t>
            </a:r>
            <a:endParaRPr sz="1600">
              <a:latin typeface="Ubuntu Mono"/>
              <a:cs typeface="Ubuntu Mono"/>
            </a:endParaRPr>
          </a:p>
        </p:txBody>
      </p:sp>
      <p:sp>
        <p:nvSpPr>
          <p:cNvPr id="464659707" name="Shape 9"/>
          <p:cNvSpPr/>
          <p:nvPr/>
        </p:nvSpPr>
        <p:spPr bwMode="auto">
          <a:xfrm>
            <a:off x="457200" y="5897880"/>
            <a:ext cx="11292840" cy="502920"/>
          </a:xfrm>
          <a:prstGeom prst="roundRect">
            <a:avLst>
              <a:gd name="adj" fmla="val 10909"/>
            </a:avLst>
          </a:prstGeom>
          <a:solidFill>
            <a:srgbClr val="2D2D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94778291" name="Text 10"/>
          <p:cNvSpPr/>
          <p:nvPr/>
        </p:nvSpPr>
        <p:spPr bwMode="auto">
          <a:xfrm>
            <a:off x="658368" y="58978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i="1">
                <a:solidFill>
                  <a:srgbClr val="C9CBE0"/>
                </a:solidFill>
                <a:latin typeface="Roboto"/>
                <a:ea typeface="Roboto"/>
                <a:cs typeface="Roboto"/>
              </a:rPr>
              <a:t>Bonus : handle the equal and add for the Point class</a:t>
            </a:r>
            <a:endParaRPr sz="15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57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40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65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477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4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3248786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46613165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1152066579" name="Text 3"/>
          <p:cNvSpPr/>
          <p:nvPr/>
        </p:nvSpPr>
        <p:spPr bwMode="auto">
          <a:xfrm>
            <a:off x="449579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__getitem__ — Making an Object Indexable</a:t>
            </a:r>
            <a:endParaRPr lang="en-US" sz="2700"/>
          </a:p>
        </p:txBody>
      </p:sp>
      <p:sp>
        <p:nvSpPr>
          <p:cNvPr id="373532927" name="Shape 7"/>
          <p:cNvSpPr/>
          <p:nvPr/>
        </p:nvSpPr>
        <p:spPr bwMode="auto">
          <a:xfrm flipH="0" flipV="0">
            <a:off x="515515" y="1366933"/>
            <a:ext cx="11292840" cy="504786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4888113" name="Text 8"/>
          <p:cNvSpPr/>
          <p:nvPr/>
        </p:nvSpPr>
        <p:spPr bwMode="auto">
          <a:xfrm flipH="0" flipV="0">
            <a:off x="658368" y="1489258"/>
            <a:ext cx="10890504" cy="48032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Portfolio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assets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assets is a list of stock tickers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assets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assets</a:t>
            </a:r>
            <a:b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__getitem__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index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Enables indexing (portfolio[0]) and slicing (portfolio[0:2])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assets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3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index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</a:t>
            </a:r>
            <a:b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__len__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len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assets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300">
              <a:latin typeface="Ubuntu Mono"/>
              <a:ea typeface="Ubuntu Mono"/>
              <a:cs typeface="Ubuntu Mono"/>
            </a:endParaRPr>
          </a:p>
          <a:p>
            <a:pPr>
              <a:defRPr/>
            </a:pP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instantiating the object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tech_portfolio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Portfolio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([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'AAPL'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'NVDA'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'GOOGL'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'MSFT'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'AMZN'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])</a:t>
            </a:r>
            <a:b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single Indexing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tech_portfolio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])     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Output: AAPL</a:t>
            </a:r>
            <a:b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slicing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tech_portfolio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[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1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r>
              <a:rPr sz="13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3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])     </a:t>
            </a: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Output: ['NVDA', 'GOOGL']</a:t>
            </a:r>
            <a:b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8B949E"/>
                </a:solidFill>
                <a:latin typeface="Ubuntu Mono"/>
                <a:ea typeface="Ubuntu Mono"/>
                <a:cs typeface="Ubuntu Mono"/>
              </a:rPr>
              <a:t># iteration (Python automatically uses __getitem__ for loops!)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for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stock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in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tech_portfolio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300">
              <a:latin typeface="Ubuntu Mono"/>
              <a:cs typeface="Ubuntu Mono"/>
            </a:endParaRPr>
          </a:p>
          <a:p>
            <a:pPr>
              <a:defRPr/>
            </a:pP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3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f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"Holding: 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{</a:t>
            </a:r>
            <a:r>
              <a:rPr sz="13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stock</a:t>
            </a:r>
            <a:r>
              <a:rPr sz="13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}</a:t>
            </a:r>
            <a:r>
              <a:rPr sz="13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</a:t>
            </a:r>
            <a: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br>
              <a:rPr sz="13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300">
              <a:latin typeface="Ubuntu Mono"/>
              <a:cs typeface="Ubuntu Mono"/>
            </a:endParaRPr>
          </a:p>
          <a:p>
            <a:pPr>
              <a:defRPr/>
            </a:pPr>
            <a:endParaRPr sz="13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53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888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5">
    <p:bg>
      <p:bgPr shadeToTitle="0">
        <a:solidFill>
          <a:srgbClr val="25253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8702089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6B21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0997976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CODE</a:t>
            </a:r>
            <a:endParaRPr lang="en-US" sz="1100"/>
          </a:p>
        </p:txBody>
      </p:sp>
      <p:sp>
        <p:nvSpPr>
          <p:cNvPr id="583523410" name="Text 3"/>
          <p:cNvSpPr/>
          <p:nvPr/>
        </p:nvSpPr>
        <p:spPr bwMode="auto">
          <a:xfrm>
            <a:off x="457200" y="804672"/>
            <a:ext cx="11292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@property — Computed &amp; Validated Attributes</a:t>
            </a:r>
            <a:endParaRPr lang="en-US" sz="2700"/>
          </a:p>
        </p:txBody>
      </p:sp>
      <p:sp>
        <p:nvSpPr>
          <p:cNvPr id="296654645" name="Shape 7"/>
          <p:cNvSpPr/>
          <p:nvPr/>
        </p:nvSpPr>
        <p:spPr bwMode="auto">
          <a:xfrm>
            <a:off x="457200" y="1600200"/>
            <a:ext cx="11292840" cy="4617720"/>
          </a:xfrm>
          <a:prstGeom prst="roundRect">
            <a:avLst>
              <a:gd name="adj" fmla="val 1584"/>
            </a:avLst>
          </a:prstGeom>
          <a:solidFill>
            <a:srgbClr val="1E1E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660706" name="Text 8"/>
          <p:cNvSpPr/>
          <p:nvPr/>
        </p:nvSpPr>
        <p:spPr bwMode="auto">
          <a:xfrm>
            <a:off x="658368" y="1728216"/>
            <a:ext cx="10890504" cy="4361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defRPr/>
            </a:pP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class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Rectangle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CDCAA"/>
                </a:solidFill>
                <a:latin typeface="Ubuntu Mono"/>
                <a:ea typeface="Ubuntu Mono"/>
                <a:cs typeface="Ubuntu Mono"/>
              </a:rPr>
              <a:t>__init__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height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width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height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height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property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get_width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return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width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@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get_width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setter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</a:t>
            </a:r>
            <a:r>
              <a:rPr sz="1400" b="0" i="0" u="none">
                <a:solidFill>
                  <a:srgbClr val="FF7B72"/>
                </a:solidFill>
                <a:latin typeface="Ubuntu Mono"/>
                <a:ea typeface="Ubuntu Mono"/>
                <a:cs typeface="Ubuntu Mono"/>
              </a:rPr>
              <a:t>def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get_width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value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if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value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&lt;=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0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: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    </a:t>
            </a:r>
            <a:r>
              <a:rPr sz="1400" b="0" i="0" u="none">
                <a:solidFill>
                  <a:srgbClr val="C586C0"/>
                </a:solidFill>
                <a:latin typeface="Ubuntu Mono"/>
                <a:ea typeface="Ubuntu Mono"/>
                <a:cs typeface="Ubuntu Mono"/>
              </a:rPr>
              <a:t>raise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ValueError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A5D6FF"/>
                </a:solidFill>
                <a:latin typeface="Ubuntu Mono"/>
                <a:ea typeface="Ubuntu Mono"/>
                <a:cs typeface="Ubuntu Mono"/>
              </a:rPr>
              <a:t>"width must be positive"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      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self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FFA657"/>
                </a:solidFill>
                <a:latin typeface="Ubuntu Mono"/>
                <a:ea typeface="Ubuntu Mono"/>
                <a:cs typeface="Ubuntu Mono"/>
              </a:rPr>
              <a:t>value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4EC9B0"/>
                </a:solidFill>
                <a:latin typeface="Ubuntu Mono"/>
                <a:ea typeface="Ubuntu Mono"/>
                <a:cs typeface="Ubuntu Mono"/>
              </a:rPr>
              <a:t>Rectangle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4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,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5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get_width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b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</a:b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get_width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D4D4D4"/>
                </a:solidFill>
                <a:latin typeface="Ubuntu Mono"/>
                <a:ea typeface="Ubuntu Mono"/>
                <a:cs typeface="Ubuntu Mono"/>
              </a:rPr>
              <a:t>=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</a:t>
            </a:r>
            <a:r>
              <a:rPr sz="1400" b="0" i="0" u="none">
                <a:solidFill>
                  <a:srgbClr val="B5CEA8"/>
                </a:solidFill>
                <a:latin typeface="Ubuntu Mono"/>
                <a:ea typeface="Ubuntu Mono"/>
                <a:cs typeface="Ubuntu Mono"/>
              </a:rPr>
              <a:t>2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  </a:t>
            </a:r>
            <a:endParaRPr sz="1400">
              <a:latin typeface="Ubuntu Mono"/>
              <a:cs typeface="Ubuntu Mono"/>
            </a:endParaRPr>
          </a:p>
          <a:p>
            <a:pPr>
              <a:defRPr/>
            </a:pPr>
            <a:r>
              <a:rPr sz="1400" b="0" i="0" u="none">
                <a:solidFill>
                  <a:srgbClr val="D2A8FF"/>
                </a:solidFill>
                <a:latin typeface="Ubuntu Mono"/>
                <a:ea typeface="Ubuntu Mono"/>
                <a:cs typeface="Ubuntu Mono"/>
              </a:rPr>
              <a:t>print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(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r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.</a:t>
            </a:r>
            <a:r>
              <a:rPr sz="1400" b="0" i="0" u="none">
                <a:solidFill>
                  <a:srgbClr val="C9D1D9"/>
                </a:solidFill>
                <a:latin typeface="Ubuntu Mono"/>
                <a:ea typeface="Ubuntu Mono"/>
                <a:cs typeface="Ubuntu Mono"/>
              </a:rPr>
              <a:t>get_width</a:t>
            </a:r>
            <a:r>
              <a:rPr sz="1400" b="0" i="0" u="none">
                <a:solidFill>
                  <a:srgbClr val="BBBEBF"/>
                </a:solidFill>
                <a:latin typeface="Ubuntu Mono"/>
                <a:ea typeface="Ubuntu Mono"/>
                <a:cs typeface="Ubuntu Mono"/>
              </a:rPr>
              <a:t>)</a:t>
            </a:r>
            <a:endParaRPr sz="1400">
              <a:latin typeface="Ubuntu Mono"/>
              <a:cs typeface="Ubuntu Mon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654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0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8">
    <p:bg>
      <p:bgPr shadeToTitle="0">
        <a:solidFill>
          <a:srgbClr val="EFFBF3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5596941" name="Shape 0"/>
          <p:cNvSpPr/>
          <p:nvPr/>
        </p:nvSpPr>
        <p:spPr bwMode="auto">
          <a:xfrm>
            <a:off x="457200" y="384048"/>
            <a:ext cx="1417320" cy="329184"/>
          </a:xfrm>
          <a:prstGeom prst="roundRect">
            <a:avLst>
              <a:gd name="adj" fmla="val 50000"/>
            </a:avLst>
          </a:prstGeom>
          <a:solidFill>
            <a:srgbClr val="1E9E5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1002034" name="Text 1"/>
          <p:cNvSpPr/>
          <p:nvPr/>
        </p:nvSpPr>
        <p:spPr bwMode="auto"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100" b="1" spc="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EXERCISE</a:t>
            </a:r>
            <a:endParaRPr lang="en-US" sz="1100"/>
          </a:p>
        </p:txBody>
      </p:sp>
      <p:sp>
        <p:nvSpPr>
          <p:cNvPr id="1461725362" name="Text 3"/>
          <p:cNvSpPr/>
          <p:nvPr/>
        </p:nvSpPr>
        <p:spPr bwMode="auto">
          <a:xfrm flipH="0" flipV="0">
            <a:off x="438912" y="882426"/>
            <a:ext cx="11292840" cy="4782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  <a:defRPr/>
            </a:pPr>
            <a:r>
              <a:rPr sz="24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Real-World Pipeline Scenario: CSV Data Cleaning &amp; Normalization</a:t>
            </a:r>
            <a:endParaRPr sz="2400" b="1">
              <a:latin typeface="Roboto"/>
              <a:cs typeface="Roboto"/>
            </a:endParaRPr>
          </a:p>
        </p:txBody>
      </p:sp>
      <p:sp>
        <p:nvSpPr>
          <p:cNvPr id="1217968141" name="Shape 7"/>
          <p:cNvSpPr/>
          <p:nvPr/>
        </p:nvSpPr>
        <p:spPr bwMode="auto">
          <a:xfrm>
            <a:off x="457200" y="1691640"/>
            <a:ext cx="1129284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9050">
            <a:solidFill>
              <a:srgbClr val="D8F0E1"/>
            </a:solidFill>
            <a:prstDash val="solid"/>
          </a:ln>
        </p:spPr>
        <p:txBody>
          <a:bodyPr anchor="ctr"/>
          <a:p>
            <a:pPr algn="ctr">
              <a:defRPr/>
            </a:pPr>
            <a:endParaRPr/>
          </a:p>
        </p:txBody>
      </p:sp>
      <p:sp>
        <p:nvSpPr>
          <p:cNvPr id="1356767216" name="Text 8"/>
          <p:cNvSpPr/>
          <p:nvPr/>
        </p:nvSpPr>
        <p:spPr bwMode="auto">
          <a:xfrm>
            <a:off x="777240" y="2011680"/>
            <a:ext cx="10652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defRPr/>
            </a:pPr>
            <a:r>
              <a:rPr lang="en-US" sz="1600" b="1" i="0" u="none" strike="noStrike" cap="none" spc="0">
                <a:solidFill>
                  <a:srgbClr val="00B050"/>
                </a:solidFill>
                <a:latin typeface="Roboto"/>
                <a:ea typeface="Roboto"/>
                <a:cs typeface="Roboto"/>
              </a:rPr>
              <a:t>Step-by-Step Pipeline Description</a:t>
            </a:r>
            <a:endParaRPr sz="1600">
              <a:solidFill>
                <a:srgbClr val="00B050"/>
              </a:solidFill>
              <a:latin typeface="Roboto"/>
              <a:cs typeface="Roboto"/>
            </a:endParaRPr>
          </a:p>
          <a:p>
            <a:pPr>
              <a:defRPr/>
            </a:pPr>
            <a:endParaRPr sz="1600">
              <a:solidFill>
                <a:srgbClr val="00B050"/>
              </a:solidFill>
              <a:latin typeface="Roboto"/>
              <a:cs typeface="Roboto"/>
            </a:endParaRPr>
          </a:p>
        </p:txBody>
      </p:sp>
      <p:sp>
        <p:nvSpPr>
          <p:cNvPr id="1477319675" name="Text 9"/>
          <p:cNvSpPr/>
          <p:nvPr/>
        </p:nvSpPr>
        <p:spPr bwMode="auto">
          <a:xfrm>
            <a:off x="777240" y="2606040"/>
            <a:ext cx="10652760" cy="3017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3878" indent="-283878">
              <a:lnSpc>
                <a:spcPct val="150000"/>
              </a:lnSpc>
              <a:buAutoNum type="arabicPeriod"/>
              <a:defRPr/>
            </a:pP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DropNulls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: Remove any row that contains missing (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None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) or blank (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""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) values in any column.</a:t>
            </a:r>
            <a:endParaRPr sz="1800">
              <a:latin typeface="Roboto"/>
              <a:cs typeface="Roboto"/>
            </a:endParaRPr>
          </a:p>
          <a:p>
            <a:pPr marL="283878" indent="-283878">
              <a:lnSpc>
                <a:spcPct val="114999"/>
              </a:lnSpc>
              <a:buAutoNum type="arabicPeriod"/>
              <a:defRPr/>
            </a:pP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StandardizeText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: Strip leading/trailing whitespace and uppercase specified string columns (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city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,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status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283878" indent="-283878">
              <a:lnSpc>
                <a:spcPct val="150000"/>
              </a:lnSpc>
              <a:buAutoNum type="arabicPeriod"/>
              <a:defRPr/>
            </a:pP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ClipOutliers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: Cap numerical values within min/max thresholds (e.g., limit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salary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to a max of $50,000).</a:t>
            </a:r>
            <a:endParaRPr sz="1800">
              <a:latin typeface="Roboto"/>
              <a:cs typeface="Roboto"/>
            </a:endParaRPr>
          </a:p>
          <a:p>
            <a:pPr marL="283878" indent="-283878">
              <a:lnSpc>
                <a:spcPct val="150000"/>
              </a:lnSpc>
              <a:buAutoNum type="arabicPeriod"/>
              <a:defRPr/>
            </a:pP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AddDerivedFeature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: Calculate a new field dynamically (e.g.,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tax = salary * 0.20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).</a:t>
            </a:r>
            <a:endParaRPr sz="1800">
              <a:latin typeface="Roboto"/>
              <a:cs typeface="Roboto"/>
            </a:endParaRPr>
          </a:p>
          <a:p>
            <a:pPr marL="283878" indent="-283878">
              <a:lnSpc>
                <a:spcPct val="150000"/>
              </a:lnSpc>
              <a:buAutoNum type="arabicPeriod"/>
              <a:defRPr/>
            </a:pP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Pipeline</a:t>
            </a:r>
            <a:r>
              <a:rPr sz="1800" b="1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Orchestrator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: Store and execute an ordered list of 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PipelineStep</a:t>
            </a:r>
            <a:r>
              <a:rPr sz="1800" b="0" i="0" u="none">
                <a:solidFill>
                  <a:srgbClr val="000000"/>
                </a:solidFill>
                <a:latin typeface="Roboto"/>
                <a:ea typeface="Roboto"/>
                <a:cs typeface="Roboto"/>
              </a:rPr>
              <a:t> instances sequentially.</a:t>
            </a:r>
            <a:endParaRPr sz="1800">
              <a:latin typeface="Roboto"/>
              <a:cs typeface="Roboto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96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6767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31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Slide 69">
    <p:bg>
      <p:bgPr shadeToTitle="0">
        <a:solidFill>
          <a:srgbClr val="6B21A8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234786" name="Text 0"/>
          <p:cNvSpPr/>
          <p:nvPr/>
        </p:nvSpPr>
        <p:spPr bwMode="auto">
          <a:xfrm>
            <a:off x="640080" y="5943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500" b="1" spc="199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SESSION 4 RECAP</a:t>
            </a:r>
            <a:endParaRPr lang="en-US" sz="1500"/>
          </a:p>
        </p:txBody>
      </p:sp>
      <p:sp>
        <p:nvSpPr>
          <p:cNvPr id="679178318" name="Text 1"/>
          <p:cNvSpPr/>
          <p:nvPr/>
        </p:nvSpPr>
        <p:spPr bwMode="auto">
          <a:xfrm>
            <a:off x="640080" y="1005840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30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Object-Oriented Programming &amp; Design Basics</a:t>
            </a:r>
            <a:endParaRPr lang="en-US" sz="3000"/>
          </a:p>
        </p:txBody>
      </p:sp>
      <p:sp>
        <p:nvSpPr>
          <p:cNvPr id="1683502923" name="Shape 2"/>
          <p:cNvSpPr/>
          <p:nvPr/>
        </p:nvSpPr>
        <p:spPr bwMode="auto">
          <a:xfrm>
            <a:off x="640080" y="205740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92972100" name="Text 3"/>
          <p:cNvSpPr/>
          <p:nvPr/>
        </p:nvSpPr>
        <p:spPr bwMode="auto">
          <a:xfrm>
            <a:off x="64008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6B21A8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443075113" name="Text 4"/>
          <p:cNvSpPr/>
          <p:nvPr/>
        </p:nvSpPr>
        <p:spPr bwMode="auto">
          <a:xfrm>
            <a:off x="1234440" y="200253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Classes bundle data + behavior; inheritance and polymorphism let you write flexible, extensible code.</a:t>
            </a:r>
            <a:endParaRPr lang="en-US" sz="1600"/>
          </a:p>
        </p:txBody>
      </p:sp>
      <p:sp>
        <p:nvSpPr>
          <p:cNvPr id="1549269332" name="Shape 5"/>
          <p:cNvSpPr/>
          <p:nvPr/>
        </p:nvSpPr>
        <p:spPr bwMode="auto">
          <a:xfrm>
            <a:off x="640080" y="2834639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97958243" name="Text 6"/>
          <p:cNvSpPr/>
          <p:nvPr/>
        </p:nvSpPr>
        <p:spPr bwMode="auto">
          <a:xfrm>
            <a:off x="640080" y="2834639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6B21A8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830272988" name="Text 7"/>
          <p:cNvSpPr/>
          <p:nvPr/>
        </p:nvSpPr>
        <p:spPr bwMode="auto">
          <a:xfrm>
            <a:off x="1234440" y="2779775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abc.ABC + @abstractmethod enforces a contract at instantiation time, not just at runtime.</a:t>
            </a:r>
            <a:endParaRPr lang="en-US" sz="1600"/>
          </a:p>
        </p:txBody>
      </p:sp>
      <p:sp>
        <p:nvSpPr>
          <p:cNvPr id="1945247306" name="Shape 8"/>
          <p:cNvSpPr/>
          <p:nvPr/>
        </p:nvSpPr>
        <p:spPr bwMode="auto">
          <a:xfrm>
            <a:off x="640080" y="361188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01211118" name="Text 9"/>
          <p:cNvSpPr/>
          <p:nvPr/>
        </p:nvSpPr>
        <p:spPr bwMode="auto">
          <a:xfrm>
            <a:off x="64008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6B21A8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1436909264" name="Text 10"/>
          <p:cNvSpPr/>
          <p:nvPr/>
        </p:nvSpPr>
        <p:spPr bwMode="auto">
          <a:xfrm>
            <a:off x="1234440" y="355701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Dunder methods (__str__, __repr__, __getitem__, __len__) let your objects work naturally with Python's built-in syntax.</a:t>
            </a:r>
            <a:endParaRPr lang="en-US" sz="1600"/>
          </a:p>
        </p:txBody>
      </p:sp>
      <p:sp>
        <p:nvSpPr>
          <p:cNvPr id="1140484387" name="Shape 11"/>
          <p:cNvSpPr/>
          <p:nvPr/>
        </p:nvSpPr>
        <p:spPr bwMode="auto">
          <a:xfrm>
            <a:off x="640080" y="4389120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2103647" name="Text 12"/>
          <p:cNvSpPr/>
          <p:nvPr/>
        </p:nvSpPr>
        <p:spPr bwMode="auto">
          <a:xfrm>
            <a:off x="64008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  <a:defRPr/>
            </a:pPr>
            <a:r>
              <a:rPr lang="en-US" sz="1600" b="1">
                <a:solidFill>
                  <a:srgbClr val="6B21A8"/>
                </a:solidFill>
                <a:latin typeface="Calibri"/>
                <a:ea typeface="Calibri"/>
                <a:cs typeface="Calibri"/>
              </a:rPr>
              <a:t>✓</a:t>
            </a:r>
            <a:endParaRPr lang="en-US" sz="1600"/>
          </a:p>
        </p:txBody>
      </p:sp>
      <p:sp>
        <p:nvSpPr>
          <p:cNvPr id="1695867654" name="Text 13"/>
          <p:cNvSpPr/>
          <p:nvPr/>
        </p:nvSpPr>
        <p:spPr bwMode="auto">
          <a:xfrm>
            <a:off x="1234440" y="4334256"/>
            <a:ext cx="10287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  <a:defRPr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@property gives you computed and validated attributes without breaking the "looks like an attribute" API.</a:t>
            </a:r>
            <a:endParaRPr 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ONLYOFFICE/9.4.0.129</Application>
  <PresentationFormat>On-screen Show (4:3)</PresentationFormat>
  <Paragraphs>0</Paragraphs>
  <Slides>25</Slides>
  <Notes>25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</cp:revision>
  <dcterms:modified xsi:type="dcterms:W3CDTF">2026-10-14T20:41:24Z</dcterms:modified>
</cp:coreProperties>
</file>