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62265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1893222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4447636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1020582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72474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180396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279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7782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7914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7ED112-C74E-5289-B7F5-87F2782F01B8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538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23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7213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03D1A5-784D-E7E5-CD78-A37533FA18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646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7576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7861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C2BA46-F9F8-C381-C158-AB8A157D709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026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350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1893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86C717-59BF-B60B-E2A6-2E165889F02F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602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2286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016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78C09-235A-9A0A-F24C-06A541C6C04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100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4994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6859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C920D8-C35A-06B9-6D82-EA3CA31923C3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97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986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67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417AE7-A71E-F5CD-A57E-26329891FA7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642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8276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3214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A69876-8852-5596-6B18-7F684B91D463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177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1463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7730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5D9242-068F-6395-470B-ED41FE1F302A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606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9114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92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52E8D-88AC-8EA2-3CCE-82E7CBBE020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81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3194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2978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514212-EBCB-B7DC-66A8-6395715EAEB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899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9684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5253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859B7C-0E0E-A0AE-B292-FB3EBCA2D6C0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647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7401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2455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C353A2-26F6-7B62-35F7-1B0153587297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348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8671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8983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1EBBAA-E126-1E97-68EE-AA9048D10AD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067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9017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4822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3D3CD0-877D-EC17-C1E5-7CD8CD63A0CA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1494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399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3534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5C9557-2430-38EF-33CE-7DAB49E1664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836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833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085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D3C823-E3FE-1FE4-0802-37A4DAD0E02E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542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4368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5164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0D71D5-9088-FC6D-215E-9EAF56C87E00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468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6870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2670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62957B-6E79-49A4-7DB7-045A02DE1620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961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8689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131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76B8B7-AF73-C730-4729-7DA96D7AE1D6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071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0796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700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6DD280-789D-87F7-4DE5-0C43AD2FAE56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341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669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1727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B2AC85-5783-8C45-BF54-1D8F79AFBDD1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090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526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7862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7480DD-E9D3-912B-F484-25392BB8B452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76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0226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3308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ABE34-2F07-4138-C5CF-4FE8D1D71123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640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4356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2564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C8F288-09E0-5A06-8100-966EEE54E8A5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098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479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8609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55299E-4E2C-7454-E0A1-6D1A2308FA8E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72339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974366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775838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54352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33888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4246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32914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00472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30340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0667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2218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20423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01197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68236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68499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081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41713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08358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25490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79664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10305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77892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14307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69389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49673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387924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45579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2890970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505017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5615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283291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5729139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6953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89067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6484831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626124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02762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911527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2270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33476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325453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01573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59258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400455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460590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23659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907101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79583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8450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873432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760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55661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02270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00478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115292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62114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87769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7003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00749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77011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223519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68211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140786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gradFill>
          <a:gsLst>
            <a:gs pos="0">
              <a:srgbClr val="14102B">
                <a:alpha val="99999"/>
              </a:srgbClr>
            </a:gs>
            <a:gs pos="28000">
              <a:srgbClr val="1A1630">
                <a:alpha val="99999"/>
              </a:srgbClr>
            </a:gs>
            <a:gs pos="52000">
              <a:srgbClr val="3C3950">
                <a:alpha val="99999"/>
              </a:srgbClr>
            </a:gs>
            <a:gs pos="91000">
              <a:srgbClr val="9998A3">
                <a:alpha val="99999"/>
              </a:srgbClr>
            </a:gs>
          </a:gsLst>
          <a:lin ang="2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431923" name="Shape 0"/>
          <p:cNvSpPr/>
          <p:nvPr/>
        </p:nvSpPr>
        <p:spPr bwMode="auto">
          <a:xfrm>
            <a:off x="9692640" y="-1463040"/>
            <a:ext cx="4572000" cy="4572000"/>
          </a:xfrm>
          <a:prstGeom prst="ellipse">
            <a:avLst/>
          </a:prstGeom>
          <a:solidFill>
            <a:srgbClr val="1F1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46685590" name="Shape 1"/>
          <p:cNvSpPr/>
          <p:nvPr/>
        </p:nvSpPr>
        <p:spPr bwMode="auto">
          <a:xfrm>
            <a:off x="-1828800" y="4846320"/>
            <a:ext cx="3840480" cy="3840480"/>
          </a:xfrm>
          <a:prstGeom prst="ellipse">
            <a:avLst/>
          </a:prstGeom>
          <a:solidFill>
            <a:srgbClr val="241C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4193127" name="Text 2"/>
          <p:cNvSpPr/>
          <p:nvPr/>
        </p:nvSpPr>
        <p:spPr bwMode="auto"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99">
                <a:solidFill>
                  <a:srgbClr val="8B7CF0"/>
                </a:solidFill>
                <a:latin typeface="Calibri"/>
                <a:ea typeface="Calibri"/>
                <a:cs typeface="Calibri"/>
              </a:rPr>
              <a:t>ADVANCED PYTHON — FORMATION PROGRAM , PILLAR 1</a:t>
            </a:r>
            <a:endParaRPr lang="en-US" sz="1300"/>
          </a:p>
        </p:txBody>
      </p:sp>
      <p:sp>
        <p:nvSpPr>
          <p:cNvPr id="468968240" name="Text 3"/>
          <p:cNvSpPr/>
          <p:nvPr/>
        </p:nvSpPr>
        <p:spPr bwMode="auto"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Advanced Python</a:t>
            </a:r>
            <a:endParaRPr lang="en-US" sz="5600"/>
          </a:p>
        </p:txBody>
      </p:sp>
      <p:sp>
        <p:nvSpPr>
          <p:cNvPr id="1185157239" name="Text 4"/>
          <p:cNvSpPr/>
          <p:nvPr/>
        </p:nvSpPr>
        <p:spPr bwMode="auto">
          <a:xfrm flipH="0" flipV="0"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i="1">
                <a:solidFill>
                  <a:srgbClr val="C9C3F0"/>
                </a:solidFill>
                <a:latin typeface="Cambria"/>
                <a:ea typeface="Cambria"/>
                <a:cs typeface="Cambria"/>
              </a:rPr>
              <a:t>From Scripts to Structured Code</a:t>
            </a:r>
            <a:endParaRPr lang="en-US" sz="2400"/>
          </a:p>
        </p:txBody>
      </p:sp>
      <p:sp>
        <p:nvSpPr>
          <p:cNvPr id="527066400" name="Text 5"/>
          <p:cNvSpPr/>
          <p:nvPr/>
        </p:nvSpPr>
        <p:spPr bwMode="auto">
          <a:xfrm flipH="0" flipV="0">
            <a:off x="45407" y="5989317"/>
            <a:ext cx="2131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1400"/>
          </a:p>
        </p:txBody>
      </p:sp>
      <p:sp>
        <p:nvSpPr>
          <p:cNvPr id="7775521" name="Text 3"/>
          <p:cNvSpPr/>
          <p:nvPr/>
        </p:nvSpPr>
        <p:spPr bwMode="auto">
          <a:xfrm flipH="0" flipV="0">
            <a:off x="6268537" y="5313316"/>
            <a:ext cx="5897638" cy="98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0" i="1" u="none" strike="noStrike" cap="none" spc="0">
                <a:solidFill>
                  <a:srgbClr val="C9C3F0"/>
                </a:solidFill>
                <a:latin typeface="Cambria"/>
                <a:ea typeface="Cambria"/>
                <a:cs typeface="Cambria"/>
              </a:rPr>
              <a:t>Animated by </a:t>
            </a:r>
            <a:r>
              <a:rPr lang="en-US" sz="3000" b="1">
                <a:solidFill>
                  <a:schemeClr val="bg1">
                    <a:lumMod val="65000"/>
                  </a:schemeClr>
                </a:solidFill>
                <a:latin typeface="Cambria"/>
                <a:ea typeface="Cambria"/>
                <a:cs typeface="Cambria"/>
              </a:rPr>
              <a:t>: </a:t>
            </a:r>
            <a:endParaRPr sz="3000" b="1">
              <a:solidFill>
                <a:schemeClr val="bg1">
                  <a:lumMod val="65000"/>
                </a:schemeClr>
              </a:solidFill>
              <a:latin typeface="Cambria"/>
              <a:ea typeface="Cambria"/>
              <a:cs typeface="Cambria"/>
            </a:endParaRPr>
          </a:p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		AYMANE GALIBOU</a:t>
            </a:r>
            <a:endParaRPr sz="3000"/>
          </a:p>
        </p:txBody>
      </p:sp>
      <p:pic>
        <p:nvPicPr>
          <p:cNvPr id="7248298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289364" y="276683"/>
            <a:ext cx="1689274" cy="1689274"/>
          </a:xfrm>
          <a:prstGeom prst="rect">
            <a:avLst/>
          </a:prstGeom>
        </p:spPr>
      </p:pic>
      <p:sp>
        <p:nvSpPr>
          <p:cNvPr id="537627819" name=""/>
          <p:cNvSpPr txBox="1"/>
          <p:nvPr/>
        </p:nvSpPr>
        <p:spPr bwMode="auto">
          <a:xfrm rot="0" flipH="0" flipV="0">
            <a:off x="91440" y="6172196"/>
            <a:ext cx="1735569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buNone/>
              <a:defRPr/>
            </a:pPr>
            <a:r>
              <a:rPr lang="en-US" b="1" spc="298">
                <a:solidFill>
                  <a:srgbClr val="8B7CF0"/>
                </a:solidFill>
                <a:latin typeface="Calibri"/>
                <a:ea typeface="Calibri"/>
                <a:cs typeface="Calibri"/>
              </a:rPr>
              <a:t>Data Cell</a:t>
            </a:r>
            <a:endParaRPr lang="en-US" sz="1300"/>
          </a:p>
        </p:txBody>
      </p:sp>
      <p:pic>
        <p:nvPicPr>
          <p:cNvPr id="64229545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00917" y="5185359"/>
            <a:ext cx="986834" cy="9868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2874" name=""/>
          <p:cNvSpPr/>
          <p:nvPr/>
        </p:nvSpPr>
        <p:spPr bwMode="auto">
          <a:xfrm rot="10800000" flipH="0" flipV="0">
            <a:off x="8623443" y="4649720"/>
            <a:ext cx="734536" cy="484629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2430291" name=""/>
          <p:cNvSpPr/>
          <p:nvPr/>
        </p:nvSpPr>
        <p:spPr bwMode="auto">
          <a:xfrm rot="10800000" flipH="0" flipV="0">
            <a:off x="2898366" y="4636005"/>
            <a:ext cx="734537" cy="48463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1579054" name=""/>
          <p:cNvSpPr/>
          <p:nvPr/>
        </p:nvSpPr>
        <p:spPr bwMode="auto">
          <a:xfrm rot="10800000" flipH="0" flipV="0">
            <a:off x="5681813" y="4649722"/>
            <a:ext cx="734536" cy="484629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955348" name=""/>
          <p:cNvSpPr/>
          <p:nvPr/>
        </p:nvSpPr>
        <p:spPr bwMode="auto">
          <a:xfrm rot="0" flipH="0" flipV="0">
            <a:off x="3584664" y="3972115"/>
            <a:ext cx="2254896" cy="1812407"/>
          </a:xfrm>
          <a:prstGeom prst="ellipse">
            <a:avLst/>
          </a:prstGeom>
          <a:solidFill>
            <a:srgbClr val="593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0489817" name=""/>
          <p:cNvSpPr/>
          <p:nvPr/>
        </p:nvSpPr>
        <p:spPr bwMode="auto">
          <a:xfrm rot="0" flipH="0" flipV="0">
            <a:off x="6416350" y="3985833"/>
            <a:ext cx="2254896" cy="1812407"/>
          </a:xfrm>
          <a:prstGeom prst="ellipse">
            <a:avLst/>
          </a:prstGeom>
          <a:solidFill>
            <a:srgbClr val="593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5116" name=""/>
          <p:cNvSpPr/>
          <p:nvPr/>
        </p:nvSpPr>
        <p:spPr bwMode="auto">
          <a:xfrm rot="0" flipH="0" flipV="0">
            <a:off x="9357978" y="3972115"/>
            <a:ext cx="2254896" cy="1812407"/>
          </a:xfrm>
          <a:prstGeom prst="ellipse">
            <a:avLst/>
          </a:prstGeom>
          <a:solidFill>
            <a:srgbClr val="593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01025205" name=""/>
          <p:cNvSpPr/>
          <p:nvPr/>
        </p:nvSpPr>
        <p:spPr bwMode="auto">
          <a:xfrm rot="0" flipH="0" flipV="0">
            <a:off x="643468" y="3985833"/>
            <a:ext cx="2254896" cy="1812408"/>
          </a:xfrm>
          <a:prstGeom prst="ellipse">
            <a:avLst/>
          </a:prstGeom>
          <a:solidFill>
            <a:srgbClr val="593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97750554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481201928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INTRO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002283790" name="Text 2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A1A2E"/>
                </a:solidFill>
                <a:latin typeface="Roboto"/>
                <a:ea typeface="Roboto"/>
                <a:cs typeface="Roboto"/>
              </a:rPr>
              <a:t>Why This Pillar Exists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639608013" name="Text 3"/>
          <p:cNvSpPr/>
          <p:nvPr/>
        </p:nvSpPr>
        <p:spPr bwMode="auto">
          <a:xfrm>
            <a:off x="457200" y="1707625"/>
            <a:ext cx="11292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Most students write Python as a sequence of instructions in one file.</a:t>
            </a:r>
            <a:endParaRPr sz="1600">
              <a:latin typeface="Roboto"/>
              <a:cs typeface="Roboto"/>
            </a:endParaRPr>
          </a:p>
          <a:p>
            <a:pPr marL="228600" indent="-228600">
              <a:lnSpc>
                <a:spcPct val="12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Real codebases (pandas, FastAPI, scikit-learn) are built on 4 ideas: scope &amp; closures, iteration, resource management, and object design.</a:t>
            </a:r>
            <a:endParaRPr sz="1600">
              <a:latin typeface="Roboto"/>
              <a:cs typeface="Roboto"/>
            </a:endParaRPr>
          </a:p>
          <a:p>
            <a:pPr marL="228600" indent="-228600">
              <a:lnSpc>
                <a:spcPct val="12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By the end of this pillar, you'll read library source code and no longer be confused by @decorator, yield, with, or self.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36998440" name="Shape 5"/>
          <p:cNvSpPr/>
          <p:nvPr/>
        </p:nvSpPr>
        <p:spPr bwMode="auto">
          <a:xfrm>
            <a:off x="1508758" y="42519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720114894" name="Text 6"/>
          <p:cNvSpPr/>
          <p:nvPr/>
        </p:nvSpPr>
        <p:spPr bwMode="auto">
          <a:xfrm>
            <a:off x="1508758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075573845" name="Text 7"/>
          <p:cNvSpPr/>
          <p:nvPr/>
        </p:nvSpPr>
        <p:spPr bwMode="auto">
          <a:xfrm>
            <a:off x="582197" y="4892037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Scope &amp; Closures</a:t>
            </a:r>
            <a:endParaRPr sz="135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281948671" name="Text 8"/>
          <p:cNvSpPr/>
          <p:nvPr/>
        </p:nvSpPr>
        <p:spPr bwMode="auto">
          <a:xfrm>
            <a:off x="582196" y="5276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→ decorators</a:t>
            </a:r>
            <a:endParaRPr sz="12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2135197957" name="Shape 10"/>
          <p:cNvSpPr/>
          <p:nvPr/>
        </p:nvSpPr>
        <p:spPr bwMode="auto">
          <a:xfrm>
            <a:off x="10149837" y="4238242"/>
            <a:ext cx="548640" cy="548640"/>
          </a:xfrm>
          <a:prstGeom prst="ellipse">
            <a:avLst/>
          </a:prstGeom>
          <a:solidFill>
            <a:srgbClr val="7D6CF7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816101182" name="Text 11"/>
          <p:cNvSpPr/>
          <p:nvPr/>
        </p:nvSpPr>
        <p:spPr bwMode="auto">
          <a:xfrm flipH="0" flipV="0">
            <a:off x="10149835" y="4238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761317829" name="Text 12"/>
          <p:cNvSpPr/>
          <p:nvPr/>
        </p:nvSpPr>
        <p:spPr bwMode="auto">
          <a:xfrm>
            <a:off x="9235437" y="4878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Iteration</a:t>
            </a:r>
            <a:endParaRPr sz="135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664526220" name="Text 13"/>
          <p:cNvSpPr/>
          <p:nvPr/>
        </p:nvSpPr>
        <p:spPr bwMode="auto">
          <a:xfrm>
            <a:off x="9296707" y="526237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→ generators -</a:t>
            </a:r>
            <a:endParaRPr sz="1200" i="1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 comprehensions</a:t>
            </a:r>
            <a:endParaRPr sz="12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585325759" name="Shape 15"/>
          <p:cNvSpPr/>
          <p:nvPr/>
        </p:nvSpPr>
        <p:spPr bwMode="auto">
          <a:xfrm>
            <a:off x="7269480" y="4251960"/>
            <a:ext cx="548640" cy="548640"/>
          </a:xfrm>
          <a:prstGeom prst="ellipse">
            <a:avLst/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067887105" name="Text 16"/>
          <p:cNvSpPr/>
          <p:nvPr/>
        </p:nvSpPr>
        <p:spPr bwMode="auto">
          <a:xfrm>
            <a:off x="7269480" y="425195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1844594" name="Text 17"/>
          <p:cNvSpPr/>
          <p:nvPr/>
        </p:nvSpPr>
        <p:spPr bwMode="auto">
          <a:xfrm>
            <a:off x="6355080" y="489203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Resource Lifecycles</a:t>
            </a:r>
            <a:endParaRPr sz="135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695321280" name="Text 18"/>
          <p:cNvSpPr/>
          <p:nvPr/>
        </p:nvSpPr>
        <p:spPr bwMode="auto">
          <a:xfrm>
            <a:off x="6355080" y="5276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→ context managers</a:t>
            </a:r>
            <a:endParaRPr sz="12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26226320" name="Shape 20"/>
          <p:cNvSpPr/>
          <p:nvPr/>
        </p:nvSpPr>
        <p:spPr bwMode="auto">
          <a:xfrm>
            <a:off x="4376523" y="4238243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497351251" name="Text 21"/>
          <p:cNvSpPr/>
          <p:nvPr/>
        </p:nvSpPr>
        <p:spPr bwMode="auto">
          <a:xfrm>
            <a:off x="4376523" y="423824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852769758" name="Text 22"/>
          <p:cNvSpPr/>
          <p:nvPr/>
        </p:nvSpPr>
        <p:spPr bwMode="auto">
          <a:xfrm>
            <a:off x="3462123" y="4878321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Structure</a:t>
            </a:r>
            <a:endParaRPr sz="135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469242007" name="Text 23"/>
          <p:cNvSpPr/>
          <p:nvPr/>
        </p:nvSpPr>
        <p:spPr bwMode="auto">
          <a:xfrm>
            <a:off x="3462123" y="5262371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→ OOP</a:t>
            </a:r>
            <a:endParaRPr sz="1200">
              <a:solidFill>
                <a:schemeClr val="tx1"/>
              </a:solidFill>
              <a:latin typeface="Roboto"/>
              <a:cs typeface="Roboto"/>
            </a:endParaRPr>
          </a:p>
        </p:txBody>
      </p:sp>
      <p:pic>
        <p:nvPicPr>
          <p:cNvPr id="21320502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289363" y="-39963"/>
            <a:ext cx="1689273" cy="1689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2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99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11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57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4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43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2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3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76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2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57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48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32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88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4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2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9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19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10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3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2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7C3A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426611" name="Text 0"/>
          <p:cNvSpPr/>
          <p:nvPr/>
        </p:nvSpPr>
        <p:spPr bwMode="auto"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spc="299">
                <a:solidFill>
                  <a:srgbClr val="E5E1F7"/>
                </a:solidFill>
                <a:latin typeface="Calibri"/>
                <a:ea typeface="Calibri"/>
                <a:cs typeface="Calibri"/>
              </a:rPr>
              <a:t>SESSION 1 / 4</a:t>
            </a:r>
            <a:endParaRPr lang="en-US" sz="1600"/>
          </a:p>
        </p:txBody>
      </p:sp>
      <p:sp>
        <p:nvSpPr>
          <p:cNvPr id="1941956229" name="Text 1"/>
          <p:cNvSpPr/>
          <p:nvPr/>
        </p:nvSpPr>
        <p:spPr bwMode="auto">
          <a:xfrm>
            <a:off x="822960" y="2788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Scope</a:t>
            </a:r>
            <a:r>
              <a:rPr lang="en-US" sz="4200" b="1" i="0" u="none" strike="noStrike" cap="none" spc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,Functions</a:t>
            </a: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&amp; Decorators</a:t>
            </a:r>
            <a:endParaRPr lang="en-US" sz="4200"/>
          </a:p>
        </p:txBody>
      </p:sp>
      <p:sp>
        <p:nvSpPr>
          <p:cNvPr id="1251840233" name="Shape 2"/>
          <p:cNvSpPr/>
          <p:nvPr/>
        </p:nvSpPr>
        <p:spPr bwMode="auto">
          <a:xfrm>
            <a:off x="822960" y="4343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A22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94803758" name="Text 3"/>
          <p:cNvSpPr/>
          <p:nvPr/>
        </p:nvSpPr>
        <p:spPr bwMode="auto">
          <a:xfrm>
            <a:off x="82296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Duration: 2h</a:t>
            </a:r>
            <a:endParaRPr lang="en-US" sz="1300"/>
          </a:p>
        </p:txBody>
      </p:sp>
      <p:sp>
        <p:nvSpPr>
          <p:cNvPr id="1363484297" name="Shape 4"/>
          <p:cNvSpPr/>
          <p:nvPr/>
        </p:nvSpPr>
        <p:spPr bwMode="auto">
          <a:xfrm>
            <a:off x="822960" y="61722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5329486" name="Shape 5"/>
          <p:cNvSpPr/>
          <p:nvPr/>
        </p:nvSpPr>
        <p:spPr bwMode="auto">
          <a:xfrm>
            <a:off x="1143000" y="6172200"/>
            <a:ext cx="182880" cy="182880"/>
          </a:xfrm>
          <a:prstGeom prst="ellipse">
            <a:avLst/>
          </a:prstGeom>
          <a:solidFill>
            <a:srgbClr val="473F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7973540" name="Shape 6"/>
          <p:cNvSpPr/>
          <p:nvPr/>
        </p:nvSpPr>
        <p:spPr bwMode="auto">
          <a:xfrm>
            <a:off x="1463040" y="6172200"/>
            <a:ext cx="182880" cy="182880"/>
          </a:xfrm>
          <a:prstGeom prst="ellipse">
            <a:avLst/>
          </a:prstGeom>
          <a:solidFill>
            <a:srgbClr val="473F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240473" name="Shape 7"/>
          <p:cNvSpPr/>
          <p:nvPr/>
        </p:nvSpPr>
        <p:spPr bwMode="auto">
          <a:xfrm>
            <a:off x="1783080" y="6172200"/>
            <a:ext cx="182880" cy="182880"/>
          </a:xfrm>
          <a:prstGeom prst="ellipse">
            <a:avLst/>
          </a:prstGeom>
          <a:solidFill>
            <a:srgbClr val="473F7A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357538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34118495" name="Text 1"/>
          <p:cNvSpPr/>
          <p:nvPr/>
        </p:nvSpPr>
        <p:spPr bwMode="auto">
          <a:xfrm>
            <a:off x="457198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668403086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"Scope" Means</a:t>
            </a:r>
            <a:endParaRPr lang="en-US" sz="2700"/>
          </a:p>
        </p:txBody>
      </p:sp>
      <p:sp>
        <p:nvSpPr>
          <p:cNvPr id="585284241" name="Text 7"/>
          <p:cNvSpPr/>
          <p:nvPr/>
        </p:nvSpPr>
        <p:spPr bwMode="auto">
          <a:xfrm>
            <a:off x="457200" y="1645920"/>
            <a:ext cx="11292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Scope = the region of your code where a variable name is visible/accessible.</a:t>
            </a:r>
            <a:endParaRPr lang="en-US" sz="1600"/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Python doesn't use curly-brace block scope like C/Java — it uses function scope.</a:t>
            </a:r>
            <a:endParaRPr lang="en-US" sz="1600"/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Every time you call a function, Python creates a new local namespace (a dictionary under the hood).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014428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43091171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562101276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LEGB Rule</a:t>
            </a:r>
            <a:endParaRPr lang="en-US" sz="2700"/>
          </a:p>
        </p:txBody>
      </p:sp>
      <p:sp>
        <p:nvSpPr>
          <p:cNvPr id="276714842" name="Text 7"/>
          <p:cNvSpPr/>
          <p:nvPr/>
        </p:nvSpPr>
        <p:spPr bwMode="auto">
          <a:xfrm>
            <a:off x="457200" y="1645920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Python resolves a variable name by checking these 4 scopes in this order:</a:t>
            </a:r>
            <a:endParaRPr lang="en-US" sz="1500"/>
          </a:p>
        </p:txBody>
      </p:sp>
      <p:sp>
        <p:nvSpPr>
          <p:cNvPr id="75798393" name="Shape 8"/>
          <p:cNvSpPr/>
          <p:nvPr/>
        </p:nvSpPr>
        <p:spPr bwMode="auto">
          <a:xfrm>
            <a:off x="457200" y="224028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2740917" name="Text 9"/>
          <p:cNvSpPr/>
          <p:nvPr/>
        </p:nvSpPr>
        <p:spPr bwMode="auto">
          <a:xfrm>
            <a:off x="45720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</a:t>
            </a:r>
            <a:endParaRPr lang="en-US" sz="2000"/>
          </a:p>
        </p:txBody>
      </p:sp>
      <p:sp>
        <p:nvSpPr>
          <p:cNvPr id="375577104" name="Shape 10"/>
          <p:cNvSpPr/>
          <p:nvPr/>
        </p:nvSpPr>
        <p:spPr bwMode="auto">
          <a:xfrm flipH="0" flipV="0">
            <a:off x="1188720" y="2103120"/>
            <a:ext cx="490727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3601150" name="Text 11"/>
          <p:cNvSpPr/>
          <p:nvPr/>
        </p:nvSpPr>
        <p:spPr bwMode="auto">
          <a:xfrm flipH="0" flipV="0">
            <a:off x="1417318" y="2103120"/>
            <a:ext cx="468629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Local  </a:t>
            </a: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inside the current function</a:t>
            </a:r>
            <a:endParaRPr lang="en-US" sz="1500"/>
          </a:p>
        </p:txBody>
      </p:sp>
      <p:sp>
        <p:nvSpPr>
          <p:cNvPr id="928520589" name="Shape 12"/>
          <p:cNvSpPr/>
          <p:nvPr/>
        </p:nvSpPr>
        <p:spPr bwMode="auto">
          <a:xfrm>
            <a:off x="457200" y="3136392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7689850" name="Text 13"/>
          <p:cNvSpPr/>
          <p:nvPr/>
        </p:nvSpPr>
        <p:spPr bwMode="auto">
          <a:xfrm>
            <a:off x="457200" y="3136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</a:t>
            </a:r>
            <a:endParaRPr lang="en-US" sz="2000"/>
          </a:p>
        </p:txBody>
      </p:sp>
      <p:sp>
        <p:nvSpPr>
          <p:cNvPr id="1978234130" name="Shape 14"/>
          <p:cNvSpPr/>
          <p:nvPr/>
        </p:nvSpPr>
        <p:spPr bwMode="auto">
          <a:xfrm flipH="0" flipV="0">
            <a:off x="1188720" y="2999232"/>
            <a:ext cx="490727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92843294" name="Text 15"/>
          <p:cNvSpPr/>
          <p:nvPr/>
        </p:nvSpPr>
        <p:spPr bwMode="auto">
          <a:xfrm flipH="0" flipV="0">
            <a:off x="1417318" y="2999232"/>
            <a:ext cx="468629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Enclosing  </a:t>
            </a: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inside any enclosing function (for nested functions)</a:t>
            </a:r>
            <a:endParaRPr lang="en-US" sz="1500"/>
          </a:p>
        </p:txBody>
      </p:sp>
      <p:sp>
        <p:nvSpPr>
          <p:cNvPr id="512952864" name="Shape 16"/>
          <p:cNvSpPr/>
          <p:nvPr/>
        </p:nvSpPr>
        <p:spPr bwMode="auto">
          <a:xfrm>
            <a:off x="457200" y="40325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2534819" name="Text 17"/>
          <p:cNvSpPr/>
          <p:nvPr/>
        </p:nvSpPr>
        <p:spPr bwMode="auto">
          <a:xfrm>
            <a:off x="457200" y="40325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</a:t>
            </a:r>
            <a:endParaRPr lang="en-US" sz="2000"/>
          </a:p>
        </p:txBody>
      </p:sp>
      <p:sp>
        <p:nvSpPr>
          <p:cNvPr id="324472782" name="Shape 18"/>
          <p:cNvSpPr/>
          <p:nvPr/>
        </p:nvSpPr>
        <p:spPr bwMode="auto">
          <a:xfrm flipH="0" flipV="0">
            <a:off x="1188720" y="3895342"/>
            <a:ext cx="491489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95682616" name="Text 19"/>
          <p:cNvSpPr/>
          <p:nvPr/>
        </p:nvSpPr>
        <p:spPr bwMode="auto">
          <a:xfrm flipH="0" flipV="0">
            <a:off x="1417318" y="3895342"/>
            <a:ext cx="468629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Global  </a:t>
            </a: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at the top level of the module</a:t>
            </a:r>
            <a:endParaRPr lang="en-US" sz="1500"/>
          </a:p>
        </p:txBody>
      </p:sp>
      <p:sp>
        <p:nvSpPr>
          <p:cNvPr id="1303145833" name="Shape 20"/>
          <p:cNvSpPr/>
          <p:nvPr/>
        </p:nvSpPr>
        <p:spPr bwMode="auto">
          <a:xfrm>
            <a:off x="457200" y="4928616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2815092" name="Text 21"/>
          <p:cNvSpPr/>
          <p:nvPr/>
        </p:nvSpPr>
        <p:spPr bwMode="auto">
          <a:xfrm>
            <a:off x="457200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</a:t>
            </a:r>
            <a:endParaRPr lang="en-US" sz="2000"/>
          </a:p>
        </p:txBody>
      </p:sp>
      <p:sp>
        <p:nvSpPr>
          <p:cNvPr id="610156275" name="Shape 22"/>
          <p:cNvSpPr/>
          <p:nvPr/>
        </p:nvSpPr>
        <p:spPr bwMode="auto">
          <a:xfrm flipH="0" flipV="0">
            <a:off x="1188720" y="4791456"/>
            <a:ext cx="491489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63314238" name="Text 23"/>
          <p:cNvSpPr/>
          <p:nvPr/>
        </p:nvSpPr>
        <p:spPr bwMode="auto">
          <a:xfrm flipH="0" flipV="0">
            <a:off x="1417318" y="4791456"/>
            <a:ext cx="468629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Built-in  </a:t>
            </a: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Python's built-in names (len, print, range...)</a:t>
            </a:r>
            <a:endParaRPr lang="en-US" sz="1500"/>
          </a:p>
        </p:txBody>
      </p:sp>
      <p:sp>
        <p:nvSpPr>
          <p:cNvPr id="1711149618" name="Shape 24"/>
          <p:cNvSpPr/>
          <p:nvPr/>
        </p:nvSpPr>
        <p:spPr bwMode="auto">
          <a:xfrm>
            <a:off x="457200" y="5779008"/>
            <a:ext cx="11292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68027289" name="Text 25"/>
          <p:cNvSpPr/>
          <p:nvPr/>
        </p:nvSpPr>
        <p:spPr bwMode="auto">
          <a:xfrm>
            <a:off x="640080" y="5779008"/>
            <a:ext cx="109270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The first scope where the name is found wins. If none match → NameError.</a:t>
            </a:r>
            <a:endParaRPr lang="en-US" sz="1300"/>
          </a:p>
        </p:txBody>
      </p:sp>
      <p:pic>
        <p:nvPicPr>
          <p:cNvPr id="12296082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70744" y="1585568"/>
            <a:ext cx="4169661" cy="39611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74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57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0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52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68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23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84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5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47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68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14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1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15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314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0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14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02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997149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7341966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470001799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LEGB in Action</a:t>
            </a:r>
            <a:endParaRPr lang="en-US" sz="2700"/>
          </a:p>
        </p:txBody>
      </p:sp>
      <p:sp>
        <p:nvSpPr>
          <p:cNvPr id="1169969500" name="Shape 7"/>
          <p:cNvSpPr/>
          <p:nvPr/>
        </p:nvSpPr>
        <p:spPr bwMode="auto">
          <a:xfrm>
            <a:off x="457200" y="1600200"/>
            <a:ext cx="11292840" cy="4617720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8931150" name="Text 8"/>
          <p:cNvSpPr/>
          <p:nvPr/>
        </p:nvSpPr>
        <p:spPr bwMode="auto">
          <a:xfrm>
            <a:off x="658368" y="1728216"/>
            <a:ext cx="10890504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x = 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"global"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outer():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x = 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"enclosing"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inner():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x = 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"local"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print(x)          </a:t>
            </a: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-&gt; "local"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inner()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print(x)               </a:t>
            </a: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-&gt; "enclosing"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print(x)                    </a:t>
            </a: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-&gt; "global"</a:t>
            </a:r>
            <a:endParaRPr sz="16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129996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Reading vs. Assigning to Global Variables</a:t>
            </a:r>
            <a:endParaRPr lang="en-US" sz="2700"/>
          </a:p>
        </p:txBody>
      </p:sp>
      <p:sp>
        <p:nvSpPr>
          <p:cNvPr id="649956363" name="Shape 8"/>
          <p:cNvSpPr/>
          <p:nvPr/>
        </p:nvSpPr>
        <p:spPr bwMode="auto">
          <a:xfrm flipH="0" flipV="0">
            <a:off x="382392" y="1675310"/>
            <a:ext cx="4880610" cy="1667363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81647330" name="Text 9"/>
          <p:cNvSpPr/>
          <p:nvPr/>
        </p:nvSpPr>
        <p:spPr bwMode="auto">
          <a:xfrm flipH="0" flipV="0">
            <a:off x="480060" y="1675310"/>
            <a:ext cx="4782942" cy="166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counter = </a:t>
            </a:r>
            <a:r>
              <a:rPr lang="en-US" sz="16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increment():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counter += </a:t>
            </a:r>
            <a:r>
              <a:rPr lang="en-US" sz="16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UnboundLocalError!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counter</a:t>
            </a:r>
            <a:endParaRPr sz="1600">
              <a:latin typeface="Ubuntu Mono"/>
              <a:cs typeface="Ubuntu Mono"/>
            </a:endParaRPr>
          </a:p>
        </p:txBody>
      </p:sp>
      <p:sp>
        <p:nvSpPr>
          <p:cNvPr id="1383027233" name="Text 10"/>
          <p:cNvSpPr/>
          <p:nvPr/>
        </p:nvSpPr>
        <p:spPr bwMode="auto">
          <a:xfrm flipH="0" flipV="0">
            <a:off x="457198" y="3493008"/>
            <a:ext cx="5440680" cy="109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5C3A2E"/>
                </a:solidFill>
                <a:latin typeface="Roboto"/>
                <a:ea typeface="Roboto"/>
                <a:cs typeface="Roboto"/>
              </a:rPr>
              <a:t>Assigning to a name anywhere in a function makes Python treat it as local for the entire function.</a:t>
            </a:r>
            <a:endParaRPr sz="1600">
              <a:latin typeface="Roboto"/>
              <a:cs typeface="Roboto"/>
            </a:endParaRPr>
          </a:p>
          <a:p>
            <a:pPr marL="228600" indent="-228600">
              <a:lnSpc>
                <a:spcPct val="11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5C3A2E"/>
                </a:solidFill>
                <a:latin typeface="Roboto"/>
                <a:ea typeface="Roboto"/>
                <a:cs typeface="Roboto"/>
              </a:rPr>
              <a:t>Fix: use the global keyword (or, better, avoid mutable globals entirely).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406249968" name="Text 11"/>
          <p:cNvSpPr/>
          <p:nvPr/>
        </p:nvSpPr>
        <p:spPr bwMode="auto">
          <a:xfrm flipH="0" flipV="0">
            <a:off x="6309360" y="1382702"/>
            <a:ext cx="471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99">
                <a:solidFill>
                  <a:srgbClr val="1E9E5A"/>
                </a:solidFill>
                <a:latin typeface="Calibri"/>
                <a:ea typeface="Calibri"/>
                <a:cs typeface="Calibri"/>
              </a:rPr>
              <a:t>✓ Fix</a:t>
            </a:r>
            <a:endParaRPr lang="en-US" sz="1200"/>
          </a:p>
        </p:txBody>
      </p:sp>
      <p:sp>
        <p:nvSpPr>
          <p:cNvPr id="841557600" name="Shape 12"/>
          <p:cNvSpPr/>
          <p:nvPr/>
        </p:nvSpPr>
        <p:spPr bwMode="auto">
          <a:xfrm flipH="0" flipV="0">
            <a:off x="6227717" y="1675310"/>
            <a:ext cx="4795461" cy="1585537"/>
          </a:xfrm>
          <a:prstGeom prst="roundRect">
            <a:avLst>
              <a:gd name="adj" fmla="val 3200"/>
            </a:avLst>
          </a:prstGeom>
          <a:solidFill>
            <a:srgbClr val="1325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28579332" name="Text 13"/>
          <p:cNvSpPr/>
          <p:nvPr/>
        </p:nvSpPr>
        <p:spPr bwMode="auto">
          <a:xfrm flipH="0" flipV="0">
            <a:off x="6428885" y="1803326"/>
            <a:ext cx="4440839" cy="1407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increment():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chemeClr val="accent1"/>
                </a:solidFill>
                <a:latin typeface="Ubuntu Mono"/>
                <a:ea typeface="Ubuntu Mono"/>
                <a:cs typeface="Ubuntu Mono"/>
              </a:rPr>
              <a:t>global</a:t>
            </a:r>
            <a:r>
              <a:rPr lang="en-US" sz="1600">
                <a:solidFill>
                  <a:schemeClr val="accent1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counter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counter += </a:t>
            </a:r>
            <a:r>
              <a:rPr lang="en-US" sz="16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counter</a:t>
            </a:r>
            <a:endParaRPr sz="1600">
              <a:latin typeface="Ubuntu Mono"/>
              <a:cs typeface="Ubuntu Mono"/>
            </a:endParaRPr>
          </a:p>
        </p:txBody>
      </p:sp>
      <p:sp>
        <p:nvSpPr>
          <p:cNvPr id="1470382935" name="Shape 8"/>
          <p:cNvSpPr/>
          <p:nvPr/>
        </p:nvSpPr>
        <p:spPr bwMode="auto">
          <a:xfrm flipH="0" flipV="0">
            <a:off x="3501017" y="5034749"/>
            <a:ext cx="4793721" cy="1667362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52249733" name="Text 9"/>
          <p:cNvSpPr/>
          <p:nvPr/>
        </p:nvSpPr>
        <p:spPr bwMode="auto">
          <a:xfrm flipH="0" flipV="0">
            <a:off x="3644406" y="5034750"/>
            <a:ext cx="4697793" cy="1667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counter = </a:t>
            </a:r>
            <a:r>
              <a:rPr lang="en-US" sz="16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increment():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instructions ...</a:t>
            </a:r>
            <a:endParaRPr sz="1600" i="1">
              <a:solidFill>
                <a:srgbClr val="6A9955"/>
              </a:solidFill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Ubuntu Mono"/>
                <a:ea typeface="Ubuntu Mono"/>
                <a:cs typeface="Ubuntu Mono"/>
              </a:rPr>
              <a:t>    print(counter</a:t>
            </a:r>
            <a:r>
              <a:rPr lang="en-US" sz="1600" i="1">
                <a:solidFill>
                  <a:schemeClr val="bg1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600">
                <a:solidFill>
                  <a:schemeClr val="bg1"/>
                </a:solidFill>
                <a:latin typeface="Ubuntu Mono"/>
                <a:ea typeface="Ubuntu Mono"/>
                <a:cs typeface="Ubuntu Mono"/>
              </a:rPr>
              <a:t>counter</a:t>
            </a:r>
            <a:endParaRPr sz="1600">
              <a:latin typeface="Ubuntu Mono"/>
              <a:cs typeface="Ubuntu Mono"/>
            </a:endParaRPr>
          </a:p>
        </p:txBody>
      </p:sp>
      <p:sp>
        <p:nvSpPr>
          <p:cNvPr id="853515395" name="Text 11"/>
          <p:cNvSpPr/>
          <p:nvPr/>
        </p:nvSpPr>
        <p:spPr bwMode="auto">
          <a:xfrm flipH="0" flipV="0">
            <a:off x="3546738" y="4640034"/>
            <a:ext cx="47954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99">
                <a:solidFill>
                  <a:srgbClr val="1E9E5A"/>
                </a:solidFill>
                <a:latin typeface="Calibri"/>
                <a:ea typeface="Calibri"/>
                <a:cs typeface="Calibri"/>
              </a:rPr>
              <a:t>✓ no problem with reading variable outside the current scope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9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64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24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5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57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2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38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24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933766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Reading vs. Assigning to non local variables</a:t>
            </a:r>
            <a:endParaRPr lang="en-US" sz="2700"/>
          </a:p>
        </p:txBody>
      </p:sp>
      <p:sp>
        <p:nvSpPr>
          <p:cNvPr id="1327963902" name="Shape 8"/>
          <p:cNvSpPr/>
          <p:nvPr/>
        </p:nvSpPr>
        <p:spPr bwMode="auto">
          <a:xfrm flipH="0" flipV="0">
            <a:off x="382392" y="1675309"/>
            <a:ext cx="5392913" cy="2003473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24003793" name="Text 9"/>
          <p:cNvSpPr/>
          <p:nvPr/>
        </p:nvSpPr>
        <p:spPr bwMode="auto">
          <a:xfrm flipH="0" flipV="0">
            <a:off x="561110" y="1837215"/>
            <a:ext cx="5035473" cy="167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handler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1600" b="0" i="0" u="none">
              <a:solidFill>
                <a:srgbClr val="BBBEBF"/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counter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increment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counter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+=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</a:t>
            </a:r>
            <a:r>
              <a:rPr sz="1600" b="0" i="0" u="none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# UnboundLocalError!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counter</a:t>
            </a:r>
            <a:endParaRPr sz="2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increment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1600">
              <a:latin typeface="Ubuntu Mono"/>
              <a:cs typeface="Ubuntu Mono"/>
            </a:endParaRPr>
          </a:p>
        </p:txBody>
      </p:sp>
      <p:sp>
        <p:nvSpPr>
          <p:cNvPr id="74811787" name="Text 10"/>
          <p:cNvSpPr/>
          <p:nvPr/>
        </p:nvSpPr>
        <p:spPr bwMode="auto">
          <a:xfrm flipH="0" flipV="0">
            <a:off x="480059" y="3756540"/>
            <a:ext cx="3116034" cy="25173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/>
          <a:lstStyle/>
          <a:p>
            <a:pPr marL="239820" marR="0" lvl="0" indent="-239820" algn="l" defTabSz="914400" rtl="0">
              <a:lnSpc>
                <a:spcPct val="100000"/>
              </a:lnSpc>
              <a:spcBef>
                <a:spcPts val="0"/>
              </a:spcBef>
              <a:spcAft>
                <a:spcPts val="998"/>
              </a:spcAft>
              <a:buSzPct val="150000"/>
              <a:buFont typeface="Arial"/>
              <a:buChar char="•"/>
              <a:defRPr/>
            </a:pPr>
            <a:r>
              <a:rPr lang="en-US" sz="1400" strike="noStrike" cap="none" spc="0">
                <a:solidFill>
                  <a:srgbClr val="5C3A2E"/>
                </a:solidFill>
                <a:latin typeface="Calibri"/>
                <a:ea typeface="Calibri"/>
                <a:cs typeface="Calibri"/>
              </a:rPr>
              <a:t>Fix: use the nonlocal keyword .</a:t>
            </a:r>
            <a:endParaRPr sz="1400" strike="noStrike" cap="none" spc="0"/>
          </a:p>
        </p:txBody>
      </p:sp>
      <p:sp>
        <p:nvSpPr>
          <p:cNvPr id="828076902" name="Text 11"/>
          <p:cNvSpPr/>
          <p:nvPr/>
        </p:nvSpPr>
        <p:spPr bwMode="auto">
          <a:xfrm flipH="0" flipV="0">
            <a:off x="6309360" y="1382702"/>
            <a:ext cx="471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99">
                <a:solidFill>
                  <a:srgbClr val="1E9E5A"/>
                </a:solidFill>
                <a:latin typeface="Calibri"/>
                <a:ea typeface="Calibri"/>
                <a:cs typeface="Calibri"/>
              </a:rPr>
              <a:t>✓ Fix</a:t>
            </a:r>
            <a:endParaRPr lang="en-US" sz="1200"/>
          </a:p>
        </p:txBody>
      </p:sp>
      <p:sp>
        <p:nvSpPr>
          <p:cNvPr id="1768847619" name="Shape 12"/>
          <p:cNvSpPr/>
          <p:nvPr/>
        </p:nvSpPr>
        <p:spPr bwMode="auto">
          <a:xfrm flipH="0" flipV="0">
            <a:off x="6151820" y="1675309"/>
            <a:ext cx="5144096" cy="2003473"/>
          </a:xfrm>
          <a:prstGeom prst="roundRect">
            <a:avLst>
              <a:gd name="adj" fmla="val 3200"/>
            </a:avLst>
          </a:prstGeom>
          <a:solidFill>
            <a:srgbClr val="1325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836626" name="Shape 8"/>
          <p:cNvSpPr/>
          <p:nvPr/>
        </p:nvSpPr>
        <p:spPr bwMode="auto">
          <a:xfrm flipH="0" flipV="0">
            <a:off x="453661" y="4542840"/>
            <a:ext cx="5449779" cy="1852203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8913232" name="Text 11"/>
          <p:cNvSpPr/>
          <p:nvPr/>
        </p:nvSpPr>
        <p:spPr bwMode="auto">
          <a:xfrm flipH="0" flipV="0">
            <a:off x="325525" y="4148123"/>
            <a:ext cx="47954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99">
                <a:solidFill>
                  <a:srgbClr val="1E9E5A"/>
                </a:solidFill>
                <a:latin typeface="Calibri"/>
                <a:ea typeface="Calibri"/>
                <a:cs typeface="Calibri"/>
              </a:rPr>
              <a:t>✓ no problem with reading variable outside the current scope</a:t>
            </a:r>
            <a:endParaRPr lang="en-US" sz="1200"/>
          </a:p>
        </p:txBody>
      </p:sp>
      <p:sp>
        <p:nvSpPr>
          <p:cNvPr id="92889361" name="Text 9"/>
          <p:cNvSpPr/>
          <p:nvPr/>
        </p:nvSpPr>
        <p:spPr bwMode="auto">
          <a:xfrm flipH="0" flipV="0">
            <a:off x="6251572" y="1708510"/>
            <a:ext cx="4966589" cy="1868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handler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1600" b="0" i="0" u="none">
              <a:solidFill>
                <a:srgbClr val="BBBEBF"/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counter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increment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1600" b="0" i="0" u="none">
              <a:solidFill>
                <a:srgbClr val="BBBEBF"/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600">
                <a:solidFill>
                  <a:schemeClr val="bg1">
                    <a:lumMod val="75000"/>
                  </a:schemeClr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>
                <a:solidFill>
                  <a:schemeClr val="accent1"/>
                </a:solidFill>
                <a:latin typeface="Ubuntu Mono"/>
                <a:ea typeface="Ubuntu Mono"/>
                <a:cs typeface="Ubuntu Mono"/>
              </a:rPr>
              <a:t>nonlocal </a:t>
            </a:r>
            <a:r>
              <a:rPr sz="1600">
                <a:solidFill>
                  <a:schemeClr val="bg1">
                    <a:lumMod val="75000"/>
                  </a:schemeClr>
                </a:solidFill>
                <a:latin typeface="Ubuntu Mono"/>
                <a:ea typeface="Ubuntu Mono"/>
                <a:cs typeface="Ubuntu Mono"/>
              </a:rPr>
              <a:t>counter</a:t>
            </a:r>
            <a:endParaRPr sz="1600">
              <a:solidFill>
                <a:schemeClr val="bg1">
                  <a:lumMod val="75000"/>
                </a:schemeClr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counter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+=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counter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increment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1600">
              <a:latin typeface="Ubuntu Mono"/>
              <a:cs typeface="Ubuntu Mono"/>
            </a:endParaRPr>
          </a:p>
        </p:txBody>
      </p:sp>
      <p:sp>
        <p:nvSpPr>
          <p:cNvPr id="843890357" name="Text 9"/>
          <p:cNvSpPr/>
          <p:nvPr/>
        </p:nvSpPr>
        <p:spPr bwMode="auto">
          <a:xfrm flipH="0" flipV="0">
            <a:off x="480060" y="4593785"/>
            <a:ext cx="5295245" cy="180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handler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1600" b="0" i="0" u="none">
              <a:solidFill>
                <a:srgbClr val="BBBEBF"/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counter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increment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1600" b="0" i="0" u="none">
              <a:solidFill>
                <a:srgbClr val="BBBEBF"/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print(counter) </a:t>
            </a:r>
            <a:r>
              <a:rPr sz="1600" b="0" i="0" u="none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# no reading problem</a:t>
            </a:r>
            <a:r>
              <a:rPr sz="1600" b="0" i="0" u="none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counter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increment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16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96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00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07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84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8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3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1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9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977017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76981265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700525272" name="Text 3"/>
          <p:cNvSpPr/>
          <p:nvPr/>
        </p:nvSpPr>
        <p:spPr bwMode="auto">
          <a:xfrm flipH="0" flipV="0">
            <a:off x="457198" y="804672"/>
            <a:ext cx="11292840" cy="54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Functions Are First-Class Objects</a:t>
            </a:r>
            <a:endParaRPr lang="en-US" sz="2700"/>
          </a:p>
        </p:txBody>
      </p:sp>
      <p:sp>
        <p:nvSpPr>
          <p:cNvPr id="1730304331" name="Text 7"/>
          <p:cNvSpPr/>
          <p:nvPr/>
        </p:nvSpPr>
        <p:spPr bwMode="auto">
          <a:xfrm flipH="0" flipV="0">
            <a:off x="128623" y="1645920"/>
            <a:ext cx="1200241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Python, functions can be: assigned to variables, passed as arguments, returned from other functions, stored in lists/dicts.</a:t>
            </a:r>
            <a:endParaRPr lang="en-US" sz="1600"/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is what makes higher-order functions (and decorators) possible.</a:t>
            </a:r>
            <a:endParaRPr lang="en-US" sz="1600"/>
          </a:p>
        </p:txBody>
      </p:sp>
      <p:sp>
        <p:nvSpPr>
          <p:cNvPr id="2022863746" name="Shape 8"/>
          <p:cNvSpPr/>
          <p:nvPr/>
        </p:nvSpPr>
        <p:spPr bwMode="auto">
          <a:xfrm flipH="0" flipV="0">
            <a:off x="528655" y="2469712"/>
            <a:ext cx="3011186" cy="2611604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7529621" name=""/>
          <p:cNvSpPr txBox="1"/>
          <p:nvPr/>
        </p:nvSpPr>
        <p:spPr bwMode="auto">
          <a:xfrm rot="0" flipH="0" flipV="0">
            <a:off x="579098" y="2642562"/>
            <a:ext cx="3028398" cy="179867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pass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[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2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{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'foo'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42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}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chemeClr val="accent1"/>
                </a:solidFill>
                <a:latin typeface="Ubuntu Mono"/>
                <a:ea typeface="Ubuntu Mono"/>
                <a:cs typeface="Ubuntu Mono"/>
              </a:rPr>
              <a:t>pandas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.DataFrame()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'This is a sentence.'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</a:t>
            </a:r>
            <a:endParaRPr>
              <a:latin typeface="Ubuntu Mono"/>
              <a:cs typeface="Ubuntu Mono"/>
            </a:endParaRPr>
          </a:p>
        </p:txBody>
      </p:sp>
      <p:sp>
        <p:nvSpPr>
          <p:cNvPr id="724901876" name="Shape 8"/>
          <p:cNvSpPr/>
          <p:nvPr/>
        </p:nvSpPr>
        <p:spPr bwMode="auto">
          <a:xfrm flipH="0" flipV="0">
            <a:off x="3984156" y="2469712"/>
            <a:ext cx="3229616" cy="2611604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3698338" name=""/>
          <p:cNvSpPr txBox="1"/>
          <p:nvPr/>
        </p:nvSpPr>
        <p:spPr bwMode="auto">
          <a:xfrm rot="0" flipH="0" flipV="0">
            <a:off x="4097372" y="2642562"/>
            <a:ext cx="2962330" cy="1310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my_function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'Hello'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my_function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type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))  </a:t>
            </a:r>
            <a:endParaRPr sz="1600" b="0" i="0" u="none">
              <a:solidFill>
                <a:srgbClr val="BBBEBF"/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-&gt;  &lt;type 'function'&gt;</a:t>
            </a:r>
            <a:endParaRPr sz="1600" b="0" i="0" u="none">
              <a:solidFill>
                <a:srgbClr val="8B949E"/>
              </a:solidFill>
              <a:latin typeface="Ubuntu Mono"/>
              <a:cs typeface="Ubuntu Mono"/>
            </a:endParaRPr>
          </a:p>
        </p:txBody>
      </p:sp>
      <p:sp>
        <p:nvSpPr>
          <p:cNvPr id="597976269" name="Shape 8"/>
          <p:cNvSpPr/>
          <p:nvPr/>
        </p:nvSpPr>
        <p:spPr bwMode="auto">
          <a:xfrm flipH="0" flipV="0">
            <a:off x="7470306" y="2469713"/>
            <a:ext cx="4532815" cy="2611605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8274394" name=""/>
          <p:cNvSpPr txBox="1"/>
          <p:nvPr/>
        </p:nvSpPr>
        <p:spPr bwMode="auto">
          <a:xfrm rot="0" flipH="0" flipV="0">
            <a:off x="7647022" y="2556137"/>
            <a:ext cx="4295117" cy="2438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list_of_functions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[my_function,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list_of_functions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2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](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'I am printing a list'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dict_of_functions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{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'func1'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 my_function,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'func2'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'func3'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 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}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dict_of_functions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'func3'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](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'I am printing a dict'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24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86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52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0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6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97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27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600423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9362219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025160336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Higher-Order Functions</a:t>
            </a:r>
            <a:endParaRPr lang="en-US" sz="2700"/>
          </a:p>
        </p:txBody>
      </p:sp>
      <p:sp>
        <p:nvSpPr>
          <p:cNvPr id="1811088433" name="Shape 7"/>
          <p:cNvSpPr/>
          <p:nvPr/>
        </p:nvSpPr>
        <p:spPr bwMode="auto">
          <a:xfrm flipH="0" flipV="0">
            <a:off x="346072" y="1263735"/>
            <a:ext cx="6497673" cy="2348503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20034874" name="Shape 7"/>
          <p:cNvSpPr/>
          <p:nvPr/>
        </p:nvSpPr>
        <p:spPr bwMode="auto">
          <a:xfrm flipH="0" flipV="0">
            <a:off x="3753672" y="3757545"/>
            <a:ext cx="7445337" cy="2639440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31817511" name="Text 8"/>
          <p:cNvSpPr/>
          <p:nvPr/>
        </p:nvSpPr>
        <p:spPr bwMode="auto">
          <a:xfrm flipH="0" flipV="0">
            <a:off x="3986937" y="3821551"/>
            <a:ext cx="6997959" cy="2496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greeting_generator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This inner function captures the 'greeting_word' variable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      def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person_greeter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      </a:t>
            </a:r>
            <a:r>
              <a:rPr sz="15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"hello Mr, 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!"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</a:t>
            </a:r>
            <a:r>
              <a:rPr sz="15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person_greeter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 Generate customized functions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say_hello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greeting_generator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say_hello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"Alice"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)) </a:t>
            </a:r>
            <a:endParaRPr sz="1500">
              <a:latin typeface="Ubuntu Mono"/>
              <a:cs typeface="Ubuntu Mono"/>
            </a:endParaRPr>
          </a:p>
        </p:txBody>
      </p:sp>
      <p:sp>
        <p:nvSpPr>
          <p:cNvPr id="487827877" name=""/>
          <p:cNvSpPr/>
          <p:nvPr/>
        </p:nvSpPr>
        <p:spPr bwMode="auto">
          <a:xfrm flipH="0" flipV="0">
            <a:off x="546616" y="1297030"/>
            <a:ext cx="5902774" cy="2149198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uppercase_decorator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text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5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text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.upper()</a:t>
            </a:r>
            <a:endParaRPr sz="1500" b="0" i="0" u="none">
              <a:solidFill>
                <a:srgbClr val="BBBEBF"/>
              </a:solidFill>
              <a:latin typeface="Ubuntu Mono"/>
              <a:cs typeface="Ubuntu Mono"/>
            </a:endParaRPr>
          </a:p>
          <a:p>
            <a:pPr>
              <a:defRPr/>
            </a:pP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greet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func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 </a:t>
            </a:r>
            <a:r>
              <a:rPr lang="en-US" sz="1500" b="0" i="0" u="none" strike="noStrike" cap="none" spc="0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This is the higher-order function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greeting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func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"Hello, World!"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greeting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 b="0" i="0" u="none">
              <a:solidFill>
                <a:srgbClr val="BBBEBF"/>
              </a:solidFill>
              <a:latin typeface="Ubuntu Mono"/>
              <a:cs typeface="Ubuntu Mono"/>
            </a:endParaRPr>
          </a:p>
          <a:p>
            <a:pPr>
              <a:defRPr/>
            </a:pP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Passing 'uppercase_decorator' as an argument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greet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uppercase_decorator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Output: HELLO, WORLD!</a:t>
            </a:r>
            <a:endParaRPr sz="1500" b="0" i="0" u="none">
              <a:solidFill>
                <a:srgbClr val="BBBEBF"/>
              </a:solidFill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08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82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3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81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777626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1952661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459143459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Closures — Functions That Remember</a:t>
            </a:r>
            <a:endParaRPr lang="en-US" sz="2700"/>
          </a:p>
        </p:txBody>
      </p:sp>
      <p:sp>
        <p:nvSpPr>
          <p:cNvPr id="908605295" name="Text 7"/>
          <p:cNvSpPr/>
          <p:nvPr/>
        </p:nvSpPr>
        <p:spPr bwMode="auto">
          <a:xfrm flipH="0" flipV="0">
            <a:off x="457198" y="1645920"/>
            <a:ext cx="11292840" cy="103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closure is a function that "remembers" variables from its enclosing scope, even after that scope has finished executing.</a:t>
            </a:r>
            <a:endParaRPr lang="en-US" sz="1600"/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is possible because Python functions carry a reference to their enclosing scope (__closure__).</a:t>
            </a:r>
            <a:endParaRPr lang="en-US" sz="160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variables saved by the closure 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are called captured variables or free variables . </a:t>
            </a:r>
            <a:endParaRPr lang="en-US" sz="160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endParaRPr lang="en-US" sz="1600"/>
          </a:p>
        </p:txBody>
      </p:sp>
      <p:pic>
        <p:nvPicPr>
          <p:cNvPr id="18945353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498540" y="2961087"/>
            <a:ext cx="7194918" cy="30459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220300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8195587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322148052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Building a Closure</a:t>
            </a:r>
            <a:endParaRPr lang="en-US" sz="2700"/>
          </a:p>
        </p:txBody>
      </p:sp>
      <p:sp>
        <p:nvSpPr>
          <p:cNvPr id="254789307" name="Shape 7"/>
          <p:cNvSpPr/>
          <p:nvPr/>
        </p:nvSpPr>
        <p:spPr bwMode="auto">
          <a:xfrm flipH="0" flipV="0">
            <a:off x="457198" y="1409698"/>
            <a:ext cx="6529424" cy="2717798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5372236" name="Text 8"/>
          <p:cNvSpPr/>
          <p:nvPr/>
        </p:nvSpPr>
        <p:spPr bwMode="auto">
          <a:xfrm flipH="0" flipV="0">
            <a:off x="547241" y="1537714"/>
            <a:ext cx="6549845" cy="246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make_multiplier(factor):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multiply(x):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x * factor      </a:t>
            </a:r>
            <a:r>
              <a:rPr lang="en-US" sz="15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"factor" is remembered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multiply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double = make_multiplier(</a:t>
            </a:r>
            <a:r>
              <a:rPr lang="en-US" sz="15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2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triple = make_multiplier(</a:t>
            </a:r>
            <a:r>
              <a:rPr lang="en-US" sz="15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print(double(</a:t>
            </a:r>
            <a:r>
              <a:rPr lang="en-US" sz="15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))   </a:t>
            </a:r>
            <a:r>
              <a:rPr lang="en-US" sz="15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-&gt; 10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print(triple(</a:t>
            </a:r>
            <a:r>
              <a:rPr lang="en-US" sz="15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))   </a:t>
            </a:r>
            <a:r>
              <a:rPr lang="en-US" sz="15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-&gt; 15</a:t>
            </a:r>
            <a:endParaRPr sz="1500">
              <a:latin typeface="Ubuntu Mono"/>
              <a:cs typeface="Ubuntu Mono"/>
            </a:endParaRPr>
          </a:p>
        </p:txBody>
      </p:sp>
      <p:sp>
        <p:nvSpPr>
          <p:cNvPr id="2086550415" name="Shape 7"/>
          <p:cNvSpPr/>
          <p:nvPr/>
        </p:nvSpPr>
        <p:spPr bwMode="auto">
          <a:xfrm flipH="0" flipV="0">
            <a:off x="457200" y="4925196"/>
            <a:ext cx="6639887" cy="1349373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01169724" name=""/>
          <p:cNvSpPr txBox="1"/>
          <p:nvPr/>
        </p:nvSpPr>
        <p:spPr bwMode="auto">
          <a:xfrm rot="0" flipH="0" flipV="0">
            <a:off x="606690" y="4984884"/>
            <a:ext cx="6546978" cy="11585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type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double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__closure__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))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-&gt; &lt;class 'tuple'&gt;</a:t>
            </a:r>
            <a:endParaRPr sz="1400" b="0" i="0" u="none">
              <a:solidFill>
                <a:srgbClr val="8B949E"/>
              </a:solidFill>
              <a:latin typeface="Ubuntu Mono"/>
              <a:cs typeface="Ubuntu Mono"/>
            </a:endParaRPr>
          </a:p>
          <a:p>
            <a:pPr>
              <a:defRPr/>
            </a:pP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len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double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__closure__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))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-&gt; 1 </a:t>
            </a:r>
            <a:endParaRPr sz="1400" b="0" i="0" u="none">
              <a:solidFill>
                <a:srgbClr val="8B949E"/>
              </a:solidFill>
              <a:latin typeface="Ubuntu Mono"/>
              <a:cs typeface="Ubuntu Mono"/>
            </a:endParaRPr>
          </a:p>
          <a:p>
            <a:pPr>
              <a:defRPr/>
            </a:pPr>
            <a:endParaRPr sz="1400" b="0" i="0" u="none">
              <a:solidFill>
                <a:srgbClr val="8B949E"/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double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__closure__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cell_contents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 -&gt; 2</a:t>
            </a:r>
            <a:endParaRPr sz="1400">
              <a:latin typeface="Ubuntu Mono"/>
              <a:cs typeface="Ubuntu Mono"/>
            </a:endParaRPr>
          </a:p>
        </p:txBody>
      </p:sp>
      <p:sp>
        <p:nvSpPr>
          <p:cNvPr id="390384881" name="Text 3"/>
          <p:cNvSpPr/>
          <p:nvPr/>
        </p:nvSpPr>
        <p:spPr bwMode="auto">
          <a:xfrm flipH="0" flipV="0">
            <a:off x="438912" y="4266828"/>
            <a:ext cx="654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Accessing the closure</a:t>
            </a:r>
            <a:endParaRPr lang="en-US" sz="2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8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37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8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55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16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553396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Late Binding Closures in Loops</a:t>
            </a:r>
            <a:endParaRPr lang="en-US" sz="2700"/>
          </a:p>
        </p:txBody>
      </p:sp>
      <p:sp>
        <p:nvSpPr>
          <p:cNvPr id="975521746" name="Shape 8"/>
          <p:cNvSpPr/>
          <p:nvPr/>
        </p:nvSpPr>
        <p:spPr bwMode="auto">
          <a:xfrm>
            <a:off x="457200" y="193852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34603028" name="Text 9"/>
          <p:cNvSpPr/>
          <p:nvPr/>
        </p:nvSpPr>
        <p:spPr bwMode="auto">
          <a:xfrm>
            <a:off x="658368" y="2066544"/>
            <a:ext cx="503834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funcs = []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i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range(</a:t>
            </a:r>
            <a:r>
              <a:rPr lang="en-US" sz="16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funcs.append(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lambda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: i)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print([f()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funcs])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-&gt; [2, 2, 2]   NOT [0, 1, 2] !</a:t>
            </a:r>
            <a:endParaRPr sz="1600">
              <a:latin typeface="Ubuntu Mono"/>
              <a:cs typeface="Ubuntu Mono"/>
            </a:endParaRPr>
          </a:p>
        </p:txBody>
      </p:sp>
      <p:sp>
        <p:nvSpPr>
          <p:cNvPr id="1959094664" name="Text 10"/>
          <p:cNvSpPr/>
          <p:nvPr/>
        </p:nvSpPr>
        <p:spPr bwMode="auto">
          <a:xfrm flipH="0" flipV="0">
            <a:off x="457200" y="4407408"/>
            <a:ext cx="5440680" cy="148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5C3A2E"/>
                </a:solidFill>
                <a:latin typeface="Calibri"/>
                <a:ea typeface="Calibri"/>
                <a:cs typeface="Calibri"/>
              </a:rPr>
              <a:t>All three lambdas share the same i variable, evaluated at call time, not creation time.</a:t>
            </a:r>
            <a:endParaRPr lang="en-US" sz="1400"/>
          </a:p>
          <a:p>
            <a:pPr marL="228600" indent="-228600">
              <a:lnSpc>
                <a:spcPct val="11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5C3A2E"/>
                </a:solidFill>
                <a:latin typeface="Calibri"/>
                <a:ea typeface="Calibri"/>
                <a:cs typeface="Calibri"/>
              </a:rPr>
              <a:t>Fix: capture the value as a default argument.</a:t>
            </a:r>
            <a:endParaRPr lang="en-US" sz="1400">
              <a:solidFill>
                <a:srgbClr val="5C3A2E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110000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Exercise : make the previous function suffer from the late binding.</a:t>
            </a:r>
            <a:endParaRPr sz="1400">
              <a:solidFill>
                <a:srgbClr val="FF0000"/>
              </a:solidFill>
            </a:endParaRPr>
          </a:p>
        </p:txBody>
      </p:sp>
      <p:sp>
        <p:nvSpPr>
          <p:cNvPr id="1626850555" name="Text 11"/>
          <p:cNvSpPr/>
          <p:nvPr/>
        </p:nvSpPr>
        <p:spPr bwMode="auto">
          <a:xfrm>
            <a:off x="6309360" y="16276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99">
                <a:solidFill>
                  <a:srgbClr val="1E9E5A"/>
                </a:solidFill>
                <a:latin typeface="Calibri"/>
                <a:ea typeface="Calibri"/>
                <a:cs typeface="Calibri"/>
              </a:rPr>
              <a:t>✓ Fix</a:t>
            </a:r>
            <a:endParaRPr lang="en-US" sz="1200"/>
          </a:p>
        </p:txBody>
      </p:sp>
      <p:sp>
        <p:nvSpPr>
          <p:cNvPr id="186185394" name="Shape 12"/>
          <p:cNvSpPr/>
          <p:nvPr/>
        </p:nvSpPr>
        <p:spPr bwMode="auto">
          <a:xfrm>
            <a:off x="6309360" y="19202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3251A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54854156" name="Text 13"/>
          <p:cNvSpPr/>
          <p:nvPr/>
        </p:nvSpPr>
        <p:spPr bwMode="auto">
          <a:xfrm>
            <a:off x="6510528" y="2066544"/>
            <a:ext cx="503834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endParaRPr sz="1400" i="1">
              <a:solidFill>
                <a:srgbClr val="6A9955"/>
              </a:solidFill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## second solution </a:t>
            </a:r>
            <a:endParaRPr sz="1400" i="1">
              <a:solidFill>
                <a:srgbClr val="6A9955"/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funcs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[]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i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range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funcs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append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lambda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v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i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v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([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funcs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])</a:t>
            </a:r>
            <a:endParaRPr sz="14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52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60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85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8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85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09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606660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7753745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 ?</a:t>
            </a:r>
            <a:endParaRPr lang="en-US" sz="1100"/>
          </a:p>
        </p:txBody>
      </p:sp>
      <p:sp>
        <p:nvSpPr>
          <p:cNvPr id="293987853" name="Text 3"/>
          <p:cNvSpPr/>
          <p:nvPr/>
        </p:nvSpPr>
        <p:spPr bwMode="auto">
          <a:xfrm flipH="0" flipV="0">
            <a:off x="438912" y="884045"/>
            <a:ext cx="11292840" cy="54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Why Does all that matter  ?</a:t>
            </a:r>
            <a:endParaRPr lang="en-US" sz="2800"/>
          </a:p>
        </p:txBody>
      </p:sp>
      <p:sp>
        <p:nvSpPr>
          <p:cNvPr id="998746219" name="Text 7"/>
          <p:cNvSpPr/>
          <p:nvPr/>
        </p:nvSpPr>
        <p:spPr bwMode="auto">
          <a:xfrm flipH="0" flipV="0">
            <a:off x="128623" y="1645920"/>
            <a:ext cx="1200241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  <a:spcAft>
                <a:spcPts val="998"/>
              </a:spcAft>
              <a:defRPr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 Decorator use : </a:t>
            </a:r>
            <a:endParaRPr sz="2600" b="1"/>
          </a:p>
          <a:p>
            <a:pPr marL="1028700" lvl="2" indent="-228600" algn="l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2400" b="0" i="0" u="none" strike="noStrike" cap="none" spc="0">
                <a:solidFill>
                  <a:srgbClr val="1A1A2E"/>
                </a:solidFill>
                <a:latin typeface="Ubuntu"/>
                <a:ea typeface="Ubuntu"/>
                <a:cs typeface="Ubuntu"/>
              </a:rPr>
              <a:t>Functions as objects</a:t>
            </a:r>
            <a:endParaRPr sz="2400">
              <a:solidFill>
                <a:srgbClr val="1A1A2E"/>
              </a:solidFill>
              <a:latin typeface="Ubuntu"/>
              <a:cs typeface="Ubuntu"/>
            </a:endParaRPr>
          </a:p>
          <a:p>
            <a:pPr marL="1028700" lvl="2" indent="-228600" algn="l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2400">
                <a:solidFill>
                  <a:srgbClr val="1A1A2E"/>
                </a:solidFill>
                <a:latin typeface="Ubuntu"/>
                <a:ea typeface="Ubuntu"/>
                <a:cs typeface="Ubuntu"/>
              </a:rPr>
              <a:t>Nested function </a:t>
            </a:r>
            <a:endParaRPr sz="2400">
              <a:solidFill>
                <a:srgbClr val="1A1A2E"/>
              </a:solidFill>
              <a:latin typeface="Ubuntu"/>
              <a:cs typeface="Ubuntu"/>
            </a:endParaRPr>
          </a:p>
          <a:p>
            <a:pPr marL="1028700" lvl="2" indent="-228600" algn="l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2400">
                <a:solidFill>
                  <a:srgbClr val="1A1A2E"/>
                </a:solidFill>
                <a:latin typeface="Ubuntu"/>
                <a:ea typeface="Ubuntu"/>
                <a:cs typeface="Ubuntu"/>
              </a:rPr>
              <a:t>Nonlocal Scope</a:t>
            </a:r>
            <a:endParaRPr sz="2400">
              <a:solidFill>
                <a:srgbClr val="1A1A2E"/>
              </a:solidFill>
              <a:latin typeface="Ubuntu"/>
              <a:cs typeface="Ubuntu"/>
            </a:endParaRPr>
          </a:p>
          <a:p>
            <a:pPr marL="1028700" lvl="2" indent="-228600" algn="l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2400">
                <a:solidFill>
                  <a:srgbClr val="1A1A2E"/>
                </a:solidFill>
                <a:latin typeface="Ubuntu"/>
                <a:ea typeface="Ubuntu"/>
                <a:cs typeface="Ubuntu"/>
              </a:rPr>
              <a:t>Closures</a:t>
            </a:r>
            <a:endParaRPr lang="en-US" sz="160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628648" lvl="1" indent="-228600" algn="l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74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295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7361254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750119396" name="Text 3"/>
          <p:cNvSpPr/>
          <p:nvPr/>
        </p:nvSpPr>
        <p:spPr bwMode="auto">
          <a:xfrm flipH="0" flipV="0">
            <a:off x="457200" y="804672"/>
            <a:ext cx="508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a Decorator Really Is</a:t>
            </a:r>
            <a:endParaRPr lang="en-US" sz="2700"/>
          </a:p>
        </p:txBody>
      </p:sp>
      <p:sp>
        <p:nvSpPr>
          <p:cNvPr id="940424478" name="Text 7"/>
          <p:cNvSpPr/>
          <p:nvPr/>
        </p:nvSpPr>
        <p:spPr bwMode="auto">
          <a:xfrm flipH="0" flipV="0">
            <a:off x="457200" y="1645920"/>
            <a:ext cx="5486400" cy="1425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decorator is just a higher-order function: it takes a function, wraps it in another function, and returns the wrapper.</a:t>
            </a:r>
            <a:endParaRPr lang="en-US" sz="1600"/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@decorator syntax is pure syntactic sugar:</a:t>
            </a:r>
            <a:endParaRPr lang="en-US" sz="1600"/>
          </a:p>
        </p:txBody>
      </p:sp>
      <p:sp>
        <p:nvSpPr>
          <p:cNvPr id="75373492" name="Shape 8"/>
          <p:cNvSpPr/>
          <p:nvPr/>
        </p:nvSpPr>
        <p:spPr bwMode="auto">
          <a:xfrm>
            <a:off x="6318502" y="1138411"/>
            <a:ext cx="5486400" cy="1865376"/>
          </a:xfrm>
          <a:prstGeom prst="roundRect">
            <a:avLst>
              <a:gd name="adj" fmla="val 3922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79345792" name="Text 9"/>
          <p:cNvSpPr/>
          <p:nvPr/>
        </p:nvSpPr>
        <p:spPr bwMode="auto">
          <a:xfrm>
            <a:off x="6519670" y="1266427"/>
            <a:ext cx="5084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@my_decorator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say_hi():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...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 i="1">
                <a:solidFill>
                  <a:srgbClr val="6A9955"/>
                </a:solidFill>
                <a:latin typeface="Courier New"/>
                <a:ea typeface="Courier New"/>
                <a:cs typeface="Courier New"/>
              </a:rPr>
              <a:t># is exactly equivalent to: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say_hi = my_decorator(say_hi)</a:t>
            </a:r>
            <a:endParaRPr lang="en-US" sz="1500"/>
          </a:p>
        </p:txBody>
      </p:sp>
      <p:pic>
        <p:nvPicPr>
          <p:cNvPr id="4277295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7205" y="3273552"/>
            <a:ext cx="3050947" cy="1816976"/>
          </a:xfrm>
          <a:prstGeom prst="rect">
            <a:avLst/>
          </a:prstGeom>
        </p:spPr>
      </p:pic>
      <p:pic>
        <p:nvPicPr>
          <p:cNvPr id="5750160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378240" y="3574440"/>
            <a:ext cx="2225493" cy="1325381"/>
          </a:xfrm>
          <a:prstGeom prst="rect">
            <a:avLst/>
          </a:prstGeom>
        </p:spPr>
      </p:pic>
      <p:pic>
        <p:nvPicPr>
          <p:cNvPr id="38939283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625601" y="3491805"/>
            <a:ext cx="2317995" cy="1380470"/>
          </a:xfrm>
          <a:prstGeom prst="rect">
            <a:avLst/>
          </a:prstGeom>
        </p:spPr>
      </p:pic>
      <p:pic>
        <p:nvPicPr>
          <p:cNvPr id="888712250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368433" y="3528133"/>
            <a:ext cx="2303249" cy="1371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42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72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01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71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4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344974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1975226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2090116394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Decorator Syntax</a:t>
            </a:r>
            <a:endParaRPr lang="en-US" sz="2700"/>
          </a:p>
        </p:txBody>
      </p:sp>
      <p:sp>
        <p:nvSpPr>
          <p:cNvPr id="159612569" name="Shape 7"/>
          <p:cNvSpPr/>
          <p:nvPr/>
        </p:nvSpPr>
        <p:spPr bwMode="auto">
          <a:xfrm flipH="0" flipV="0">
            <a:off x="457200" y="1600200"/>
            <a:ext cx="5486400" cy="3862094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300748" name="Text 8"/>
          <p:cNvSpPr/>
          <p:nvPr/>
        </p:nvSpPr>
        <p:spPr bwMode="auto">
          <a:xfrm flipH="0" flipV="0">
            <a:off x="589215" y="1728216"/>
            <a:ext cx="5224965" cy="373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our_decorator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func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wrapper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instructions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func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wrapper</a:t>
            </a:r>
            <a:b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</a:b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@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our_decorator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our_function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instructions 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"This our function"</a:t>
            </a:r>
            <a:b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</a:b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our_function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())</a:t>
            </a:r>
            <a:r>
              <a:rPr sz="2600">
                <a:latin typeface="Ubuntu Mono"/>
                <a:ea typeface="Ubuntu Mono"/>
                <a:cs typeface="Ubuntu Mono"/>
              </a:rPr>
              <a:t> </a:t>
            </a:r>
            <a:r>
              <a:rPr lang="en-US" sz="1600" b="0" i="0" u="none" strike="noStrike" cap="none" spc="0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#-&gt; This our function</a:t>
            </a:r>
            <a:endParaRPr sz="1600">
              <a:latin typeface="Ubuntu Mono"/>
              <a:cs typeface="Ubuntu Mono"/>
            </a:endParaRPr>
          </a:p>
        </p:txBody>
      </p:sp>
      <p:sp>
        <p:nvSpPr>
          <p:cNvPr id="43122951" name="Shape 7"/>
          <p:cNvSpPr/>
          <p:nvPr/>
        </p:nvSpPr>
        <p:spPr bwMode="auto">
          <a:xfrm flipH="0" flipV="0">
            <a:off x="6596741" y="1600200"/>
            <a:ext cx="5379531" cy="3862093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3019518" name="Text 8"/>
          <p:cNvSpPr/>
          <p:nvPr/>
        </p:nvSpPr>
        <p:spPr bwMode="auto">
          <a:xfrm flipH="0" flipV="0">
            <a:off x="6728757" y="1728216"/>
            <a:ext cx="5189199" cy="3734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our_decorator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func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wrapper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instructions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func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wrapper</a:t>
            </a:r>
            <a:b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</a:b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our_function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instructions 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"This our function"</a:t>
            </a:r>
            <a:b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</a:b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our_function1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our_decorator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our_function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b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our_function1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()) </a:t>
            </a:r>
            <a:r>
              <a:rPr sz="1600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#-&gt; This our function</a:t>
            </a:r>
            <a:endParaRPr sz="16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1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0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397816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20757642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992729459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Your First Decorator</a:t>
            </a:r>
            <a:endParaRPr lang="en-US" sz="2700"/>
          </a:p>
        </p:txBody>
      </p:sp>
      <p:sp>
        <p:nvSpPr>
          <p:cNvPr id="2064947700" name="Shape 7"/>
          <p:cNvSpPr/>
          <p:nvPr/>
        </p:nvSpPr>
        <p:spPr bwMode="auto">
          <a:xfrm flipH="0" flipV="0">
            <a:off x="457198" y="1600200"/>
            <a:ext cx="11292840" cy="4795154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8685897" name="Text 8"/>
          <p:cNvSpPr/>
          <p:nvPr/>
        </p:nvSpPr>
        <p:spPr bwMode="auto">
          <a:xfrm flipH="0" flipV="0">
            <a:off x="658368" y="1728214"/>
            <a:ext cx="10890504" cy="4511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my_decorator(func):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wrapper(*args, **kwargs):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chemeClr val="accent2"/>
                </a:solidFill>
                <a:latin typeface="Ubuntu Mono"/>
                <a:ea typeface="Ubuntu Mono"/>
                <a:cs typeface="Ubuntu Mono"/>
              </a:rPr>
              <a:t>	</a:t>
            </a:r>
            <a:r>
              <a:rPr lang="en-US" sz="1600" b="0" i="0" u="none" strike="noStrike" cap="none" spc="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</a:t>
            </a:r>
            <a:r>
              <a:rPr lang="en-US" sz="1600" b="0" i="0" u="none" strike="noStrike" cap="none" spc="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</a:t>
            </a:r>
            <a:r>
              <a:rPr lang="en-US" sz="1600" b="0" i="0" u="none" strike="noStrike" cap="none" spc="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</a:t>
            </a:r>
            <a:r>
              <a:rPr lang="en-US" sz="1600">
                <a:solidFill>
                  <a:schemeClr val="accent2"/>
                </a:solidFill>
                <a:latin typeface="Ubuntu Mono"/>
                <a:ea typeface="Ubuntu Mono"/>
                <a:cs typeface="Ubuntu Mono"/>
              </a:rPr>
              <a:t> This is doc string of the wrapper function </a:t>
            </a:r>
            <a:r>
              <a:rPr lang="en-US" sz="1600" b="0" i="0" u="none" strike="noStrike" cap="none" spc="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</a:t>
            </a:r>
            <a:r>
              <a:rPr lang="en-US" sz="1600" b="0" i="0" u="none" strike="noStrike" cap="none" spc="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</a:t>
            </a:r>
            <a:r>
              <a:rPr lang="en-US" sz="1600" b="0" i="0" u="none" strike="noStrike" cap="none" spc="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</a:t>
            </a:r>
            <a:endParaRPr sz="1600">
              <a:solidFill>
                <a:schemeClr val="accent2"/>
              </a:solidFill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print(f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"Calling {func.__name__}"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result = func(*args, **kwargs)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print(f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"{func.__name__} finished"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result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wrapper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@my_decorator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say_hi():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print(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"Hi!"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say_hi()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Calling say_hi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Hi!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say_hi finished</a:t>
            </a:r>
            <a:endParaRPr sz="16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94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68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471806" name="Text 3"/>
          <p:cNvSpPr/>
          <p:nvPr/>
        </p:nvSpPr>
        <p:spPr bwMode="auto">
          <a:xfrm flipH="0" flipV="0">
            <a:off x="457200" y="804672"/>
            <a:ext cx="53764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Losing Function Identity</a:t>
            </a:r>
            <a:endParaRPr lang="en-US" sz="2700"/>
          </a:p>
        </p:txBody>
      </p:sp>
      <p:sp>
        <p:nvSpPr>
          <p:cNvPr id="1065845229" name="Shape 8"/>
          <p:cNvSpPr/>
          <p:nvPr/>
        </p:nvSpPr>
        <p:spPr bwMode="auto">
          <a:xfrm>
            <a:off x="457200" y="193852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55839841" name="Text 9"/>
          <p:cNvSpPr/>
          <p:nvPr/>
        </p:nvSpPr>
        <p:spPr bwMode="auto">
          <a:xfrm flipH="0" flipV="0">
            <a:off x="658366" y="2066544"/>
            <a:ext cx="5175253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say_hi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__name__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b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 "wrapper"  (wrong! should be "say_hi")</a:t>
            </a:r>
            <a:endParaRPr sz="1600" i="1">
              <a:solidFill>
                <a:srgbClr val="6A9955"/>
              </a:solidFill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endParaRPr sz="1600" i="1">
              <a:solidFill>
                <a:srgbClr val="6A9955"/>
              </a:solidFill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say_hi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__doc__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 b="0" i="0" u="none">
              <a:solidFill>
                <a:srgbClr val="BBBEBF"/>
              </a:solidFill>
              <a:latin typeface="Ubuntu Mono"/>
              <a:ea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sz="1600" b="0" i="0" u="none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 # </a:t>
            </a:r>
            <a:r>
              <a:rPr lang="en-US" sz="1600" b="0" i="0" u="none" strike="noStrike" cap="none" spc="0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This is doc string of the wrapper function</a:t>
            </a:r>
            <a:r>
              <a:rPr sz="1600" b="0" i="0" u="none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solidFill>
                <a:schemeClr val="accent6"/>
              </a:solidFill>
              <a:latin typeface="Ubuntu Mono"/>
              <a:cs typeface="Ubuntu Mono"/>
            </a:endParaRPr>
          </a:p>
        </p:txBody>
      </p:sp>
      <p:sp>
        <p:nvSpPr>
          <p:cNvPr id="1549152458" name="Text 10"/>
          <p:cNvSpPr/>
          <p:nvPr/>
        </p:nvSpPr>
        <p:spPr bwMode="auto">
          <a:xfrm flipH="0" flipV="0">
            <a:off x="499464" y="4407407"/>
            <a:ext cx="5493054" cy="117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5C3A2E"/>
                </a:solidFill>
                <a:latin typeface="Roboto"/>
                <a:ea typeface="Roboto"/>
                <a:cs typeface="Roboto"/>
              </a:rPr>
              <a:t>Without care, decorators overwrite __name__, __doc__, and other metadata of the original function.</a:t>
            </a:r>
            <a:endParaRPr sz="1600">
              <a:latin typeface="Roboto"/>
              <a:cs typeface="Roboto"/>
            </a:endParaRPr>
          </a:p>
          <a:p>
            <a:pPr marL="228600" indent="-228600">
              <a:lnSpc>
                <a:spcPct val="11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5C3A2E"/>
                </a:solidFill>
                <a:latin typeface="Roboto"/>
                <a:ea typeface="Roboto"/>
                <a:cs typeface="Roboto"/>
              </a:rPr>
              <a:t>Fix: functools.wraps.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638141647" name="Text 11"/>
          <p:cNvSpPr/>
          <p:nvPr/>
        </p:nvSpPr>
        <p:spPr bwMode="auto">
          <a:xfrm>
            <a:off x="6309360" y="16276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99">
                <a:solidFill>
                  <a:srgbClr val="1E9E5A"/>
                </a:solidFill>
                <a:latin typeface="Calibri"/>
                <a:ea typeface="Calibri"/>
                <a:cs typeface="Calibri"/>
              </a:rPr>
              <a:t>✓ Fix</a:t>
            </a:r>
            <a:endParaRPr lang="en-US" sz="1200"/>
          </a:p>
        </p:txBody>
      </p:sp>
      <p:sp>
        <p:nvSpPr>
          <p:cNvPr id="626257557" name="Shape 12"/>
          <p:cNvSpPr/>
          <p:nvPr/>
        </p:nvSpPr>
        <p:spPr bwMode="auto">
          <a:xfrm>
            <a:off x="6309360" y="193852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325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46474063" name="Text 13"/>
          <p:cNvSpPr/>
          <p:nvPr/>
        </p:nvSpPr>
        <p:spPr bwMode="auto">
          <a:xfrm>
            <a:off x="6510528" y="2066544"/>
            <a:ext cx="503834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functools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wraps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my_decorator(func):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@wraps(func)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wrapper(*args, **kwargs):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func(*args, **kwargs)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wrapper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4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83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14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25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47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15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206566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4162349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523312994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Decorators That Take Arguments</a:t>
            </a:r>
            <a:endParaRPr lang="en-US" sz="2700"/>
          </a:p>
        </p:txBody>
      </p:sp>
      <p:sp>
        <p:nvSpPr>
          <p:cNvPr id="560279744" name="Shape 7"/>
          <p:cNvSpPr/>
          <p:nvPr/>
        </p:nvSpPr>
        <p:spPr bwMode="auto">
          <a:xfrm>
            <a:off x="457200" y="1600200"/>
            <a:ext cx="11292840" cy="4160518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2212570" name="Text 8"/>
          <p:cNvSpPr/>
          <p:nvPr/>
        </p:nvSpPr>
        <p:spPr bwMode="auto">
          <a:xfrm>
            <a:off x="658368" y="1728216"/>
            <a:ext cx="10890504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from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functools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wraps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repeat(times):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decorator(func):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@wraps(func)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wrapper(*args, **kwargs):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_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range(times):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    func(*args, **kwargs)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wrapper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decorator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@repeat(times=</a:t>
            </a:r>
            <a:r>
              <a:rPr lang="en-US" sz="14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say_hi():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print(</a:t>
            </a:r>
            <a:r>
              <a:rPr lang="en-US" sz="14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"Hi!"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say_hi()   </a:t>
            </a:r>
            <a:r>
              <a:rPr lang="en-US" sz="14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prints "Hi!" three times</a:t>
            </a:r>
            <a:endParaRPr sz="1400">
              <a:latin typeface="Ubuntu Mono"/>
              <a:cs typeface="Ubuntu Mono"/>
            </a:endParaRPr>
          </a:p>
        </p:txBody>
      </p:sp>
      <p:sp>
        <p:nvSpPr>
          <p:cNvPr id="1912935044" name="Shape 9"/>
          <p:cNvSpPr/>
          <p:nvPr/>
        </p:nvSpPr>
        <p:spPr bwMode="auto">
          <a:xfrm>
            <a:off x="457200" y="5897880"/>
            <a:ext cx="11292840" cy="502920"/>
          </a:xfrm>
          <a:prstGeom prst="roundRect">
            <a:avLst>
              <a:gd name="adj" fmla="val 10909"/>
            </a:avLst>
          </a:prstGeom>
          <a:solidFill>
            <a:srgbClr val="2D2D4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630597" name="Text 10"/>
          <p:cNvSpPr/>
          <p:nvPr/>
        </p:nvSpPr>
        <p:spPr bwMode="auto">
          <a:xfrm>
            <a:off x="658368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C9CBE0"/>
                </a:solidFill>
                <a:latin typeface="Calibri"/>
                <a:ea typeface="Calibri"/>
                <a:cs typeface="Calibri"/>
              </a:rPr>
              <a:t>Three levels of nesting: repeat(times) returns decorator, which returns wrapper.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7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21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93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603748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8979592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533830862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Class-Based Decorators</a:t>
            </a:r>
            <a:endParaRPr lang="en-US" sz="2700"/>
          </a:p>
        </p:txBody>
      </p:sp>
      <p:sp>
        <p:nvSpPr>
          <p:cNvPr id="859848066" name="Shape 7"/>
          <p:cNvSpPr/>
          <p:nvPr/>
        </p:nvSpPr>
        <p:spPr bwMode="auto">
          <a:xfrm flipH="0" flipV="0">
            <a:off x="457200" y="1310468"/>
            <a:ext cx="11292840" cy="4385090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6015650" name="Text 8"/>
          <p:cNvSpPr/>
          <p:nvPr/>
        </p:nvSpPr>
        <p:spPr bwMode="auto">
          <a:xfrm flipH="0" flipV="0">
            <a:off x="585214" y="1387009"/>
            <a:ext cx="10890504" cy="42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from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functools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wraps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CountCalls: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__init__(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func):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wraps(func)(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.func = func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.calls = </a:t>
            </a:r>
            <a:r>
              <a:rPr lang="en-US" sz="14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__call__(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*args, **kwargs):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.calls += </a:t>
            </a:r>
            <a:r>
              <a:rPr lang="en-US" sz="14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print(f</a:t>
            </a:r>
            <a:r>
              <a:rPr lang="en-US" sz="14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"Call #{self.calls} to {self.func.__name__}"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.func(*args, **kwargs)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@CountCalls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say_hi():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print(</a:t>
            </a:r>
            <a:r>
              <a:rPr lang="en-US" sz="14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"Hi!"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say_hi()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say_hi()</a:t>
            </a:r>
            <a:endParaRPr sz="1400">
              <a:latin typeface="Ubuntu Mono"/>
              <a:cs typeface="Ubuntu Mono"/>
            </a:endParaRPr>
          </a:p>
        </p:txBody>
      </p:sp>
      <p:sp>
        <p:nvSpPr>
          <p:cNvPr id="1163064202" name="Shape 9"/>
          <p:cNvSpPr/>
          <p:nvPr/>
        </p:nvSpPr>
        <p:spPr bwMode="auto">
          <a:xfrm>
            <a:off x="457200" y="5897880"/>
            <a:ext cx="11292840" cy="502920"/>
          </a:xfrm>
          <a:prstGeom prst="roundRect">
            <a:avLst>
              <a:gd name="adj" fmla="val 10909"/>
            </a:avLst>
          </a:prstGeom>
          <a:solidFill>
            <a:srgbClr val="2D2D42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83506008" name="Text 10"/>
          <p:cNvSpPr/>
          <p:nvPr/>
        </p:nvSpPr>
        <p:spPr bwMode="auto">
          <a:xfrm>
            <a:off x="658368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C9CBE0"/>
                </a:solidFill>
                <a:latin typeface="Calibri"/>
                <a:ea typeface="Calibri"/>
                <a:cs typeface="Calibri"/>
              </a:rPr>
              <a:t>Try to rewrite it as a decorator with arguments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84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01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0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5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020357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5278367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278158831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Real-World Decorator — @timeit</a:t>
            </a:r>
            <a:endParaRPr lang="en-US" sz="2700"/>
          </a:p>
        </p:txBody>
      </p:sp>
      <p:sp>
        <p:nvSpPr>
          <p:cNvPr id="827987173" name="Shape 7"/>
          <p:cNvSpPr/>
          <p:nvPr/>
        </p:nvSpPr>
        <p:spPr bwMode="auto">
          <a:xfrm flipH="0" flipV="0">
            <a:off x="457198" y="1600200"/>
            <a:ext cx="11292840" cy="4775716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3706564" name="Text 8"/>
          <p:cNvSpPr/>
          <p:nvPr/>
        </p:nvSpPr>
        <p:spPr bwMode="auto">
          <a:xfrm flipH="0" flipV="0">
            <a:off x="658368" y="1728216"/>
            <a:ext cx="10890504" cy="4492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time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from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functools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wraps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timeit(func):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@wraps(func)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wrapper(*args, **kwargs):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start = time.perf_counter()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result = func(*args, **kwargs)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elapsed = time.perf_counter() - start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print(f</a:t>
            </a:r>
            <a:r>
              <a:rPr lang="en-US" sz="15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"{func.__name__} took {elapsed:.4f}s"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result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wrapper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@timeit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slow_square(n):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[i**</a:t>
            </a:r>
            <a:r>
              <a:rPr lang="en-US" sz="15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2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i </a:t>
            </a:r>
            <a:r>
              <a:rPr lang="en-US" sz="15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range(n)]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slow_square(</a:t>
            </a:r>
            <a:r>
              <a:rPr lang="en-US" sz="15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1000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8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70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287696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6330037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402534077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Real-World Decorator — @retry</a:t>
            </a:r>
            <a:endParaRPr lang="en-US" sz="2700"/>
          </a:p>
        </p:txBody>
      </p:sp>
      <p:sp>
        <p:nvSpPr>
          <p:cNvPr id="1705590618" name="Shape 7"/>
          <p:cNvSpPr/>
          <p:nvPr/>
        </p:nvSpPr>
        <p:spPr bwMode="auto">
          <a:xfrm flipH="0" flipV="0">
            <a:off x="457198" y="1600200"/>
            <a:ext cx="11292840" cy="5047488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1993049" name="Text 8"/>
          <p:cNvSpPr/>
          <p:nvPr/>
        </p:nvSpPr>
        <p:spPr bwMode="auto">
          <a:xfrm flipH="0" flipV="0">
            <a:off x="658368" y="1728216"/>
            <a:ext cx="10890504" cy="462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time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from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functools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wraps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retry(max_attempts=</a:t>
            </a:r>
            <a:r>
              <a:rPr lang="en-US" sz="13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delay=</a:t>
            </a:r>
            <a:r>
              <a:rPr lang="en-US" sz="13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decorator(func):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@wraps(func)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wrapper(*args, **kwargs):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attempt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range(</a:t>
            </a:r>
            <a:r>
              <a:rPr lang="en-US" sz="13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max_attempts + </a:t>
            </a:r>
            <a:r>
              <a:rPr lang="en-US" sz="13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try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func(*args, **kwargs)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except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Exception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as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e: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        print(f</a:t>
            </a:r>
            <a:r>
              <a:rPr lang="en-US" sz="13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"Attempt {attempt} failed: {e}"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attempt == max_attempts: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    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raise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        time.sleep(delay)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wrapper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decorator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@retry(max_attempts=</a:t>
            </a:r>
            <a:r>
              <a:rPr lang="en-US" sz="13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delay=</a:t>
            </a:r>
            <a:r>
              <a:rPr lang="en-US" sz="130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2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unstable_api_call():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...</a:t>
            </a:r>
            <a:endParaRPr sz="13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59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99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432361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8412227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036409954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Real-World Decorator — @validate_input</a:t>
            </a:r>
            <a:endParaRPr lang="en-US" sz="2700"/>
          </a:p>
        </p:txBody>
      </p:sp>
      <p:sp>
        <p:nvSpPr>
          <p:cNvPr id="45420112" name="Shape 7"/>
          <p:cNvSpPr/>
          <p:nvPr/>
        </p:nvSpPr>
        <p:spPr bwMode="auto">
          <a:xfrm>
            <a:off x="457200" y="1600200"/>
            <a:ext cx="11292840" cy="4617720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5575" name="Text 8"/>
          <p:cNvSpPr/>
          <p:nvPr/>
        </p:nvSpPr>
        <p:spPr bwMode="auto">
          <a:xfrm>
            <a:off x="658368" y="1728216"/>
            <a:ext cx="10890504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functools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wraps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validate_positive(func):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@wraps(func)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wrapper(x, *args, **kwargs):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x &lt; </a:t>
            </a:r>
            <a:r>
              <a:rPr lang="en-US" sz="1500">
                <a:solidFill>
                  <a:srgbClr val="B5CEA8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raise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ValueError(f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"{func.__name__} expects a positive number, got {x}"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func(x, *args, **kwargs)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wrapper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@validate_positive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square_root(x):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x ** </a:t>
            </a:r>
            <a:r>
              <a:rPr lang="en-US" sz="1500">
                <a:solidFill>
                  <a:srgbClr val="B5CEA8"/>
                </a:solidFill>
                <a:latin typeface="Courier New"/>
                <a:ea typeface="Courier New"/>
                <a:cs typeface="Courier New"/>
              </a:rPr>
              <a:t>0.5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2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246646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593C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4273395" name="Text 1"/>
          <p:cNvSpPr/>
          <p:nvPr/>
        </p:nvSpPr>
        <p:spPr bwMode="auto">
          <a:xfrm>
            <a:off x="457198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228818476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Built-in Decorators You Already Use</a:t>
            </a:r>
            <a:endParaRPr lang="en-US" sz="2700"/>
          </a:p>
        </p:txBody>
      </p:sp>
      <p:sp>
        <p:nvSpPr>
          <p:cNvPr id="1254726942" name="Shape 7"/>
          <p:cNvSpPr/>
          <p:nvPr/>
        </p:nvSpPr>
        <p:spPr bwMode="auto">
          <a:xfrm>
            <a:off x="457200" y="1600200"/>
            <a:ext cx="11292840" cy="4160518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7436137" name="Text 8"/>
          <p:cNvSpPr/>
          <p:nvPr/>
        </p:nvSpPr>
        <p:spPr bwMode="auto">
          <a:xfrm>
            <a:off x="658368" y="1728216"/>
            <a:ext cx="10890504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class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Circle: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__init__(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, radius):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._radius = radius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@property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area(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00">
                <a:solidFill>
                  <a:srgbClr val="B5CEA8"/>
                </a:solidFill>
                <a:latin typeface="Courier New"/>
                <a:ea typeface="Courier New"/>
                <a:cs typeface="Courier New"/>
              </a:rPr>
              <a:t>3.14159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._radius ** </a:t>
            </a:r>
            <a:r>
              <a:rPr lang="en-US" sz="1500">
                <a:solidFill>
                  <a:srgbClr val="B5CEA8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@staticmethod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unit_circle():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Circle(</a:t>
            </a:r>
            <a:r>
              <a:rPr lang="en-US" sz="1500">
                <a:solidFill>
                  <a:srgbClr val="B5CEA8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@classmethod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from_diameter(cls, diameter):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cls(diameter / </a:t>
            </a:r>
            <a:r>
              <a:rPr lang="en-US" sz="1500">
                <a:solidFill>
                  <a:srgbClr val="B5CEA8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</a:t>
            </a:r>
            <a:endParaRPr lang="en-US" sz="1500"/>
          </a:p>
        </p:txBody>
      </p:sp>
      <p:sp>
        <p:nvSpPr>
          <p:cNvPr id="664132659" name="Shape 9"/>
          <p:cNvSpPr/>
          <p:nvPr/>
        </p:nvSpPr>
        <p:spPr bwMode="auto">
          <a:xfrm>
            <a:off x="457200" y="5897880"/>
            <a:ext cx="11292840" cy="502920"/>
          </a:xfrm>
          <a:prstGeom prst="roundRect">
            <a:avLst>
              <a:gd name="adj" fmla="val 10909"/>
            </a:avLst>
          </a:prstGeom>
          <a:solidFill>
            <a:srgbClr val="2D2D4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4988618" name="Text 10"/>
          <p:cNvSpPr/>
          <p:nvPr/>
        </p:nvSpPr>
        <p:spPr bwMode="auto">
          <a:xfrm>
            <a:off x="658368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C9CBE0"/>
                </a:solidFill>
                <a:latin typeface="Calibri"/>
                <a:ea typeface="Calibri"/>
                <a:cs typeface="Calibri"/>
              </a:rPr>
              <a:t>@property, @staticmethod, @classmethod are decorators from the standard library — now you know how they work under the hood.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72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43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13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8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bg>
      <p:bgPr shadeToTitle="0">
        <a:solidFill>
          <a:srgbClr val="EFFB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35382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43461165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EXERCISE</a:t>
            </a:r>
            <a:endParaRPr lang="en-US" sz="1100"/>
          </a:p>
        </p:txBody>
      </p:sp>
      <p:sp>
        <p:nvSpPr>
          <p:cNvPr id="1696476537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Build a Mini Decorator Toolkit</a:t>
            </a:r>
            <a:endParaRPr lang="en-US" sz="2700"/>
          </a:p>
        </p:txBody>
      </p:sp>
      <p:sp>
        <p:nvSpPr>
          <p:cNvPr id="290600770" name="Shape 7"/>
          <p:cNvSpPr/>
          <p:nvPr/>
        </p:nvSpPr>
        <p:spPr bwMode="auto">
          <a:xfrm>
            <a:off x="457200" y="1691640"/>
            <a:ext cx="11292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D8F0E1"/>
            </a:solidFill>
            <a:prstDash val="solid"/>
          </a:ln>
        </p:spPr>
      </p:sp>
      <p:sp>
        <p:nvSpPr>
          <p:cNvPr id="1701156283" name="Text 8"/>
          <p:cNvSpPr/>
          <p:nvPr/>
        </p:nvSpPr>
        <p:spPr bwMode="auto">
          <a:xfrm>
            <a:off x="777240" y="201168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 i="1">
                <a:solidFill>
                  <a:srgbClr val="0F5132"/>
                </a:solidFill>
                <a:latin typeface="Calibri"/>
                <a:ea typeface="Calibri"/>
                <a:cs typeface="Calibri"/>
              </a:rPr>
              <a:t>In pairs, in 15 minutes:</a:t>
            </a:r>
            <a:endParaRPr lang="en-US" sz="1500"/>
          </a:p>
        </p:txBody>
      </p:sp>
      <p:sp>
        <p:nvSpPr>
          <p:cNvPr id="555750061" name="Text 9"/>
          <p:cNvSpPr/>
          <p:nvPr/>
        </p:nvSpPr>
        <p:spPr bwMode="auto">
          <a:xfrm>
            <a:off x="777240" y="2606040"/>
            <a:ext cx="10652760" cy="301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799"/>
              </a:spcAft>
              <a:buNone/>
              <a:defRPr/>
            </a:pPr>
            <a:r>
              <a:rPr lang="en-US" sz="16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1. Write @timeit from scratch (no peeking!).</a:t>
            </a:r>
            <a:endParaRPr lang="en-US" sz="1600"/>
          </a:p>
          <a:p>
            <a:pPr marL="0" indent="0">
              <a:lnSpc>
                <a:spcPct val="125000"/>
              </a:lnSpc>
              <a:spcAft>
                <a:spcPts val="799"/>
              </a:spcAft>
              <a:buNone/>
              <a:defRPr/>
            </a:pPr>
            <a:r>
              <a:rPr lang="en-US" sz="16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2. Write @log_calls that prints the function name and its arguments every time it's called.</a:t>
            </a:r>
            <a:endParaRPr lang="en-US" sz="1600"/>
          </a:p>
          <a:p>
            <a:pPr marL="0" indent="0">
              <a:lnSpc>
                <a:spcPct val="125000"/>
              </a:lnSpc>
              <a:spcAft>
                <a:spcPts val="799"/>
              </a:spcAft>
              <a:buNone/>
              <a:defRPr/>
            </a:pPr>
            <a:r>
              <a:rPr lang="en-US" sz="16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3. Combine both decorators on the same function — does order matter? 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bg>
      <p:bgPr shadeToTitle="0">
        <a:solidFill>
          <a:srgbClr val="7C3A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533203" name="Text 0"/>
          <p:cNvSpPr/>
          <p:nvPr/>
        </p:nvSpPr>
        <p:spPr bwMode="auto">
          <a:xfrm>
            <a:off x="640080" y="594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 spc="1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SESSION 1 RECAP</a:t>
            </a:r>
            <a:endParaRPr lang="en-US" sz="1500"/>
          </a:p>
        </p:txBody>
      </p:sp>
      <p:sp>
        <p:nvSpPr>
          <p:cNvPr id="837976799" name="Text 1"/>
          <p:cNvSpPr/>
          <p:nvPr/>
        </p:nvSpPr>
        <p:spPr bwMode="auto"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Functions, Scope &amp; Decorators</a:t>
            </a:r>
            <a:endParaRPr lang="en-US" sz="3000"/>
          </a:p>
        </p:txBody>
      </p:sp>
      <p:sp>
        <p:nvSpPr>
          <p:cNvPr id="666646471" name="Shape 2"/>
          <p:cNvSpPr/>
          <p:nvPr/>
        </p:nvSpPr>
        <p:spPr bwMode="auto">
          <a:xfrm>
            <a:off x="640080" y="219913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3168068" name="Text 3"/>
          <p:cNvSpPr/>
          <p:nvPr/>
        </p:nvSpPr>
        <p:spPr bwMode="auto">
          <a:xfrm>
            <a:off x="640080" y="21991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868115013" name="Text 4"/>
          <p:cNvSpPr/>
          <p:nvPr/>
        </p:nvSpPr>
        <p:spPr bwMode="auto">
          <a:xfrm>
            <a:off x="1234440" y="2002536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Scope resolution follows LEGB.</a:t>
            </a:r>
            <a:endParaRPr lang="en-US" sz="1600"/>
          </a:p>
        </p:txBody>
      </p:sp>
      <p:sp>
        <p:nvSpPr>
          <p:cNvPr id="795835520" name="Shape 5"/>
          <p:cNvSpPr/>
          <p:nvPr/>
        </p:nvSpPr>
        <p:spPr bwMode="auto">
          <a:xfrm>
            <a:off x="640080" y="297637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72058292" name="Text 6"/>
          <p:cNvSpPr/>
          <p:nvPr/>
        </p:nvSpPr>
        <p:spPr bwMode="auto">
          <a:xfrm>
            <a:off x="640080" y="29763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1574500579" name="Text 7"/>
          <p:cNvSpPr/>
          <p:nvPr/>
        </p:nvSpPr>
        <p:spPr bwMode="auto">
          <a:xfrm>
            <a:off x="1234440" y="2779775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Closures let inner functions "remember" enclosing variables.</a:t>
            </a:r>
            <a:endParaRPr lang="en-US" sz="1600"/>
          </a:p>
        </p:txBody>
      </p:sp>
      <p:sp>
        <p:nvSpPr>
          <p:cNvPr id="1327155240" name="Shape 8"/>
          <p:cNvSpPr/>
          <p:nvPr/>
        </p:nvSpPr>
        <p:spPr bwMode="auto">
          <a:xfrm>
            <a:off x="640080" y="375361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7208353" name="Text 9"/>
          <p:cNvSpPr/>
          <p:nvPr/>
        </p:nvSpPr>
        <p:spPr bwMode="auto">
          <a:xfrm>
            <a:off x="640080" y="3753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512512815" name="Text 10"/>
          <p:cNvSpPr/>
          <p:nvPr/>
        </p:nvSpPr>
        <p:spPr bwMode="auto">
          <a:xfrm>
            <a:off x="1234440" y="3557016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Decorators = higher-order functions that wrap other functions.</a:t>
            </a:r>
            <a:endParaRPr lang="en-US" sz="1600"/>
          </a:p>
        </p:txBody>
      </p:sp>
      <p:sp>
        <p:nvSpPr>
          <p:cNvPr id="1880687568" name="Shape 11"/>
          <p:cNvSpPr/>
          <p:nvPr/>
        </p:nvSpPr>
        <p:spPr bwMode="auto">
          <a:xfrm>
            <a:off x="640080" y="45308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47786057" name="Text 12"/>
          <p:cNvSpPr/>
          <p:nvPr/>
        </p:nvSpPr>
        <p:spPr bwMode="auto">
          <a:xfrm>
            <a:off x="64008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344858363" name="Text 13"/>
          <p:cNvSpPr/>
          <p:nvPr/>
        </p:nvSpPr>
        <p:spPr bwMode="auto">
          <a:xfrm>
            <a:off x="1234440" y="4334256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Always use functools.wraps to preserve metadata.</a:t>
            </a:r>
            <a:endParaRPr lang="en-US" sz="1600"/>
          </a:p>
        </p:txBody>
      </p:sp>
      <p:sp>
        <p:nvSpPr>
          <p:cNvPr id="868745432" name="Shape 14"/>
          <p:cNvSpPr/>
          <p:nvPr/>
        </p:nvSpPr>
        <p:spPr bwMode="auto">
          <a:xfrm>
            <a:off x="640080" y="53080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6453775" name="Text 15"/>
          <p:cNvSpPr/>
          <p:nvPr/>
        </p:nvSpPr>
        <p:spPr bwMode="auto">
          <a:xfrm>
            <a:off x="640080" y="53080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135312579" name="Text 16"/>
          <p:cNvSpPr/>
          <p:nvPr/>
        </p:nvSpPr>
        <p:spPr bwMode="auto">
          <a:xfrm>
            <a:off x="1234440" y="5111495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 decorators you'll actually use: @timeit, @retry, @validate_input, @lru_cache.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modified xsi:type="dcterms:W3CDTF">2026-10-07T15:47:16Z</dcterms:modified>
</cp:coreProperties>
</file>